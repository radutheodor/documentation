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Test Maturity Framework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levels of maturity — with qTest as the test management backbone, ensuring traceability, predictability and visibility into test activities and executions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0040" y="768096"/>
            <a:ext cx="1664208" cy="365760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680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7680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33856"/>
            <a:ext cx="1664208" cy="3822192"/>
          </a:xfrm>
          <a:prstGeom prst="rect">
            <a:avLst/>
          </a:prstGeom>
          <a:solidFill>
            <a:srgbClr val="E8E8EA"/>
          </a:solidFill>
          <a:ln/>
        </p:spPr>
      </p:sp>
      <p:sp>
        <p:nvSpPr>
          <p:cNvPr id="8" name="Shape 6"/>
          <p:cNvSpPr/>
          <p:nvPr/>
        </p:nvSpPr>
        <p:spPr>
          <a:xfrm>
            <a:off x="374904" y="1207008"/>
            <a:ext cx="1554480" cy="164592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" y="1207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374904" y="1408176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" y="1408176"/>
            <a:ext cx="36576" cy="310896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" y="1426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Code Analysis on every commit + PR (SonarQube)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74904" y="1755648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74904" y="1755648"/>
            <a:ext cx="36576" cy="310896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" y="1773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run in CI on every PR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74904" y="2103120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" y="2103120"/>
            <a:ext cx="36576" cy="310896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 blocks merge on failure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74904" y="2487168"/>
            <a:ext cx="1554480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" y="24871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qTEST / TEST MGMT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74904" y="2688336"/>
            <a:ext cx="1554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904" y="2688336"/>
            <a:ext cx="36576" cy="56692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" y="272491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 results visible in CI logs only — no central catalogue.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74904" y="3346704"/>
            <a:ext cx="1554480" cy="164592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" y="334670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11480" y="35478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coverage measured (≥ 20%)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11480" y="384048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Basic health check endpoint (GET /health)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075688" y="768096"/>
            <a:ext cx="1664208" cy="3657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9" name="Text 27"/>
          <p:cNvSpPr/>
          <p:nvPr/>
        </p:nvSpPr>
        <p:spPr>
          <a:xfrm>
            <a:off x="2075688" y="7680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24328" y="7680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75688" y="1133856"/>
            <a:ext cx="1664208" cy="3822192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32" name="Shape 30"/>
          <p:cNvSpPr/>
          <p:nvPr/>
        </p:nvSpPr>
        <p:spPr>
          <a:xfrm>
            <a:off x="2130552" y="1207008"/>
            <a:ext cx="1554480" cy="1645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3" name="Text 31"/>
          <p:cNvSpPr/>
          <p:nvPr/>
        </p:nvSpPr>
        <p:spPr>
          <a:xfrm>
            <a:off x="2130552" y="1207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130552" y="1408176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2130552" y="1408176"/>
            <a:ext cx="36576" cy="3108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6" name="Text 34"/>
          <p:cNvSpPr/>
          <p:nvPr/>
        </p:nvSpPr>
        <p:spPr>
          <a:xfrm>
            <a:off x="2221992" y="1426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Tests in CI with mocked deps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130552" y="1755648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2130552" y="1755648"/>
            <a:ext cx="36576" cy="3108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9" name="Text 37"/>
          <p:cNvSpPr/>
          <p:nvPr/>
        </p:nvSpPr>
        <p:spPr>
          <a:xfrm>
            <a:off x="2221992" y="1773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gated in CI (≥ 40%)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130552" y="2103120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130552" y="2103120"/>
            <a:ext cx="36576" cy="3108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2" name="Text 40"/>
          <p:cNvSpPr/>
          <p:nvPr/>
        </p:nvSpPr>
        <p:spPr>
          <a:xfrm>
            <a:off x="2221992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Tests: Pact + Schema in CI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130552" y="2450592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2130552" y="2450592"/>
            <a:ext cx="36576" cy="31089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5" name="Text 43"/>
          <p:cNvSpPr/>
          <p:nvPr/>
        </p:nvSpPr>
        <p:spPr>
          <a:xfrm>
            <a:off x="2221992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Smoke Tests in all envs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130552" y="2834640"/>
            <a:ext cx="1554480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7" name="Text 45"/>
          <p:cNvSpPr/>
          <p:nvPr/>
        </p:nvSpPr>
        <p:spPr>
          <a:xfrm>
            <a:off x="2130552" y="28346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qTEST / TEST MGMT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2130552" y="3035808"/>
            <a:ext cx="1554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2130552" y="3035808"/>
            <a:ext cx="36576" cy="56692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0" name="Text 48"/>
          <p:cNvSpPr/>
          <p:nvPr/>
        </p:nvSpPr>
        <p:spPr>
          <a:xfrm>
            <a:off x="2221992" y="307238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 catalogued in qTest. Allure reports per CI build. Execution history visible.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2130552" y="3694176"/>
            <a:ext cx="1554480" cy="164592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52" name="Text 50"/>
          <p:cNvSpPr/>
          <p:nvPr/>
        </p:nvSpPr>
        <p:spPr>
          <a:xfrm>
            <a:off x="2130552" y="36941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2167128" y="389534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can-i-deploy checks before promotions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2167128" y="418795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qTest cases linked to Jira user stories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3831336" y="768096"/>
            <a:ext cx="1664208" cy="36576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56" name="Text 54"/>
          <p:cNvSpPr/>
          <p:nvPr/>
        </p:nvSpPr>
        <p:spPr>
          <a:xfrm>
            <a:off x="3831336" y="7680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379976" y="7680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831336" y="1133856"/>
            <a:ext cx="1664208" cy="3822192"/>
          </a:xfrm>
          <a:prstGeom prst="rect">
            <a:avLst/>
          </a:prstGeom>
          <a:solidFill>
            <a:srgbClr val="F0EAE0"/>
          </a:solidFill>
          <a:ln/>
        </p:spPr>
      </p:sp>
      <p:sp>
        <p:nvSpPr>
          <p:cNvPr id="59" name="Shape 57"/>
          <p:cNvSpPr/>
          <p:nvPr/>
        </p:nvSpPr>
        <p:spPr>
          <a:xfrm>
            <a:off x="3886200" y="1207008"/>
            <a:ext cx="1554480" cy="16459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0" name="Text 58"/>
          <p:cNvSpPr/>
          <p:nvPr/>
        </p:nvSpPr>
        <p:spPr>
          <a:xfrm>
            <a:off x="3886200" y="1207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3886200" y="1408176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3886200" y="1408176"/>
            <a:ext cx="36576" cy="31089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3" name="Text 61"/>
          <p:cNvSpPr/>
          <p:nvPr/>
        </p:nvSpPr>
        <p:spPr>
          <a:xfrm>
            <a:off x="3977640" y="1426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+ Tier 3 Smoke Tests in DEV/TEST/UAT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3886200" y="1755648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3886200" y="1755648"/>
            <a:ext cx="36576" cy="31089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6" name="Text 64"/>
          <p:cNvSpPr/>
          <p:nvPr/>
        </p:nvSpPr>
        <p:spPr>
          <a:xfrm>
            <a:off x="3977640" y="1773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 Tests (CT) in TEST — full suite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3886200" y="2103120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3886200" y="2103120"/>
            <a:ext cx="36576" cy="31089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9" name="Text 67"/>
          <p:cNvSpPr/>
          <p:nvPr/>
        </p:nvSpPr>
        <p:spPr>
          <a:xfrm>
            <a:off x="397764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 Tests in UAT (safe subset)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3886200" y="2487168"/>
            <a:ext cx="1554480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1" name="Text 69"/>
          <p:cNvSpPr/>
          <p:nvPr/>
        </p:nvSpPr>
        <p:spPr>
          <a:xfrm>
            <a:off x="3886200" y="24871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qTEST / TEST MGMT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3886200" y="2688336"/>
            <a:ext cx="1554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3886200" y="2688336"/>
            <a:ext cx="36576" cy="56692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4" name="Text 72"/>
          <p:cNvSpPr/>
          <p:nvPr/>
        </p:nvSpPr>
        <p:spPr>
          <a:xfrm>
            <a:off x="3977640" y="272491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Requirement → Test Case → Defect traceability matrix in qTest. Coverage tracked per release. Defects auto-created in Jira from failed runs.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3886200" y="3346704"/>
            <a:ext cx="1554480" cy="164592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76" name="Text 74"/>
          <p:cNvSpPr/>
          <p:nvPr/>
        </p:nvSpPr>
        <p:spPr>
          <a:xfrm>
            <a:off x="3886200" y="334670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3922776" y="35478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dashboard: CI + Sonar + qTest unified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3922776" y="384048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plans per release campaign in qTest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5586984" y="768096"/>
            <a:ext cx="1664208" cy="365760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80" name="Text 78"/>
          <p:cNvSpPr/>
          <p:nvPr/>
        </p:nvSpPr>
        <p:spPr>
          <a:xfrm>
            <a:off x="5586984" y="7680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135624" y="7680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586984" y="1133856"/>
            <a:ext cx="1664208" cy="3822192"/>
          </a:xfrm>
          <a:prstGeom prst="rect">
            <a:avLst/>
          </a:prstGeom>
          <a:solidFill>
            <a:srgbClr val="FFF5E0"/>
          </a:solidFill>
          <a:ln/>
        </p:spPr>
      </p:sp>
      <p:sp>
        <p:nvSpPr>
          <p:cNvPr id="83" name="Shape 81"/>
          <p:cNvSpPr/>
          <p:nvPr/>
        </p:nvSpPr>
        <p:spPr>
          <a:xfrm>
            <a:off x="5641848" y="1207008"/>
            <a:ext cx="1554480" cy="16459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84" name="Text 82"/>
          <p:cNvSpPr/>
          <p:nvPr/>
        </p:nvSpPr>
        <p:spPr>
          <a:xfrm>
            <a:off x="5641848" y="1207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5641848" y="1408176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Shape 84"/>
          <p:cNvSpPr/>
          <p:nvPr/>
        </p:nvSpPr>
        <p:spPr>
          <a:xfrm>
            <a:off x="5641848" y="1408176"/>
            <a:ext cx="36576" cy="31089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87" name="Text 85"/>
          <p:cNvSpPr/>
          <p:nvPr/>
        </p:nvSpPr>
        <p:spPr>
          <a:xfrm>
            <a:off x="5733288" y="1426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Tests (E2E) in TEST — full chain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5641848" y="1755648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Shape 87"/>
          <p:cNvSpPr/>
          <p:nvPr/>
        </p:nvSpPr>
        <p:spPr>
          <a:xfrm>
            <a:off x="5641848" y="1755648"/>
            <a:ext cx="36576" cy="31089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90" name="Text 88"/>
          <p:cNvSpPr/>
          <p:nvPr/>
        </p:nvSpPr>
        <p:spPr>
          <a:xfrm>
            <a:off x="5733288" y="1773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Tests (E2E safe) in UAT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5641848" y="2103120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hape 90"/>
          <p:cNvSpPr/>
          <p:nvPr/>
        </p:nvSpPr>
        <p:spPr>
          <a:xfrm>
            <a:off x="5641848" y="2103120"/>
            <a:ext cx="36576" cy="31089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93" name="Text 91"/>
          <p:cNvSpPr/>
          <p:nvPr/>
        </p:nvSpPr>
        <p:spPr>
          <a:xfrm>
            <a:off x="5733288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Tests scheduled in TEST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5641848" y="2487168"/>
            <a:ext cx="1554480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5" name="Text 93"/>
          <p:cNvSpPr/>
          <p:nvPr/>
        </p:nvSpPr>
        <p:spPr>
          <a:xfrm>
            <a:off x="5641848" y="24871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qTEST / TEST MGMT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5641848" y="2688336"/>
            <a:ext cx="1554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hape 95"/>
          <p:cNvSpPr/>
          <p:nvPr/>
        </p:nvSpPr>
        <p:spPr>
          <a:xfrm>
            <a:off x="5641848" y="2688336"/>
            <a:ext cx="36576" cy="56692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8" name="Text 96"/>
          <p:cNvSpPr/>
          <p:nvPr/>
        </p:nvSpPr>
        <p:spPr>
          <a:xfrm>
            <a:off x="5733288" y="272491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CI/CT results auto-sync to qTest. Release readiness scored from qTest coverage. Predictability: cycle time + pass-rate trends measured per release.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5641848" y="3346704"/>
            <a:ext cx="1554480" cy="164592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100" name="Text 98"/>
          <p:cNvSpPr/>
          <p:nvPr/>
        </p:nvSpPr>
        <p:spPr>
          <a:xfrm>
            <a:off x="5641848" y="334670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5678424" y="35478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baselines with regression detection</a:t>
            </a:r>
            <a:endParaRPr lang="en-US" sz="600" dirty="0"/>
          </a:p>
        </p:txBody>
      </p:sp>
      <p:sp>
        <p:nvSpPr>
          <p:cNvPr id="102" name="Text 100"/>
          <p:cNvSpPr/>
          <p:nvPr/>
        </p:nvSpPr>
        <p:spPr>
          <a:xfrm>
            <a:off x="5678424" y="384048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qTest dashboards visible to business stakeholders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5678424" y="413308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Defect escape rate tracked and analysed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7342632" y="768096"/>
            <a:ext cx="1664208" cy="365760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05" name="Text 103"/>
          <p:cNvSpPr/>
          <p:nvPr/>
        </p:nvSpPr>
        <p:spPr>
          <a:xfrm>
            <a:off x="7342632" y="7680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7891272" y="7680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Optimizing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7342632" y="1133856"/>
            <a:ext cx="1664208" cy="3822192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108" name="Shape 106"/>
          <p:cNvSpPr/>
          <p:nvPr/>
        </p:nvSpPr>
        <p:spPr>
          <a:xfrm>
            <a:off x="7397496" y="1207008"/>
            <a:ext cx="1554480" cy="164592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09" name="Text 107"/>
          <p:cNvSpPr/>
          <p:nvPr/>
        </p:nvSpPr>
        <p:spPr>
          <a:xfrm>
            <a:off x="7397496" y="1207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7397496" y="1408176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397496" y="1408176"/>
            <a:ext cx="36576" cy="310896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12" name="Text 110"/>
          <p:cNvSpPr/>
          <p:nvPr/>
        </p:nvSpPr>
        <p:spPr>
          <a:xfrm>
            <a:off x="7488936" y="1426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synthetic monitoring (read-only)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7397496" y="1755648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7397496" y="1755648"/>
            <a:ext cx="36576" cy="310896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15" name="Text 113"/>
          <p:cNvSpPr/>
          <p:nvPr/>
        </p:nvSpPr>
        <p:spPr>
          <a:xfrm>
            <a:off x="7488936" y="1773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deployments with auto-rollback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7397496" y="2103120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397496" y="2103120"/>
            <a:ext cx="36576" cy="310896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18" name="Text 116"/>
          <p:cNvSpPr/>
          <p:nvPr/>
        </p:nvSpPr>
        <p:spPr>
          <a:xfrm>
            <a:off x="7488936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insights feed test generation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7397496" y="2487168"/>
            <a:ext cx="1554480" cy="16459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0" name="Text 118"/>
          <p:cNvSpPr/>
          <p:nvPr/>
        </p:nvSpPr>
        <p:spPr>
          <a:xfrm>
            <a:off x="7397496" y="24871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qTEST / TEST MGMT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7397496" y="2688336"/>
            <a:ext cx="15544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Shape 120"/>
          <p:cNvSpPr/>
          <p:nvPr/>
        </p:nvSpPr>
        <p:spPr>
          <a:xfrm>
            <a:off x="7397496" y="2688336"/>
            <a:ext cx="36576" cy="56692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3" name="Text 121"/>
          <p:cNvSpPr/>
          <p:nvPr/>
        </p:nvSpPr>
        <p:spPr>
          <a:xfrm>
            <a:off x="7488936" y="272491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 on qTest historical data forecast release readiness. Risk-based test selection driven by qTest + production signals.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7397496" y="3346704"/>
            <a:ext cx="1554480" cy="164592"/>
          </a:xfrm>
          <a:prstGeom prst="rect">
            <a:avLst/>
          </a:prstGeom>
          <a:solidFill>
            <a:srgbClr val="B0A898"/>
          </a:solidFill>
          <a:ln/>
        </p:spPr>
      </p:sp>
      <p:sp>
        <p:nvSpPr>
          <p:cNvPr id="125" name="Text 123"/>
          <p:cNvSpPr/>
          <p:nvPr/>
        </p:nvSpPr>
        <p:spPr>
          <a:xfrm>
            <a:off x="7397496" y="334670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7434072" y="35478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AI-assisted test optimisation + deduplication</a:t>
            </a:r>
            <a:endParaRPr lang="en-US" sz="600" dirty="0"/>
          </a:p>
        </p:txBody>
      </p:sp>
      <p:sp>
        <p:nvSpPr>
          <p:cNvPr id="127" name="Text 125"/>
          <p:cNvSpPr/>
          <p:nvPr/>
        </p:nvSpPr>
        <p:spPr>
          <a:xfrm>
            <a:off x="7434072" y="384048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Chaos engineering in TEST</a:t>
            </a:r>
            <a:endParaRPr lang="en-US" sz="600" dirty="0"/>
          </a:p>
        </p:txBody>
      </p:sp>
      <p:sp>
        <p:nvSpPr>
          <p:cNvPr id="128" name="Text 126"/>
          <p:cNvSpPr/>
          <p:nvPr/>
        </p:nvSpPr>
        <p:spPr>
          <a:xfrm>
            <a:off x="7434072" y="413308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AI-driven coverage gap detection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Test Maturity Framework</dc:title>
  <dc:subject>PptxGenJS Presentation</dc:subject>
  <dc:creator>Quality Engineering</dc:creator>
  <cp:lastModifiedBy>Quality Engineering</cp:lastModifiedBy>
  <cp:revision>1</cp:revision>
  <dcterms:created xsi:type="dcterms:W3CDTF">2026-04-16T09:36:00Z</dcterms:created>
  <dcterms:modified xsi:type="dcterms:W3CDTF">2026-04-16T09:36:00Z</dcterms:modified>
</cp:coreProperties>
</file>