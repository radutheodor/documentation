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Test Strategy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Component, Contract, Application &amp; System test boundaries — BFF reads from MongoDB, notified via Change Stream / Kafka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76656"/>
            <a:ext cx="5120640" cy="3840480"/>
          </a:xfrm>
          <a:prstGeom prst="rect">
            <a:avLst/>
          </a:prstGeom>
          <a:solidFill>
            <a:srgbClr val="FFFFFF">
              <a:alpha val="50000"/>
            </a:srgbClr>
          </a:solidFill>
          <a:ln w="19050">
            <a:solidFill>
              <a:srgbClr val="96002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47472" y="694944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960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BOUNDARY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384048" y="877824"/>
            <a:ext cx="2331720" cy="347472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002C4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38912" y="905256"/>
            <a:ext cx="2221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A — Data Ingestion (Write)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852928" y="877824"/>
            <a:ext cx="2331720" cy="347472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33566F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907792" y="905256"/>
            <a:ext cx="2221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35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B — Data Serving (Read)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521208" y="1115568"/>
            <a:ext cx="2057400" cy="384048"/>
          </a:xfrm>
          <a:prstGeom prst="rect">
            <a:avLst/>
          </a:prstGeom>
          <a:solidFill>
            <a:srgbClr val="002C4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79576"/>
            <a:ext cx="18288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13816" y="115214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76072" y="1353312"/>
            <a:ext cx="1947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CCC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+ Kafka producer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521208" y="151790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— CI</a:t>
            </a:r>
            <a:endParaRPr lang="en-US" sz="550" dirty="0"/>
          </a:p>
        </p:txBody>
      </p:sp>
      <p:sp>
        <p:nvSpPr>
          <p:cNvPr id="16" name="Shape 13"/>
          <p:cNvSpPr/>
          <p:nvPr/>
        </p:nvSpPr>
        <p:spPr>
          <a:xfrm>
            <a:off x="521208" y="1682496"/>
            <a:ext cx="2057400" cy="384048"/>
          </a:xfrm>
          <a:prstGeom prst="rect">
            <a:avLst/>
          </a:prstGeom>
          <a:solidFill>
            <a:srgbClr val="33566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46504"/>
            <a:ext cx="182880" cy="1828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13816" y="171907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API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576072" y="1920240"/>
            <a:ext cx="1947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CCC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consumer → processor</a:t>
            </a:r>
            <a:endParaRPr lang="en-US" sz="600" dirty="0"/>
          </a:p>
        </p:txBody>
      </p:sp>
      <p:sp>
        <p:nvSpPr>
          <p:cNvPr id="20" name="Text 16"/>
          <p:cNvSpPr/>
          <p:nvPr/>
        </p:nvSpPr>
        <p:spPr>
          <a:xfrm>
            <a:off x="521208" y="208483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5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— CI</a:t>
            </a:r>
            <a:endParaRPr lang="en-US" sz="550" dirty="0"/>
          </a:p>
        </p:txBody>
      </p:sp>
      <p:sp>
        <p:nvSpPr>
          <p:cNvPr id="21" name="Shape 17"/>
          <p:cNvSpPr/>
          <p:nvPr/>
        </p:nvSpPr>
        <p:spPr>
          <a:xfrm>
            <a:off x="521208" y="2249424"/>
            <a:ext cx="640080" cy="292608"/>
          </a:xfrm>
          <a:prstGeom prst="rect">
            <a:avLst/>
          </a:prstGeom>
          <a:solidFill>
            <a:srgbClr val="92847A"/>
          </a:solidFill>
          <a:ln/>
        </p:spPr>
      </p:sp>
      <p:sp>
        <p:nvSpPr>
          <p:cNvPr id="22" name="Text 18"/>
          <p:cNvSpPr/>
          <p:nvPr/>
        </p:nvSpPr>
        <p:spPr>
          <a:xfrm>
            <a:off x="521208" y="224942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1</a:t>
            </a:r>
            <a:endParaRPr lang="en-US" sz="700" dirty="0"/>
          </a:p>
        </p:txBody>
      </p:sp>
      <p:sp>
        <p:nvSpPr>
          <p:cNvPr id="23" name="Shape 19"/>
          <p:cNvSpPr/>
          <p:nvPr/>
        </p:nvSpPr>
        <p:spPr>
          <a:xfrm>
            <a:off x="1234440" y="2249424"/>
            <a:ext cx="640080" cy="292608"/>
          </a:xfrm>
          <a:prstGeom prst="rect">
            <a:avLst/>
          </a:prstGeom>
          <a:solidFill>
            <a:srgbClr val="92847A"/>
          </a:solidFill>
          <a:ln/>
        </p:spPr>
      </p:sp>
      <p:sp>
        <p:nvSpPr>
          <p:cNvPr id="24" name="Text 20"/>
          <p:cNvSpPr/>
          <p:nvPr/>
        </p:nvSpPr>
        <p:spPr>
          <a:xfrm>
            <a:off x="1234440" y="224942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2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1947672" y="2249424"/>
            <a:ext cx="640080" cy="292608"/>
          </a:xfrm>
          <a:prstGeom prst="rect">
            <a:avLst/>
          </a:prstGeom>
          <a:solidFill>
            <a:srgbClr val="92847A"/>
          </a:solidFill>
          <a:ln/>
        </p:spPr>
      </p:sp>
      <p:sp>
        <p:nvSpPr>
          <p:cNvPr id="26" name="Text 22"/>
          <p:cNvSpPr/>
          <p:nvPr/>
        </p:nvSpPr>
        <p:spPr>
          <a:xfrm>
            <a:off x="1947672" y="224942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3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521208" y="2194560"/>
            <a:ext cx="2057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5A8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▲</a:t>
            </a:r>
            <a:endParaRPr lang="en-US" sz="500" dirty="0"/>
          </a:p>
        </p:txBody>
      </p:sp>
      <p:sp>
        <p:nvSpPr>
          <p:cNvPr id="28" name="Shape 24"/>
          <p:cNvSpPr/>
          <p:nvPr/>
        </p:nvSpPr>
        <p:spPr>
          <a:xfrm>
            <a:off x="2606040" y="2112264"/>
            <a:ext cx="347472" cy="640080"/>
          </a:xfrm>
          <a:prstGeom prst="rect">
            <a:avLst/>
          </a:prstGeom>
          <a:solidFill>
            <a:srgbClr val="8E654C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048" y="2167128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2606040" y="238658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700" dirty="0"/>
          </a:p>
        </p:txBody>
      </p:sp>
      <p:sp>
        <p:nvSpPr>
          <p:cNvPr id="31" name="Shape 26"/>
          <p:cNvSpPr/>
          <p:nvPr/>
        </p:nvSpPr>
        <p:spPr>
          <a:xfrm>
            <a:off x="2286000" y="2798064"/>
            <a:ext cx="1005840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27"/>
          <p:cNvSpPr/>
          <p:nvPr/>
        </p:nvSpPr>
        <p:spPr>
          <a:xfrm>
            <a:off x="2286000" y="27980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CONTRACT</a:t>
            </a:r>
            <a:endParaRPr lang="en-US" sz="550" dirty="0"/>
          </a:p>
        </p:txBody>
      </p:sp>
      <p:sp>
        <p:nvSpPr>
          <p:cNvPr id="33" name="Shape 28"/>
          <p:cNvSpPr/>
          <p:nvPr/>
        </p:nvSpPr>
        <p:spPr>
          <a:xfrm>
            <a:off x="2953512" y="2340864"/>
            <a:ext cx="50292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dash"/>
          </a:ln>
        </p:spPr>
      </p:sp>
      <p:sp>
        <p:nvSpPr>
          <p:cNvPr id="34" name="Text 29"/>
          <p:cNvSpPr/>
          <p:nvPr/>
        </p:nvSpPr>
        <p:spPr>
          <a:xfrm>
            <a:off x="2971800" y="197510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</a:t>
            </a:r>
            <a:endParaRPr lang="en-US" sz="450" dirty="0"/>
          </a:p>
          <a:p>
            <a:pPr algn="ctr" indent="0" marL="0">
              <a:buNone/>
            </a:pPr>
            <a:r>
              <a:rPr lang="en-US" sz="4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(Change Stream</a:t>
            </a:r>
            <a:endParaRPr lang="en-US" sz="450" dirty="0"/>
          </a:p>
          <a:p>
            <a:pPr algn="ctr" indent="0" marL="0">
              <a:buNone/>
            </a:pPr>
            <a:r>
              <a:rPr lang="en-US" sz="4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Kafka)</a:t>
            </a:r>
            <a:endParaRPr lang="en-US" sz="450" dirty="0"/>
          </a:p>
        </p:txBody>
      </p:sp>
      <p:sp>
        <p:nvSpPr>
          <p:cNvPr id="35" name="Shape 30"/>
          <p:cNvSpPr/>
          <p:nvPr/>
        </p:nvSpPr>
        <p:spPr>
          <a:xfrm>
            <a:off x="2578608" y="1307592"/>
            <a:ext cx="27432" cy="941832"/>
          </a:xfrm>
          <a:prstGeom prst="line">
            <a:avLst/>
          </a:prstGeom>
          <a:noFill/>
          <a:ln w="12700">
            <a:solidFill>
              <a:srgbClr val="002C4B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2651760" y="1161288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</a:t>
            </a:r>
            <a:endParaRPr lang="en-US" sz="500" dirty="0"/>
          </a:p>
        </p:txBody>
      </p:sp>
      <p:sp>
        <p:nvSpPr>
          <p:cNvPr id="37" name="Shape 32"/>
          <p:cNvSpPr/>
          <p:nvPr/>
        </p:nvSpPr>
        <p:spPr>
          <a:xfrm>
            <a:off x="2578608" y="1874520"/>
            <a:ext cx="27432" cy="603504"/>
          </a:xfrm>
          <a:prstGeom prst="line">
            <a:avLst/>
          </a:prstGeom>
          <a:noFill/>
          <a:ln w="12700">
            <a:solidFill>
              <a:srgbClr val="33566F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2651760" y="1975104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335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</a:t>
            </a:r>
            <a:endParaRPr lang="en-US" sz="500" dirty="0"/>
          </a:p>
        </p:txBody>
      </p:sp>
      <p:sp>
        <p:nvSpPr>
          <p:cNvPr id="39" name="Shape 34"/>
          <p:cNvSpPr/>
          <p:nvPr/>
        </p:nvSpPr>
        <p:spPr>
          <a:xfrm>
            <a:off x="2990088" y="1243584"/>
            <a:ext cx="2057400" cy="384048"/>
          </a:xfrm>
          <a:prstGeom prst="rect">
            <a:avLst/>
          </a:prstGeom>
          <a:solidFill>
            <a:srgbClr val="33566F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1307592"/>
            <a:ext cx="182880" cy="18288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3282696" y="12801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API</a:t>
            </a:r>
            <a:endParaRPr lang="en-US" sz="850" dirty="0"/>
          </a:p>
        </p:txBody>
      </p:sp>
      <p:sp>
        <p:nvSpPr>
          <p:cNvPr id="42" name="Text 36"/>
          <p:cNvSpPr/>
          <p:nvPr/>
        </p:nvSpPr>
        <p:spPr>
          <a:xfrm>
            <a:off x="3044952" y="1481328"/>
            <a:ext cx="1947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CCC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Mongo, notified on changes</a:t>
            </a:r>
            <a:endParaRPr lang="en-US" sz="600" dirty="0"/>
          </a:p>
        </p:txBody>
      </p:sp>
      <p:sp>
        <p:nvSpPr>
          <p:cNvPr id="43" name="Text 37"/>
          <p:cNvSpPr/>
          <p:nvPr/>
        </p:nvSpPr>
        <p:spPr>
          <a:xfrm>
            <a:off x="2990088" y="1645920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5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— CI</a:t>
            </a:r>
            <a:endParaRPr lang="en-US" sz="550" dirty="0"/>
          </a:p>
        </p:txBody>
      </p:sp>
      <p:sp>
        <p:nvSpPr>
          <p:cNvPr id="44" name="Shape 38"/>
          <p:cNvSpPr/>
          <p:nvPr/>
        </p:nvSpPr>
        <p:spPr>
          <a:xfrm>
            <a:off x="4270248" y="1773936"/>
            <a:ext cx="777240" cy="1280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5" name="Text 39"/>
          <p:cNvSpPr/>
          <p:nvPr/>
        </p:nvSpPr>
        <p:spPr>
          <a:xfrm>
            <a:off x="4270248" y="1773936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PACT HTTP</a:t>
            </a:r>
            <a:endParaRPr lang="en-US" sz="500" dirty="0"/>
          </a:p>
        </p:txBody>
      </p:sp>
      <p:sp>
        <p:nvSpPr>
          <p:cNvPr id="46" name="Shape 40"/>
          <p:cNvSpPr/>
          <p:nvPr/>
        </p:nvSpPr>
        <p:spPr>
          <a:xfrm>
            <a:off x="2990088" y="1901952"/>
            <a:ext cx="2057400" cy="384048"/>
          </a:xfrm>
          <a:prstGeom prst="rect">
            <a:avLst/>
          </a:prstGeom>
          <a:solidFill>
            <a:srgbClr val="5A8BA5"/>
          </a:solidFill>
          <a:ln/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1965960"/>
            <a:ext cx="182880" cy="182880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3282696" y="193852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Frontend</a:t>
            </a:r>
            <a:endParaRPr lang="en-US" sz="850" dirty="0"/>
          </a:p>
        </p:txBody>
      </p:sp>
      <p:sp>
        <p:nvSpPr>
          <p:cNvPr id="49" name="Text 42"/>
          <p:cNvSpPr/>
          <p:nvPr/>
        </p:nvSpPr>
        <p:spPr>
          <a:xfrm>
            <a:off x="3044952" y="2139696"/>
            <a:ext cx="1947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CCC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+ Assessment</a:t>
            </a:r>
            <a:endParaRPr lang="en-US" sz="600" dirty="0"/>
          </a:p>
        </p:txBody>
      </p:sp>
      <p:sp>
        <p:nvSpPr>
          <p:cNvPr id="50" name="Text 43"/>
          <p:cNvSpPr/>
          <p:nvPr/>
        </p:nvSpPr>
        <p:spPr>
          <a:xfrm>
            <a:off x="2990088" y="2304288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5A8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— CI</a:t>
            </a:r>
            <a:endParaRPr lang="en-US" sz="550" dirty="0"/>
          </a:p>
        </p:txBody>
      </p:sp>
      <p:sp>
        <p:nvSpPr>
          <p:cNvPr id="51" name="Shape 44"/>
          <p:cNvSpPr/>
          <p:nvPr/>
        </p:nvSpPr>
        <p:spPr>
          <a:xfrm>
            <a:off x="4018788" y="1627632"/>
            <a:ext cx="0" cy="274320"/>
          </a:xfrm>
          <a:prstGeom prst="line">
            <a:avLst/>
          </a:prstGeom>
          <a:noFill/>
          <a:ln w="12700">
            <a:solidFill>
              <a:srgbClr val="33566F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4055364" y="1682496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5A8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500" dirty="0"/>
          </a:p>
        </p:txBody>
      </p:sp>
      <p:sp>
        <p:nvSpPr>
          <p:cNvPr id="53" name="Shape 46"/>
          <p:cNvSpPr/>
          <p:nvPr/>
        </p:nvSpPr>
        <p:spPr>
          <a:xfrm>
            <a:off x="347472" y="1627632"/>
            <a:ext cx="640080" cy="1280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4" name="Text 47"/>
          <p:cNvSpPr/>
          <p:nvPr/>
        </p:nvSpPr>
        <p:spPr>
          <a:xfrm>
            <a:off x="347472" y="162763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PACT HTTP</a:t>
            </a:r>
            <a:endParaRPr lang="en-US" sz="500" dirty="0"/>
          </a:p>
        </p:txBody>
      </p:sp>
      <p:sp>
        <p:nvSpPr>
          <p:cNvPr id="55" name="Shape 48"/>
          <p:cNvSpPr/>
          <p:nvPr/>
        </p:nvSpPr>
        <p:spPr>
          <a:xfrm>
            <a:off x="237744" y="1133856"/>
            <a:ext cx="73152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6" name="Text 49"/>
          <p:cNvSpPr/>
          <p:nvPr/>
        </p:nvSpPr>
        <p:spPr>
          <a:xfrm>
            <a:off x="-320040" y="11155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600" dirty="0"/>
          </a:p>
          <a:p>
            <a:pPr algn="r" indent="0" marL="0">
              <a:buNone/>
            </a:pPr>
            <a:r>
              <a:rPr lang="en-US" sz="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600" dirty="0"/>
          </a:p>
        </p:txBody>
      </p:sp>
      <p:sp>
        <p:nvSpPr>
          <p:cNvPr id="57" name="Shape 50"/>
          <p:cNvSpPr/>
          <p:nvPr/>
        </p:nvSpPr>
        <p:spPr>
          <a:xfrm>
            <a:off x="438912" y="4078224"/>
            <a:ext cx="2221992" cy="18288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58" name="Text 51"/>
          <p:cNvSpPr/>
          <p:nvPr/>
        </p:nvSpPr>
        <p:spPr>
          <a:xfrm>
            <a:off x="438912" y="4078224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INTEGRATION — CT — ADO + Tekton</a:t>
            </a:r>
            <a:endParaRPr lang="en-US" sz="600" dirty="0"/>
          </a:p>
        </p:txBody>
      </p:sp>
      <p:sp>
        <p:nvSpPr>
          <p:cNvPr id="59" name="Shape 52"/>
          <p:cNvSpPr/>
          <p:nvPr/>
        </p:nvSpPr>
        <p:spPr>
          <a:xfrm>
            <a:off x="2907792" y="4078224"/>
            <a:ext cx="2221992" cy="182880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60" name="Text 53"/>
          <p:cNvSpPr/>
          <p:nvPr/>
        </p:nvSpPr>
        <p:spPr>
          <a:xfrm>
            <a:off x="2907792" y="4078224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INTEGRATION — CT — ADO + Tekton</a:t>
            </a:r>
            <a:endParaRPr lang="en-US" sz="600" dirty="0"/>
          </a:p>
        </p:txBody>
      </p:sp>
      <p:sp>
        <p:nvSpPr>
          <p:cNvPr id="61" name="Shape 54"/>
          <p:cNvSpPr/>
          <p:nvPr/>
        </p:nvSpPr>
        <p:spPr>
          <a:xfrm>
            <a:off x="329184" y="4315968"/>
            <a:ext cx="5010912" cy="182880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62" name="Text 55"/>
          <p:cNvSpPr/>
          <p:nvPr/>
        </p:nvSpPr>
        <p:spPr>
          <a:xfrm>
            <a:off x="329184" y="4315968"/>
            <a:ext cx="5010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TEST — CT (TEST/UAT only) — ADO + Tekton</a:t>
            </a:r>
            <a:endParaRPr lang="en-US" sz="650" dirty="0"/>
          </a:p>
        </p:txBody>
      </p:sp>
      <p:sp>
        <p:nvSpPr>
          <p:cNvPr id="63" name="Shape 56"/>
          <p:cNvSpPr/>
          <p:nvPr/>
        </p:nvSpPr>
        <p:spPr>
          <a:xfrm>
            <a:off x="5623560" y="658368"/>
            <a:ext cx="3337560" cy="164592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64" name="Text 57"/>
          <p:cNvSpPr/>
          <p:nvPr/>
        </p:nvSpPr>
        <p:spPr>
          <a:xfrm>
            <a:off x="5696712" y="658368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 Tests</a:t>
            </a:r>
            <a:endParaRPr lang="en-US" sz="800" dirty="0"/>
          </a:p>
        </p:txBody>
      </p:sp>
      <p:sp>
        <p:nvSpPr>
          <p:cNvPr id="65" name="Shape 58"/>
          <p:cNvSpPr/>
          <p:nvPr/>
        </p:nvSpPr>
        <p:spPr>
          <a:xfrm>
            <a:off x="5623560" y="832104"/>
            <a:ext cx="333756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59"/>
          <p:cNvSpPr/>
          <p:nvPr/>
        </p:nvSpPr>
        <p:spPr>
          <a:xfrm>
            <a:off x="5678424" y="841248"/>
            <a:ext cx="11887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700" dirty="0"/>
          </a:p>
        </p:txBody>
      </p:sp>
      <p:sp>
        <p:nvSpPr>
          <p:cNvPr id="67" name="Text 60"/>
          <p:cNvSpPr/>
          <p:nvPr/>
        </p:nvSpPr>
        <p:spPr>
          <a:xfrm>
            <a:off x="5678424" y="941832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→ mocked Mongo</a:t>
            </a:r>
            <a:endParaRPr lang="en-US" sz="550" dirty="0"/>
          </a:p>
        </p:txBody>
      </p:sp>
      <p:sp>
        <p:nvSpPr>
          <p:cNvPr id="68" name="Shape 61"/>
          <p:cNvSpPr/>
          <p:nvPr/>
        </p:nvSpPr>
        <p:spPr>
          <a:xfrm>
            <a:off x="7772400" y="859536"/>
            <a:ext cx="219456" cy="9144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69" name="Text 62"/>
          <p:cNvSpPr/>
          <p:nvPr/>
        </p:nvSpPr>
        <p:spPr>
          <a:xfrm>
            <a:off x="7772400" y="859536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500" dirty="0"/>
          </a:p>
        </p:txBody>
      </p:sp>
      <p:sp>
        <p:nvSpPr>
          <p:cNvPr id="70" name="Text 63"/>
          <p:cNvSpPr/>
          <p:nvPr/>
        </p:nvSpPr>
        <p:spPr>
          <a:xfrm>
            <a:off x="8028432" y="850392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Commit</a:t>
            </a:r>
            <a:endParaRPr lang="en-US" sz="550" dirty="0"/>
          </a:p>
        </p:txBody>
      </p:sp>
      <p:sp>
        <p:nvSpPr>
          <p:cNvPr id="71" name="Text 64"/>
          <p:cNvSpPr/>
          <p:nvPr/>
        </p:nvSpPr>
        <p:spPr>
          <a:xfrm>
            <a:off x="8028432" y="950976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</a:t>
            </a:r>
            <a:endParaRPr lang="en-US" sz="450" dirty="0"/>
          </a:p>
        </p:txBody>
      </p:sp>
      <p:sp>
        <p:nvSpPr>
          <p:cNvPr id="72" name="Shape 65"/>
          <p:cNvSpPr/>
          <p:nvPr/>
        </p:nvSpPr>
        <p:spPr>
          <a:xfrm>
            <a:off x="5623560" y="1069848"/>
            <a:ext cx="3337560" cy="228600"/>
          </a:xfrm>
          <a:prstGeom prst="rect">
            <a:avLst/>
          </a:prstGeom>
          <a:solidFill>
            <a:srgbClr val="F5F2EF"/>
          </a:solidFill>
          <a:ln/>
        </p:spPr>
      </p:sp>
      <p:sp>
        <p:nvSpPr>
          <p:cNvPr id="73" name="Text 66"/>
          <p:cNvSpPr/>
          <p:nvPr/>
        </p:nvSpPr>
        <p:spPr>
          <a:xfrm>
            <a:off x="5678424" y="1078992"/>
            <a:ext cx="11887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API</a:t>
            </a:r>
            <a:endParaRPr lang="en-US" sz="700" dirty="0"/>
          </a:p>
        </p:txBody>
      </p:sp>
      <p:sp>
        <p:nvSpPr>
          <p:cNvPr id="74" name="Text 67"/>
          <p:cNvSpPr/>
          <p:nvPr/>
        </p:nvSpPr>
        <p:spPr>
          <a:xfrm>
            <a:off x="5678424" y="1179576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Kafka → mocked Mongo</a:t>
            </a:r>
            <a:endParaRPr lang="en-US" sz="550" dirty="0"/>
          </a:p>
        </p:txBody>
      </p:sp>
      <p:sp>
        <p:nvSpPr>
          <p:cNvPr id="75" name="Shape 68"/>
          <p:cNvSpPr/>
          <p:nvPr/>
        </p:nvSpPr>
        <p:spPr>
          <a:xfrm>
            <a:off x="7772400" y="1097280"/>
            <a:ext cx="219456" cy="9144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76" name="Text 69"/>
          <p:cNvSpPr/>
          <p:nvPr/>
        </p:nvSpPr>
        <p:spPr>
          <a:xfrm>
            <a:off x="7772400" y="1097280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500" dirty="0"/>
          </a:p>
        </p:txBody>
      </p:sp>
      <p:sp>
        <p:nvSpPr>
          <p:cNvPr id="77" name="Text 70"/>
          <p:cNvSpPr/>
          <p:nvPr/>
        </p:nvSpPr>
        <p:spPr>
          <a:xfrm>
            <a:off x="8028432" y="1088136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Commit</a:t>
            </a:r>
            <a:endParaRPr lang="en-US" sz="550" dirty="0"/>
          </a:p>
        </p:txBody>
      </p:sp>
      <p:sp>
        <p:nvSpPr>
          <p:cNvPr id="78" name="Text 71"/>
          <p:cNvSpPr/>
          <p:nvPr/>
        </p:nvSpPr>
        <p:spPr>
          <a:xfrm>
            <a:off x="8028432" y="1188720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</a:t>
            </a:r>
            <a:endParaRPr lang="en-US" sz="450" dirty="0"/>
          </a:p>
        </p:txBody>
      </p:sp>
      <p:sp>
        <p:nvSpPr>
          <p:cNvPr id="79" name="Shape 72"/>
          <p:cNvSpPr/>
          <p:nvPr/>
        </p:nvSpPr>
        <p:spPr>
          <a:xfrm>
            <a:off x="5623560" y="1307592"/>
            <a:ext cx="333756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3"/>
          <p:cNvSpPr/>
          <p:nvPr/>
        </p:nvSpPr>
        <p:spPr>
          <a:xfrm>
            <a:off x="5678424" y="1316736"/>
            <a:ext cx="11887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API</a:t>
            </a:r>
            <a:endParaRPr lang="en-US" sz="700" dirty="0"/>
          </a:p>
        </p:txBody>
      </p:sp>
      <p:sp>
        <p:nvSpPr>
          <p:cNvPr id="81" name="Text 74"/>
          <p:cNvSpPr/>
          <p:nvPr/>
        </p:nvSpPr>
        <p:spPr>
          <a:xfrm>
            <a:off x="5678424" y="1417320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Mongo → verify REST</a:t>
            </a:r>
            <a:endParaRPr lang="en-US" sz="550" dirty="0"/>
          </a:p>
        </p:txBody>
      </p:sp>
      <p:sp>
        <p:nvSpPr>
          <p:cNvPr id="82" name="Shape 75"/>
          <p:cNvSpPr/>
          <p:nvPr/>
        </p:nvSpPr>
        <p:spPr>
          <a:xfrm>
            <a:off x="7772400" y="1335024"/>
            <a:ext cx="219456" cy="9144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83" name="Text 76"/>
          <p:cNvSpPr/>
          <p:nvPr/>
        </p:nvSpPr>
        <p:spPr>
          <a:xfrm>
            <a:off x="7772400" y="1335024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500" dirty="0"/>
          </a:p>
        </p:txBody>
      </p:sp>
      <p:sp>
        <p:nvSpPr>
          <p:cNvPr id="84" name="Text 77"/>
          <p:cNvSpPr/>
          <p:nvPr/>
        </p:nvSpPr>
        <p:spPr>
          <a:xfrm>
            <a:off x="8028432" y="1325880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Commit</a:t>
            </a:r>
            <a:endParaRPr lang="en-US" sz="550" dirty="0"/>
          </a:p>
        </p:txBody>
      </p:sp>
      <p:sp>
        <p:nvSpPr>
          <p:cNvPr id="85" name="Text 78"/>
          <p:cNvSpPr/>
          <p:nvPr/>
        </p:nvSpPr>
        <p:spPr>
          <a:xfrm>
            <a:off x="8028432" y="1426464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</a:t>
            </a:r>
            <a:endParaRPr lang="en-US" sz="450" dirty="0"/>
          </a:p>
        </p:txBody>
      </p:sp>
      <p:sp>
        <p:nvSpPr>
          <p:cNvPr id="86" name="Shape 79"/>
          <p:cNvSpPr/>
          <p:nvPr/>
        </p:nvSpPr>
        <p:spPr>
          <a:xfrm>
            <a:off x="5623560" y="1545336"/>
            <a:ext cx="3337560" cy="228600"/>
          </a:xfrm>
          <a:prstGeom prst="rect">
            <a:avLst/>
          </a:prstGeom>
          <a:solidFill>
            <a:srgbClr val="F5F2EF"/>
          </a:solidFill>
          <a:ln/>
        </p:spPr>
      </p:sp>
      <p:sp>
        <p:nvSpPr>
          <p:cNvPr id="87" name="Text 80"/>
          <p:cNvSpPr/>
          <p:nvPr/>
        </p:nvSpPr>
        <p:spPr>
          <a:xfrm>
            <a:off x="5678424" y="1554480"/>
            <a:ext cx="11887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FE</a:t>
            </a:r>
            <a:endParaRPr lang="en-US" sz="700" dirty="0"/>
          </a:p>
        </p:txBody>
      </p:sp>
      <p:sp>
        <p:nvSpPr>
          <p:cNvPr id="88" name="Text 81"/>
          <p:cNvSpPr/>
          <p:nvPr/>
        </p:nvSpPr>
        <p:spPr>
          <a:xfrm>
            <a:off x="5678424" y="1655064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Mocked BFF (MSW) → UI</a:t>
            </a:r>
            <a:endParaRPr lang="en-US" sz="550" dirty="0"/>
          </a:p>
        </p:txBody>
      </p:sp>
      <p:sp>
        <p:nvSpPr>
          <p:cNvPr id="89" name="Shape 82"/>
          <p:cNvSpPr/>
          <p:nvPr/>
        </p:nvSpPr>
        <p:spPr>
          <a:xfrm>
            <a:off x="7772400" y="1572768"/>
            <a:ext cx="219456" cy="9144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90" name="Text 83"/>
          <p:cNvSpPr/>
          <p:nvPr/>
        </p:nvSpPr>
        <p:spPr>
          <a:xfrm>
            <a:off x="7772400" y="157276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500" dirty="0"/>
          </a:p>
        </p:txBody>
      </p:sp>
      <p:sp>
        <p:nvSpPr>
          <p:cNvPr id="91" name="Text 84"/>
          <p:cNvSpPr/>
          <p:nvPr/>
        </p:nvSpPr>
        <p:spPr>
          <a:xfrm>
            <a:off x="8028432" y="1563624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Commit</a:t>
            </a:r>
            <a:endParaRPr lang="en-US" sz="550" dirty="0"/>
          </a:p>
        </p:txBody>
      </p:sp>
      <p:sp>
        <p:nvSpPr>
          <p:cNvPr id="92" name="Text 85"/>
          <p:cNvSpPr/>
          <p:nvPr/>
        </p:nvSpPr>
        <p:spPr>
          <a:xfrm>
            <a:off x="8028432" y="1664208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</a:t>
            </a:r>
            <a:endParaRPr lang="en-US" sz="450" dirty="0"/>
          </a:p>
        </p:txBody>
      </p:sp>
      <p:sp>
        <p:nvSpPr>
          <p:cNvPr id="93" name="Shape 86"/>
          <p:cNvSpPr/>
          <p:nvPr/>
        </p:nvSpPr>
        <p:spPr>
          <a:xfrm>
            <a:off x="5623560" y="1810512"/>
            <a:ext cx="3337560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4" name="Text 87"/>
          <p:cNvSpPr/>
          <p:nvPr/>
        </p:nvSpPr>
        <p:spPr>
          <a:xfrm>
            <a:off x="5696712" y="1810512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 Tests</a:t>
            </a:r>
            <a:endParaRPr lang="en-US" sz="800" dirty="0"/>
          </a:p>
        </p:txBody>
      </p:sp>
      <p:sp>
        <p:nvSpPr>
          <p:cNvPr id="95" name="Shape 88"/>
          <p:cNvSpPr/>
          <p:nvPr/>
        </p:nvSpPr>
        <p:spPr>
          <a:xfrm>
            <a:off x="5623560" y="1984248"/>
            <a:ext cx="333756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Text 89"/>
          <p:cNvSpPr/>
          <p:nvPr/>
        </p:nvSpPr>
        <p:spPr>
          <a:xfrm>
            <a:off x="5678424" y="1993392"/>
            <a:ext cx="11887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 Angular ↔ BFF</a:t>
            </a:r>
            <a:endParaRPr lang="en-US" sz="700" dirty="0"/>
          </a:p>
        </p:txBody>
      </p:sp>
      <p:sp>
        <p:nvSpPr>
          <p:cNvPr id="97" name="Text 90"/>
          <p:cNvSpPr/>
          <p:nvPr/>
        </p:nvSpPr>
        <p:spPr>
          <a:xfrm>
            <a:off x="5678424" y="2093976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Pact consumer/provider (REST)</a:t>
            </a:r>
            <a:endParaRPr lang="en-US" sz="550" dirty="0"/>
          </a:p>
        </p:txBody>
      </p:sp>
      <p:sp>
        <p:nvSpPr>
          <p:cNvPr id="98" name="Shape 91"/>
          <p:cNvSpPr/>
          <p:nvPr/>
        </p:nvSpPr>
        <p:spPr>
          <a:xfrm>
            <a:off x="7772400" y="2011680"/>
            <a:ext cx="219456" cy="9144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99" name="Text 92"/>
          <p:cNvSpPr/>
          <p:nvPr/>
        </p:nvSpPr>
        <p:spPr>
          <a:xfrm>
            <a:off x="7772400" y="2011680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500" dirty="0"/>
          </a:p>
        </p:txBody>
      </p:sp>
      <p:sp>
        <p:nvSpPr>
          <p:cNvPr id="100" name="Text 93"/>
          <p:cNvSpPr/>
          <p:nvPr/>
        </p:nvSpPr>
        <p:spPr>
          <a:xfrm>
            <a:off x="8028432" y="2002536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Commit</a:t>
            </a:r>
            <a:endParaRPr lang="en-US" sz="550" dirty="0"/>
          </a:p>
        </p:txBody>
      </p:sp>
      <p:sp>
        <p:nvSpPr>
          <p:cNvPr id="101" name="Text 94"/>
          <p:cNvSpPr/>
          <p:nvPr/>
        </p:nvSpPr>
        <p:spPr>
          <a:xfrm>
            <a:off x="8028432" y="2103120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</a:t>
            </a:r>
            <a:endParaRPr lang="en-US" sz="450" dirty="0"/>
          </a:p>
        </p:txBody>
      </p:sp>
      <p:sp>
        <p:nvSpPr>
          <p:cNvPr id="102" name="Shape 95"/>
          <p:cNvSpPr/>
          <p:nvPr/>
        </p:nvSpPr>
        <p:spPr>
          <a:xfrm>
            <a:off x="5623560" y="2221992"/>
            <a:ext cx="3337560" cy="228600"/>
          </a:xfrm>
          <a:prstGeom prst="rect">
            <a:avLst/>
          </a:prstGeom>
          <a:solidFill>
            <a:srgbClr val="F5F2EF"/>
          </a:solidFill>
          <a:ln/>
        </p:spPr>
      </p:sp>
      <p:sp>
        <p:nvSpPr>
          <p:cNvPr id="103" name="Text 96"/>
          <p:cNvSpPr/>
          <p:nvPr/>
        </p:nvSpPr>
        <p:spPr>
          <a:xfrm>
            <a:off x="5678424" y="2231136"/>
            <a:ext cx="11887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 Clients ↔ Pub API</a:t>
            </a:r>
            <a:endParaRPr lang="en-US" sz="700" dirty="0"/>
          </a:p>
        </p:txBody>
      </p:sp>
      <p:sp>
        <p:nvSpPr>
          <p:cNvPr id="104" name="Text 97"/>
          <p:cNvSpPr/>
          <p:nvPr/>
        </p:nvSpPr>
        <p:spPr>
          <a:xfrm>
            <a:off x="5678424" y="2331720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Pact consumer/provider (external)</a:t>
            </a:r>
            <a:endParaRPr lang="en-US" sz="550" dirty="0"/>
          </a:p>
        </p:txBody>
      </p:sp>
      <p:sp>
        <p:nvSpPr>
          <p:cNvPr id="105" name="Shape 98"/>
          <p:cNvSpPr/>
          <p:nvPr/>
        </p:nvSpPr>
        <p:spPr>
          <a:xfrm>
            <a:off x="7772400" y="2249424"/>
            <a:ext cx="219456" cy="9144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106" name="Text 99"/>
          <p:cNvSpPr/>
          <p:nvPr/>
        </p:nvSpPr>
        <p:spPr>
          <a:xfrm>
            <a:off x="7772400" y="2249424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500" dirty="0"/>
          </a:p>
        </p:txBody>
      </p:sp>
      <p:sp>
        <p:nvSpPr>
          <p:cNvPr id="107" name="Text 100"/>
          <p:cNvSpPr/>
          <p:nvPr/>
        </p:nvSpPr>
        <p:spPr>
          <a:xfrm>
            <a:off x="8028432" y="2240280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Commit</a:t>
            </a:r>
            <a:endParaRPr lang="en-US" sz="550" dirty="0"/>
          </a:p>
        </p:txBody>
      </p:sp>
      <p:sp>
        <p:nvSpPr>
          <p:cNvPr id="108" name="Text 101"/>
          <p:cNvSpPr/>
          <p:nvPr/>
        </p:nvSpPr>
        <p:spPr>
          <a:xfrm>
            <a:off x="8028432" y="2340864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</a:t>
            </a:r>
            <a:endParaRPr lang="en-US" sz="450" dirty="0"/>
          </a:p>
        </p:txBody>
      </p:sp>
      <p:sp>
        <p:nvSpPr>
          <p:cNvPr id="109" name="Shape 102"/>
          <p:cNvSpPr/>
          <p:nvPr/>
        </p:nvSpPr>
        <p:spPr>
          <a:xfrm>
            <a:off x="5623560" y="2459736"/>
            <a:ext cx="333756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0" name="Text 103"/>
          <p:cNvSpPr/>
          <p:nvPr/>
        </p:nvSpPr>
        <p:spPr>
          <a:xfrm>
            <a:off x="5678424" y="2468880"/>
            <a:ext cx="11887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Schema: Write ↔ Read</a:t>
            </a:r>
            <a:endParaRPr lang="en-US" sz="700" dirty="0"/>
          </a:p>
        </p:txBody>
      </p:sp>
      <p:sp>
        <p:nvSpPr>
          <p:cNvPr id="111" name="Text 104"/>
          <p:cNvSpPr/>
          <p:nvPr/>
        </p:nvSpPr>
        <p:spPr>
          <a:xfrm>
            <a:off x="5678424" y="2569464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Mongo doc schema compat.</a:t>
            </a:r>
            <a:endParaRPr lang="en-US" sz="550" dirty="0"/>
          </a:p>
        </p:txBody>
      </p:sp>
      <p:sp>
        <p:nvSpPr>
          <p:cNvPr id="112" name="Shape 105"/>
          <p:cNvSpPr/>
          <p:nvPr/>
        </p:nvSpPr>
        <p:spPr>
          <a:xfrm>
            <a:off x="7772400" y="2487168"/>
            <a:ext cx="219456" cy="9144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113" name="Text 106"/>
          <p:cNvSpPr/>
          <p:nvPr/>
        </p:nvSpPr>
        <p:spPr>
          <a:xfrm>
            <a:off x="7772400" y="248716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500" dirty="0"/>
          </a:p>
        </p:txBody>
      </p:sp>
      <p:sp>
        <p:nvSpPr>
          <p:cNvPr id="114" name="Text 107"/>
          <p:cNvSpPr/>
          <p:nvPr/>
        </p:nvSpPr>
        <p:spPr>
          <a:xfrm>
            <a:off x="8028432" y="2478024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Commit</a:t>
            </a:r>
            <a:endParaRPr lang="en-US" sz="550" dirty="0"/>
          </a:p>
        </p:txBody>
      </p:sp>
      <p:sp>
        <p:nvSpPr>
          <p:cNvPr id="115" name="Text 108"/>
          <p:cNvSpPr/>
          <p:nvPr/>
        </p:nvSpPr>
        <p:spPr>
          <a:xfrm>
            <a:off x="8028432" y="2578608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validation</a:t>
            </a:r>
            <a:endParaRPr lang="en-US" sz="450" dirty="0"/>
          </a:p>
        </p:txBody>
      </p:sp>
      <p:sp>
        <p:nvSpPr>
          <p:cNvPr id="116" name="Shape 109"/>
          <p:cNvSpPr/>
          <p:nvPr/>
        </p:nvSpPr>
        <p:spPr>
          <a:xfrm>
            <a:off x="5623560" y="2697480"/>
            <a:ext cx="3337560" cy="228600"/>
          </a:xfrm>
          <a:prstGeom prst="rect">
            <a:avLst/>
          </a:prstGeom>
          <a:solidFill>
            <a:srgbClr val="F5F2EF"/>
          </a:solidFill>
          <a:ln/>
        </p:spPr>
      </p:sp>
      <p:sp>
        <p:nvSpPr>
          <p:cNvPr id="117" name="Text 110"/>
          <p:cNvSpPr/>
          <p:nvPr/>
        </p:nvSpPr>
        <p:spPr>
          <a:xfrm>
            <a:off x="5678424" y="2706624"/>
            <a:ext cx="11887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Message: Notify</a:t>
            </a:r>
            <a:endParaRPr lang="en-US" sz="700" dirty="0"/>
          </a:p>
        </p:txBody>
      </p:sp>
      <p:sp>
        <p:nvSpPr>
          <p:cNvPr id="118" name="Text 111"/>
          <p:cNvSpPr/>
          <p:nvPr/>
        </p:nvSpPr>
        <p:spPr>
          <a:xfrm>
            <a:off x="5678424" y="2807208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Stream / Kafka event schema</a:t>
            </a:r>
            <a:endParaRPr lang="en-US" sz="550" dirty="0"/>
          </a:p>
        </p:txBody>
      </p:sp>
      <p:sp>
        <p:nvSpPr>
          <p:cNvPr id="119" name="Shape 112"/>
          <p:cNvSpPr/>
          <p:nvPr/>
        </p:nvSpPr>
        <p:spPr>
          <a:xfrm>
            <a:off x="7772400" y="2724912"/>
            <a:ext cx="219456" cy="9144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120" name="Text 113"/>
          <p:cNvSpPr/>
          <p:nvPr/>
        </p:nvSpPr>
        <p:spPr>
          <a:xfrm>
            <a:off x="7772400" y="2724912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500" dirty="0"/>
          </a:p>
        </p:txBody>
      </p:sp>
      <p:sp>
        <p:nvSpPr>
          <p:cNvPr id="121" name="Text 114"/>
          <p:cNvSpPr/>
          <p:nvPr/>
        </p:nvSpPr>
        <p:spPr>
          <a:xfrm>
            <a:off x="8028432" y="2715768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Commit</a:t>
            </a:r>
            <a:endParaRPr lang="en-US" sz="550" dirty="0"/>
          </a:p>
        </p:txBody>
      </p:sp>
      <p:sp>
        <p:nvSpPr>
          <p:cNvPr id="122" name="Text 115"/>
          <p:cNvSpPr/>
          <p:nvPr/>
        </p:nvSpPr>
        <p:spPr>
          <a:xfrm>
            <a:off x="8028432" y="2816352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validation</a:t>
            </a:r>
            <a:endParaRPr lang="en-US" sz="450" dirty="0"/>
          </a:p>
        </p:txBody>
      </p:sp>
      <p:sp>
        <p:nvSpPr>
          <p:cNvPr id="123" name="Shape 116"/>
          <p:cNvSpPr/>
          <p:nvPr/>
        </p:nvSpPr>
        <p:spPr>
          <a:xfrm>
            <a:off x="5623560" y="2962656"/>
            <a:ext cx="3337560" cy="164592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24" name="Text 117"/>
          <p:cNvSpPr/>
          <p:nvPr/>
        </p:nvSpPr>
        <p:spPr>
          <a:xfrm>
            <a:off x="5696712" y="2962656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Integration Tests</a:t>
            </a:r>
            <a:endParaRPr lang="en-US" sz="800" dirty="0"/>
          </a:p>
        </p:txBody>
      </p:sp>
      <p:sp>
        <p:nvSpPr>
          <p:cNvPr id="125" name="Shape 118"/>
          <p:cNvSpPr/>
          <p:nvPr/>
        </p:nvSpPr>
        <p:spPr>
          <a:xfrm>
            <a:off x="5623560" y="3136392"/>
            <a:ext cx="333756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6" name="Text 119"/>
          <p:cNvSpPr/>
          <p:nvPr/>
        </p:nvSpPr>
        <p:spPr>
          <a:xfrm>
            <a:off x="5678424" y="3145536"/>
            <a:ext cx="11887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Path (A)</a:t>
            </a:r>
            <a:endParaRPr lang="en-US" sz="700" dirty="0"/>
          </a:p>
        </p:txBody>
      </p:sp>
      <p:sp>
        <p:nvSpPr>
          <p:cNvPr id="127" name="Text 120"/>
          <p:cNvSpPr/>
          <p:nvPr/>
        </p:nvSpPr>
        <p:spPr>
          <a:xfrm>
            <a:off x="5678424" y="3246120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REST/Kafka → real Mongo</a:t>
            </a:r>
            <a:endParaRPr lang="en-US" sz="550" dirty="0"/>
          </a:p>
        </p:txBody>
      </p:sp>
      <p:sp>
        <p:nvSpPr>
          <p:cNvPr id="128" name="Shape 121"/>
          <p:cNvSpPr/>
          <p:nvPr/>
        </p:nvSpPr>
        <p:spPr>
          <a:xfrm>
            <a:off x="7772400" y="3163824"/>
            <a:ext cx="219456" cy="91440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29" name="Text 122"/>
          <p:cNvSpPr/>
          <p:nvPr/>
        </p:nvSpPr>
        <p:spPr>
          <a:xfrm>
            <a:off x="7772400" y="3163824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</a:t>
            </a:r>
            <a:endParaRPr lang="en-US" sz="500" dirty="0"/>
          </a:p>
        </p:txBody>
      </p:sp>
      <p:sp>
        <p:nvSpPr>
          <p:cNvPr id="130" name="Text 123"/>
          <p:cNvSpPr/>
          <p:nvPr/>
        </p:nvSpPr>
        <p:spPr>
          <a:xfrm>
            <a:off x="8028432" y="3154680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Post-CD · TEST, UAT</a:t>
            </a:r>
            <a:endParaRPr lang="en-US" sz="550" dirty="0"/>
          </a:p>
        </p:txBody>
      </p:sp>
      <p:sp>
        <p:nvSpPr>
          <p:cNvPr id="131" name="Text 124"/>
          <p:cNvSpPr/>
          <p:nvPr/>
        </p:nvSpPr>
        <p:spPr>
          <a:xfrm>
            <a:off x="8028432" y="3255264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 + Tekton</a:t>
            </a:r>
            <a:endParaRPr lang="en-US" sz="450" dirty="0"/>
          </a:p>
        </p:txBody>
      </p:sp>
      <p:sp>
        <p:nvSpPr>
          <p:cNvPr id="132" name="Shape 125"/>
          <p:cNvSpPr/>
          <p:nvPr/>
        </p:nvSpPr>
        <p:spPr>
          <a:xfrm>
            <a:off x="5623560" y="3374136"/>
            <a:ext cx="3337560" cy="228600"/>
          </a:xfrm>
          <a:prstGeom prst="rect">
            <a:avLst/>
          </a:prstGeom>
          <a:solidFill>
            <a:srgbClr val="F5F2EF"/>
          </a:solidFill>
          <a:ln/>
        </p:spPr>
      </p:sp>
      <p:sp>
        <p:nvSpPr>
          <p:cNvPr id="133" name="Text 126"/>
          <p:cNvSpPr/>
          <p:nvPr/>
        </p:nvSpPr>
        <p:spPr>
          <a:xfrm>
            <a:off x="5678424" y="3383280"/>
            <a:ext cx="11887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Path (B)</a:t>
            </a:r>
            <a:endParaRPr lang="en-US" sz="700" dirty="0"/>
          </a:p>
        </p:txBody>
      </p:sp>
      <p:sp>
        <p:nvSpPr>
          <p:cNvPr id="134" name="Text 127"/>
          <p:cNvSpPr/>
          <p:nvPr/>
        </p:nvSpPr>
        <p:spPr>
          <a:xfrm>
            <a:off x="5678424" y="3483864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 notify → BFF → Angular</a:t>
            </a:r>
            <a:endParaRPr lang="en-US" sz="550" dirty="0"/>
          </a:p>
        </p:txBody>
      </p:sp>
      <p:sp>
        <p:nvSpPr>
          <p:cNvPr id="135" name="Shape 128"/>
          <p:cNvSpPr/>
          <p:nvPr/>
        </p:nvSpPr>
        <p:spPr>
          <a:xfrm>
            <a:off x="7772400" y="3401568"/>
            <a:ext cx="219456" cy="91440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36" name="Text 129"/>
          <p:cNvSpPr/>
          <p:nvPr/>
        </p:nvSpPr>
        <p:spPr>
          <a:xfrm>
            <a:off x="7772400" y="340156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</a:t>
            </a:r>
            <a:endParaRPr lang="en-US" sz="500" dirty="0"/>
          </a:p>
        </p:txBody>
      </p:sp>
      <p:sp>
        <p:nvSpPr>
          <p:cNvPr id="137" name="Text 130"/>
          <p:cNvSpPr/>
          <p:nvPr/>
        </p:nvSpPr>
        <p:spPr>
          <a:xfrm>
            <a:off x="8028432" y="3392424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Post-CD · TEST, UAT</a:t>
            </a:r>
            <a:endParaRPr lang="en-US" sz="550" dirty="0"/>
          </a:p>
        </p:txBody>
      </p:sp>
      <p:sp>
        <p:nvSpPr>
          <p:cNvPr id="138" name="Text 131"/>
          <p:cNvSpPr/>
          <p:nvPr/>
        </p:nvSpPr>
        <p:spPr>
          <a:xfrm>
            <a:off x="8028432" y="3493008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 + Tekton</a:t>
            </a:r>
            <a:endParaRPr lang="en-US" sz="450" dirty="0"/>
          </a:p>
        </p:txBody>
      </p:sp>
      <p:sp>
        <p:nvSpPr>
          <p:cNvPr id="139" name="Shape 132"/>
          <p:cNvSpPr/>
          <p:nvPr/>
        </p:nvSpPr>
        <p:spPr>
          <a:xfrm>
            <a:off x="5623560" y="3639312"/>
            <a:ext cx="3337560" cy="164592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140" name="Text 133"/>
          <p:cNvSpPr/>
          <p:nvPr/>
        </p:nvSpPr>
        <p:spPr>
          <a:xfrm>
            <a:off x="5696712" y="3639312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Tests (E2E)</a:t>
            </a:r>
            <a:endParaRPr lang="en-US" sz="800" dirty="0"/>
          </a:p>
        </p:txBody>
      </p:sp>
      <p:sp>
        <p:nvSpPr>
          <p:cNvPr id="141" name="Shape 134"/>
          <p:cNvSpPr/>
          <p:nvPr/>
        </p:nvSpPr>
        <p:spPr>
          <a:xfrm>
            <a:off x="5623560" y="3813048"/>
            <a:ext cx="333756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2" name="Text 135"/>
          <p:cNvSpPr/>
          <p:nvPr/>
        </p:nvSpPr>
        <p:spPr>
          <a:xfrm>
            <a:off x="5678424" y="3822192"/>
            <a:ext cx="11887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Chain E2E</a:t>
            </a:r>
            <a:endParaRPr lang="en-US" sz="700" dirty="0"/>
          </a:p>
        </p:txBody>
      </p:sp>
      <p:sp>
        <p:nvSpPr>
          <p:cNvPr id="143" name="Text 136"/>
          <p:cNvSpPr/>
          <p:nvPr/>
        </p:nvSpPr>
        <p:spPr>
          <a:xfrm>
            <a:off x="5678424" y="3922776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→ Mongo → notify → BFF → Angular</a:t>
            </a:r>
            <a:endParaRPr lang="en-US" sz="550" dirty="0"/>
          </a:p>
        </p:txBody>
      </p:sp>
      <p:sp>
        <p:nvSpPr>
          <p:cNvPr id="144" name="Shape 137"/>
          <p:cNvSpPr/>
          <p:nvPr/>
        </p:nvSpPr>
        <p:spPr>
          <a:xfrm>
            <a:off x="7772400" y="3840480"/>
            <a:ext cx="219456" cy="91440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45" name="Text 138"/>
          <p:cNvSpPr/>
          <p:nvPr/>
        </p:nvSpPr>
        <p:spPr>
          <a:xfrm>
            <a:off x="7772400" y="3840480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</a:t>
            </a:r>
            <a:endParaRPr lang="en-US" sz="500" dirty="0"/>
          </a:p>
        </p:txBody>
      </p:sp>
      <p:sp>
        <p:nvSpPr>
          <p:cNvPr id="146" name="Text 139"/>
          <p:cNvSpPr/>
          <p:nvPr/>
        </p:nvSpPr>
        <p:spPr>
          <a:xfrm>
            <a:off x="8028432" y="3831336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Post-CD · TEST, UAT</a:t>
            </a:r>
            <a:endParaRPr lang="en-US" sz="550" dirty="0"/>
          </a:p>
        </p:txBody>
      </p:sp>
      <p:sp>
        <p:nvSpPr>
          <p:cNvPr id="147" name="Text 140"/>
          <p:cNvSpPr/>
          <p:nvPr/>
        </p:nvSpPr>
        <p:spPr>
          <a:xfrm>
            <a:off x="8028432" y="3931920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 + Tekton</a:t>
            </a:r>
            <a:endParaRPr lang="en-US" sz="450" dirty="0"/>
          </a:p>
        </p:txBody>
      </p:sp>
      <p:sp>
        <p:nvSpPr>
          <p:cNvPr id="148" name="Shape 141"/>
          <p:cNvSpPr/>
          <p:nvPr/>
        </p:nvSpPr>
        <p:spPr>
          <a:xfrm>
            <a:off x="5623560" y="4078224"/>
            <a:ext cx="3337560" cy="164592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49" name="Text 142"/>
          <p:cNvSpPr/>
          <p:nvPr/>
        </p:nvSpPr>
        <p:spPr>
          <a:xfrm>
            <a:off x="5696712" y="4078224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 Smoke Tests</a:t>
            </a:r>
            <a:endParaRPr lang="en-US" sz="800" dirty="0"/>
          </a:p>
        </p:txBody>
      </p:sp>
      <p:sp>
        <p:nvSpPr>
          <p:cNvPr id="150" name="Shape 143"/>
          <p:cNvSpPr/>
          <p:nvPr/>
        </p:nvSpPr>
        <p:spPr>
          <a:xfrm>
            <a:off x="5623560" y="4251960"/>
            <a:ext cx="333756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1" name="Text 144"/>
          <p:cNvSpPr/>
          <p:nvPr/>
        </p:nvSpPr>
        <p:spPr>
          <a:xfrm>
            <a:off x="5678424" y="4261104"/>
            <a:ext cx="11887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Universal</a:t>
            </a:r>
            <a:endParaRPr lang="en-US" sz="700" dirty="0"/>
          </a:p>
        </p:txBody>
      </p:sp>
      <p:sp>
        <p:nvSpPr>
          <p:cNvPr id="152" name="Text 145"/>
          <p:cNvSpPr/>
          <p:nvPr/>
        </p:nvSpPr>
        <p:spPr>
          <a:xfrm>
            <a:off x="5678424" y="4361688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Health, version, read-only</a:t>
            </a:r>
            <a:endParaRPr lang="en-US" sz="550" dirty="0"/>
          </a:p>
        </p:txBody>
      </p:sp>
      <p:sp>
        <p:nvSpPr>
          <p:cNvPr id="153" name="Shape 146"/>
          <p:cNvSpPr/>
          <p:nvPr/>
        </p:nvSpPr>
        <p:spPr>
          <a:xfrm>
            <a:off x="7772400" y="4279392"/>
            <a:ext cx="219456" cy="9144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54" name="Text 147"/>
          <p:cNvSpPr/>
          <p:nvPr/>
        </p:nvSpPr>
        <p:spPr>
          <a:xfrm>
            <a:off x="7772400" y="4279392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500" dirty="0"/>
          </a:p>
        </p:txBody>
      </p:sp>
      <p:sp>
        <p:nvSpPr>
          <p:cNvPr id="155" name="Text 148"/>
          <p:cNvSpPr/>
          <p:nvPr/>
        </p:nvSpPr>
        <p:spPr>
          <a:xfrm>
            <a:off x="8028432" y="4270248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(incl. PROD)</a:t>
            </a:r>
            <a:endParaRPr lang="en-US" sz="550" dirty="0"/>
          </a:p>
        </p:txBody>
      </p:sp>
      <p:sp>
        <p:nvSpPr>
          <p:cNvPr id="156" name="Text 149"/>
          <p:cNvSpPr/>
          <p:nvPr/>
        </p:nvSpPr>
        <p:spPr>
          <a:xfrm>
            <a:off x="8028432" y="4370832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Tekton (SNOW)</a:t>
            </a:r>
            <a:endParaRPr lang="en-US" sz="450" dirty="0"/>
          </a:p>
        </p:txBody>
      </p:sp>
      <p:sp>
        <p:nvSpPr>
          <p:cNvPr id="157" name="Shape 150"/>
          <p:cNvSpPr/>
          <p:nvPr/>
        </p:nvSpPr>
        <p:spPr>
          <a:xfrm>
            <a:off x="5623560" y="4489704"/>
            <a:ext cx="3337560" cy="228600"/>
          </a:xfrm>
          <a:prstGeom prst="rect">
            <a:avLst/>
          </a:prstGeom>
          <a:solidFill>
            <a:srgbClr val="F5F2EF"/>
          </a:solidFill>
          <a:ln/>
        </p:spPr>
      </p:sp>
      <p:sp>
        <p:nvSpPr>
          <p:cNvPr id="158" name="Text 151"/>
          <p:cNvSpPr/>
          <p:nvPr/>
        </p:nvSpPr>
        <p:spPr>
          <a:xfrm>
            <a:off x="5678424" y="4498848"/>
            <a:ext cx="11887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Write</a:t>
            </a:r>
            <a:endParaRPr lang="en-US" sz="700" dirty="0"/>
          </a:p>
        </p:txBody>
      </p:sp>
      <p:sp>
        <p:nvSpPr>
          <p:cNvPr id="159" name="Text 152"/>
          <p:cNvSpPr/>
          <p:nvPr/>
        </p:nvSpPr>
        <p:spPr>
          <a:xfrm>
            <a:off x="5678424" y="4599432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→ verify → cleanup</a:t>
            </a:r>
            <a:endParaRPr lang="en-US" sz="550" dirty="0"/>
          </a:p>
        </p:txBody>
      </p:sp>
      <p:sp>
        <p:nvSpPr>
          <p:cNvPr id="160" name="Shape 153"/>
          <p:cNvSpPr/>
          <p:nvPr/>
        </p:nvSpPr>
        <p:spPr>
          <a:xfrm>
            <a:off x="7772400" y="4517136"/>
            <a:ext cx="219456" cy="9144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61" name="Text 154"/>
          <p:cNvSpPr/>
          <p:nvPr/>
        </p:nvSpPr>
        <p:spPr>
          <a:xfrm>
            <a:off x="7772400" y="4517136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500" dirty="0"/>
          </a:p>
        </p:txBody>
      </p:sp>
      <p:sp>
        <p:nvSpPr>
          <p:cNvPr id="162" name="Text 155"/>
          <p:cNvSpPr/>
          <p:nvPr/>
        </p:nvSpPr>
        <p:spPr>
          <a:xfrm>
            <a:off x="8028432" y="4507992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TEST, UAT only</a:t>
            </a:r>
            <a:endParaRPr lang="en-US" sz="550" dirty="0"/>
          </a:p>
        </p:txBody>
      </p:sp>
      <p:sp>
        <p:nvSpPr>
          <p:cNvPr id="163" name="Text 156"/>
          <p:cNvSpPr/>
          <p:nvPr/>
        </p:nvSpPr>
        <p:spPr>
          <a:xfrm>
            <a:off x="8028432" y="4608576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Tekton (SNOW)</a:t>
            </a:r>
            <a:endParaRPr lang="en-US" sz="450" dirty="0"/>
          </a:p>
        </p:txBody>
      </p:sp>
      <p:sp>
        <p:nvSpPr>
          <p:cNvPr id="164" name="Shape 157"/>
          <p:cNvSpPr/>
          <p:nvPr/>
        </p:nvSpPr>
        <p:spPr>
          <a:xfrm>
            <a:off x="5623560" y="4727448"/>
            <a:ext cx="333756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5" name="Text 158"/>
          <p:cNvSpPr/>
          <p:nvPr/>
        </p:nvSpPr>
        <p:spPr>
          <a:xfrm>
            <a:off x="5678424" y="4736592"/>
            <a:ext cx="11887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Infra</a:t>
            </a:r>
            <a:endParaRPr lang="en-US" sz="700" dirty="0"/>
          </a:p>
        </p:txBody>
      </p:sp>
      <p:sp>
        <p:nvSpPr>
          <p:cNvPr id="166" name="Text 159"/>
          <p:cNvSpPr/>
          <p:nvPr/>
        </p:nvSpPr>
        <p:spPr>
          <a:xfrm>
            <a:off x="5678424" y="4837176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E2E → Mongo → notify → BFF</a:t>
            </a:r>
            <a:endParaRPr lang="en-US" sz="550" dirty="0"/>
          </a:p>
        </p:txBody>
      </p:sp>
      <p:sp>
        <p:nvSpPr>
          <p:cNvPr id="167" name="Shape 160"/>
          <p:cNvSpPr/>
          <p:nvPr/>
        </p:nvSpPr>
        <p:spPr>
          <a:xfrm>
            <a:off x="7772400" y="4754880"/>
            <a:ext cx="219456" cy="9144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68" name="Text 161"/>
          <p:cNvSpPr/>
          <p:nvPr/>
        </p:nvSpPr>
        <p:spPr>
          <a:xfrm>
            <a:off x="7772400" y="4754880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500" dirty="0"/>
          </a:p>
        </p:txBody>
      </p:sp>
      <p:sp>
        <p:nvSpPr>
          <p:cNvPr id="169" name="Text 162"/>
          <p:cNvSpPr/>
          <p:nvPr/>
        </p:nvSpPr>
        <p:spPr>
          <a:xfrm>
            <a:off x="8028432" y="4745736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only</a:t>
            </a:r>
            <a:endParaRPr lang="en-US" sz="550" dirty="0"/>
          </a:p>
        </p:txBody>
      </p:sp>
      <p:sp>
        <p:nvSpPr>
          <p:cNvPr id="170" name="Text 163"/>
          <p:cNvSpPr/>
          <p:nvPr/>
        </p:nvSpPr>
        <p:spPr>
          <a:xfrm>
            <a:off x="8028432" y="4846320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Tekton (SNOW)</a:t>
            </a:r>
            <a:endParaRPr lang="en-US" sz="450" dirty="0"/>
          </a:p>
        </p:txBody>
      </p:sp>
      <p:sp>
        <p:nvSpPr>
          <p:cNvPr id="171" name="Shape 164"/>
          <p:cNvSpPr/>
          <p:nvPr/>
        </p:nvSpPr>
        <p:spPr>
          <a:xfrm>
            <a:off x="365760" y="4956048"/>
            <a:ext cx="109728" cy="109728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172" name="Text 165"/>
          <p:cNvSpPr/>
          <p:nvPr/>
        </p:nvSpPr>
        <p:spPr>
          <a:xfrm>
            <a:off x="530352" y="494690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= Azure DevOps</a:t>
            </a:r>
            <a:endParaRPr lang="en-US" sz="650" dirty="0"/>
          </a:p>
        </p:txBody>
      </p:sp>
      <p:sp>
        <p:nvSpPr>
          <p:cNvPr id="173" name="Shape 166"/>
          <p:cNvSpPr/>
          <p:nvPr/>
        </p:nvSpPr>
        <p:spPr>
          <a:xfrm>
            <a:off x="2606040" y="4956048"/>
            <a:ext cx="109728" cy="109728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74" name="Text 167"/>
          <p:cNvSpPr/>
          <p:nvPr/>
        </p:nvSpPr>
        <p:spPr>
          <a:xfrm>
            <a:off x="2770632" y="494690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= Tekton (ServiceNow)</a:t>
            </a:r>
            <a:endParaRPr lang="en-US" sz="650" dirty="0"/>
          </a:p>
        </p:txBody>
      </p:sp>
      <p:sp>
        <p:nvSpPr>
          <p:cNvPr id="175" name="Shape 168"/>
          <p:cNvSpPr/>
          <p:nvPr/>
        </p:nvSpPr>
        <p:spPr>
          <a:xfrm>
            <a:off x="4846320" y="4956048"/>
            <a:ext cx="109728" cy="109728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76" name="Text 169"/>
          <p:cNvSpPr/>
          <p:nvPr/>
        </p:nvSpPr>
        <p:spPr>
          <a:xfrm>
            <a:off x="5010912" y="494690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 = ADO + Tekton</a:t>
            </a:r>
            <a:endParaRPr lang="en-US" sz="650" dirty="0"/>
          </a:p>
        </p:txBody>
      </p:sp>
      <p:sp>
        <p:nvSpPr>
          <p:cNvPr id="177" name="Shape 170"/>
          <p:cNvSpPr/>
          <p:nvPr/>
        </p:nvSpPr>
        <p:spPr>
          <a:xfrm>
            <a:off x="7086600" y="4956048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8" name="Text 171"/>
          <p:cNvSpPr/>
          <p:nvPr/>
        </p:nvSpPr>
        <p:spPr>
          <a:xfrm>
            <a:off x="7251192" y="494690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Pact / Schema / Msg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 These Tests Actually Look Like?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Component, Contract (HTTP + Schema + Message), Application Integration, and System tests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603504"/>
            <a:ext cx="8503920" cy="18288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6035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Tests — Single deployable, all externals mocked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0" y="6035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 |  PR / Commit  |  Azure DevOps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22960"/>
            <a:ext cx="36576" cy="658368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850392"/>
            <a:ext cx="3995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 / Integration API</a:t>
            </a:r>
            <a:endParaRPr lang="en-US" sz="8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91440" cy="914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9496" y="987552"/>
            <a:ext cx="3849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starts for real, processes REST or Kafka events, writes to in-memory MongoDB (Testcontainers). External deps mocked.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539496" y="1207008"/>
            <a:ext cx="3849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</a:t>
            </a:r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logic, validation, error handling, DB write shape.</a:t>
            </a:r>
            <a:endParaRPr lang="en-US" sz="6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91440" cy="914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" y="1353312"/>
            <a:ext cx="3849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needed: </a:t>
            </a:r>
            <a:pPr indent="0" marL="0">
              <a:buNone/>
            </a:pPr>
            <a:r>
              <a:rPr lang="en-US" sz="6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Kafka, real MongoDB, real consumers.</a:t>
            </a:r>
            <a:endParaRPr lang="en-US" sz="600" dirty="0"/>
          </a:p>
        </p:txBody>
      </p:sp>
      <p:sp>
        <p:nvSpPr>
          <p:cNvPr id="16" name="Shape 12"/>
          <p:cNvSpPr/>
          <p:nvPr/>
        </p:nvSpPr>
        <p:spPr>
          <a:xfrm>
            <a:off x="4626864" y="822960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26864" y="822960"/>
            <a:ext cx="36576" cy="658368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8" name="Text 14"/>
          <p:cNvSpPr/>
          <p:nvPr/>
        </p:nvSpPr>
        <p:spPr>
          <a:xfrm>
            <a:off x="4718304" y="850392"/>
            <a:ext cx="3995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5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API / Angular Frontend</a:t>
            </a:r>
            <a:endParaRPr lang="en-US" sz="8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1005840"/>
            <a:ext cx="91440" cy="914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46320" y="987552"/>
            <a:ext cx="3849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reads pre-seeded Mongo. Angular against mocked BFF (MSW). No real upstream.</a:t>
            </a:r>
            <a:endParaRPr lang="en-US" sz="650" dirty="0"/>
          </a:p>
        </p:txBody>
      </p:sp>
      <p:sp>
        <p:nvSpPr>
          <p:cNvPr id="21" name="Text 16"/>
          <p:cNvSpPr/>
          <p:nvPr/>
        </p:nvSpPr>
        <p:spPr>
          <a:xfrm>
            <a:off x="4846320" y="1207008"/>
            <a:ext cx="3849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</a:t>
            </a:r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responses, pagination, UI rendering, routing, state mgmt.</a:t>
            </a:r>
            <a:endParaRPr lang="en-US" sz="6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1371600"/>
            <a:ext cx="91440" cy="914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846320" y="1353312"/>
            <a:ext cx="3849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needed: </a:t>
            </a:r>
            <a:pPr indent="0" marL="0">
              <a:buNone/>
            </a:pPr>
            <a:r>
              <a:rPr lang="en-US" sz="6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write-side APIs, real database.</a:t>
            </a:r>
            <a:endParaRPr lang="en-US" sz="600" dirty="0"/>
          </a:p>
        </p:txBody>
      </p:sp>
      <p:sp>
        <p:nvSpPr>
          <p:cNvPr id="24" name="Shape 18"/>
          <p:cNvSpPr/>
          <p:nvPr/>
        </p:nvSpPr>
        <p:spPr>
          <a:xfrm>
            <a:off x="320040" y="1536192"/>
            <a:ext cx="850392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19"/>
          <p:cNvSpPr/>
          <p:nvPr/>
        </p:nvSpPr>
        <p:spPr>
          <a:xfrm>
            <a:off x="411480" y="15361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Tests — HTTP (Pact) + Schema (MongoDB) + Message (Notification)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5029200" y="15361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 |  PR / Commit  |  ADO</a:t>
            </a:r>
            <a:endParaRPr lang="en-US" sz="650" dirty="0"/>
          </a:p>
        </p:txBody>
      </p:sp>
      <p:sp>
        <p:nvSpPr>
          <p:cNvPr id="27" name="Shape 21"/>
          <p:cNvSpPr/>
          <p:nvPr/>
        </p:nvSpPr>
        <p:spPr>
          <a:xfrm>
            <a:off x="320040" y="1755648"/>
            <a:ext cx="2697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20040" y="1755648"/>
            <a:ext cx="36576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3"/>
          <p:cNvSpPr/>
          <p:nvPr/>
        </p:nvSpPr>
        <p:spPr>
          <a:xfrm>
            <a:off x="411480" y="1783080"/>
            <a:ext cx="2532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Contracts (Pact)</a:t>
            </a:r>
            <a:endParaRPr lang="en-US" sz="8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938528"/>
            <a:ext cx="91440" cy="914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9496" y="192024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(consumer) defines expected BFF REST API shape. BFF runs provider verification. Also: external REST clients ↔ Public API. No real backend needed — tests run against mock provider.</a:t>
            </a:r>
            <a:endParaRPr lang="en-US" sz="650" dirty="0"/>
          </a:p>
        </p:txBody>
      </p:sp>
      <p:sp>
        <p:nvSpPr>
          <p:cNvPr id="32" name="Text 25"/>
          <p:cNvSpPr/>
          <p:nvPr/>
        </p:nvSpPr>
        <p:spPr>
          <a:xfrm>
            <a:off x="539496" y="2194560"/>
            <a:ext cx="2386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</a:t>
            </a:r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shape, status codes, response types match across boundaries.</a:t>
            </a:r>
            <a:endParaRPr lang="en-US" sz="650" dirty="0"/>
          </a:p>
        </p:txBody>
      </p:sp>
      <p:sp>
        <p:nvSpPr>
          <p:cNvPr id="33" name="Shape 26"/>
          <p:cNvSpPr/>
          <p:nvPr/>
        </p:nvSpPr>
        <p:spPr>
          <a:xfrm>
            <a:off x="3108960" y="1755648"/>
            <a:ext cx="2880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3108960" y="1755648"/>
            <a:ext cx="36576" cy="86868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35" name="Text 28"/>
          <p:cNvSpPr/>
          <p:nvPr/>
        </p:nvSpPr>
        <p:spPr>
          <a:xfrm>
            <a:off x="3200400" y="1783080"/>
            <a:ext cx="2715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E6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Contracts (MongoDB)</a:t>
            </a:r>
            <a:endParaRPr lang="en-US" sz="85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1938528"/>
            <a:ext cx="91440" cy="9144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328416" y="1920240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schema definitions for Mongo documents. CI validates write-side and read-side schemas are compatible. If Public API adds a required field, BFF’s model must handle it. Like Kafka Schema Registry, but for Mongo docs.</a:t>
            </a:r>
            <a:endParaRPr lang="en-US" sz="650" dirty="0"/>
          </a:p>
        </p:txBody>
      </p:sp>
      <p:sp>
        <p:nvSpPr>
          <p:cNvPr id="38" name="Text 30"/>
          <p:cNvSpPr/>
          <p:nvPr/>
        </p:nvSpPr>
        <p:spPr>
          <a:xfrm>
            <a:off x="3328416" y="2194560"/>
            <a:ext cx="2569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</a:t>
            </a:r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 compat. Write shape = Read expectation. No broken reads.</a:t>
            </a:r>
            <a:endParaRPr lang="en-US" sz="650" dirty="0"/>
          </a:p>
        </p:txBody>
      </p:sp>
      <p:sp>
        <p:nvSpPr>
          <p:cNvPr id="39" name="Shape 31"/>
          <p:cNvSpPr/>
          <p:nvPr/>
        </p:nvSpPr>
        <p:spPr>
          <a:xfrm>
            <a:off x="6080760" y="1755648"/>
            <a:ext cx="2606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080760" y="1755648"/>
            <a:ext cx="36576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3"/>
          <p:cNvSpPr/>
          <p:nvPr/>
        </p:nvSpPr>
        <p:spPr>
          <a:xfrm>
            <a:off x="6172200" y="1783080"/>
            <a:ext cx="2441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Contracts</a:t>
            </a:r>
            <a:endParaRPr lang="en-US" sz="85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1938528"/>
            <a:ext cx="91440" cy="9144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300216" y="1920240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is notified via Change Stream or Kafka when data changes. The notification payload schema is validated — Pact message contracts or JSON Schema validation in CI.</a:t>
            </a:r>
            <a:endParaRPr lang="en-US" sz="650" dirty="0"/>
          </a:p>
        </p:txBody>
      </p:sp>
      <p:sp>
        <p:nvSpPr>
          <p:cNvPr id="44" name="Text 35"/>
          <p:cNvSpPr/>
          <p:nvPr/>
        </p:nvSpPr>
        <p:spPr>
          <a:xfrm>
            <a:off x="6300216" y="2194560"/>
            <a:ext cx="2295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</a:t>
            </a:r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shape matches what BFF expects to consume.</a:t>
            </a:r>
            <a:endParaRPr lang="en-US" sz="650" dirty="0"/>
          </a:p>
        </p:txBody>
      </p:sp>
      <p:sp>
        <p:nvSpPr>
          <p:cNvPr id="45" name="Shape 36"/>
          <p:cNvSpPr/>
          <p:nvPr/>
        </p:nvSpPr>
        <p:spPr>
          <a:xfrm>
            <a:off x="320040" y="2688336"/>
            <a:ext cx="8503920" cy="182880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46" name="Text 37"/>
          <p:cNvSpPr/>
          <p:nvPr/>
        </p:nvSpPr>
        <p:spPr>
          <a:xfrm>
            <a:off x="411480" y="268833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Integration — Real infra, incl. notification path</a:t>
            </a:r>
            <a:endParaRPr lang="en-US" sz="850" dirty="0"/>
          </a:p>
        </p:txBody>
      </p:sp>
      <p:sp>
        <p:nvSpPr>
          <p:cNvPr id="47" name="Text 38"/>
          <p:cNvSpPr/>
          <p:nvPr/>
        </p:nvSpPr>
        <p:spPr>
          <a:xfrm>
            <a:off x="5029200" y="26883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  |  Post-CD  |  ADO + Tekton  |  TEST, UAT</a:t>
            </a:r>
            <a:endParaRPr lang="en-US" sz="650" dirty="0"/>
          </a:p>
        </p:txBody>
      </p:sp>
      <p:sp>
        <p:nvSpPr>
          <p:cNvPr id="48" name="Shape 39"/>
          <p:cNvSpPr/>
          <p:nvPr/>
        </p:nvSpPr>
        <p:spPr>
          <a:xfrm>
            <a:off x="320040" y="2907792"/>
            <a:ext cx="41605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320040" y="2907792"/>
            <a:ext cx="36576" cy="566928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50" name="Text 41"/>
          <p:cNvSpPr/>
          <p:nvPr/>
        </p:nvSpPr>
        <p:spPr>
          <a:xfrm>
            <a:off x="411480" y="2935224"/>
            <a:ext cx="3995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A — Write Path</a:t>
            </a:r>
            <a:endParaRPr lang="en-US" sz="850" dirty="0"/>
          </a:p>
        </p:txBody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3090672"/>
            <a:ext cx="91440" cy="91440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539496" y="3072384"/>
            <a:ext cx="3849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REST → Public API → real MongoDB. Real Kafka → Integration API → same real MongoDB. Testing the actual write path with real shared DB.</a:t>
            </a:r>
            <a:endParaRPr lang="en-US" sz="650" dirty="0"/>
          </a:p>
        </p:txBody>
      </p:sp>
      <p:sp>
        <p:nvSpPr>
          <p:cNvPr id="53" name="Text 43"/>
          <p:cNvSpPr/>
          <p:nvPr/>
        </p:nvSpPr>
        <p:spPr>
          <a:xfrm>
            <a:off x="539496" y="3346704"/>
            <a:ext cx="3849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</a:t>
            </a:r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schema, transformations, concurrent writes, error handling.</a:t>
            </a:r>
            <a:endParaRPr lang="en-US" sz="650" dirty="0"/>
          </a:p>
        </p:txBody>
      </p:sp>
      <p:sp>
        <p:nvSpPr>
          <p:cNvPr id="54" name="Shape 44"/>
          <p:cNvSpPr/>
          <p:nvPr/>
        </p:nvSpPr>
        <p:spPr>
          <a:xfrm>
            <a:off x="4626864" y="2907792"/>
            <a:ext cx="41605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5" name="Shape 45"/>
          <p:cNvSpPr/>
          <p:nvPr/>
        </p:nvSpPr>
        <p:spPr>
          <a:xfrm>
            <a:off x="4626864" y="2907792"/>
            <a:ext cx="36576" cy="566928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56" name="Text 46"/>
          <p:cNvSpPr/>
          <p:nvPr/>
        </p:nvSpPr>
        <p:spPr>
          <a:xfrm>
            <a:off x="4718304" y="2935224"/>
            <a:ext cx="3995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5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B — Read + Notification Path</a:t>
            </a:r>
            <a:endParaRPr lang="en-US" sz="850" dirty="0"/>
          </a:p>
        </p:txBody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8304" y="3090672"/>
            <a:ext cx="91440" cy="91440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4846320" y="3072384"/>
            <a:ext cx="3849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written by App A triggers notification to BFF (Change Stream / Kafka). BFF reads real Mongo, Angular renders. Full: write → notify → read → display.</a:t>
            </a:r>
            <a:endParaRPr lang="en-US" sz="650" dirty="0"/>
          </a:p>
        </p:txBody>
      </p:sp>
      <p:sp>
        <p:nvSpPr>
          <p:cNvPr id="59" name="Text 48"/>
          <p:cNvSpPr/>
          <p:nvPr/>
        </p:nvSpPr>
        <p:spPr>
          <a:xfrm>
            <a:off x="4846320" y="3346704"/>
            <a:ext cx="3849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</a:t>
            </a:r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receives notification, reads correct data, Angular displays it.</a:t>
            </a:r>
            <a:endParaRPr lang="en-US" sz="650" dirty="0"/>
          </a:p>
        </p:txBody>
      </p:sp>
      <p:sp>
        <p:nvSpPr>
          <p:cNvPr id="60" name="Shape 49"/>
          <p:cNvSpPr/>
          <p:nvPr/>
        </p:nvSpPr>
        <p:spPr>
          <a:xfrm>
            <a:off x="320040" y="3529584"/>
            <a:ext cx="8503920" cy="182880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61" name="Text 50"/>
          <p:cNvSpPr/>
          <p:nvPr/>
        </p:nvSpPr>
        <p:spPr>
          <a:xfrm>
            <a:off x="411480" y="352958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Tests — Full E2E across all apps</a:t>
            </a:r>
            <a:endParaRPr lang="en-US" sz="850" dirty="0"/>
          </a:p>
        </p:txBody>
      </p:sp>
      <p:sp>
        <p:nvSpPr>
          <p:cNvPr id="62" name="Text 51"/>
          <p:cNvSpPr/>
          <p:nvPr/>
        </p:nvSpPr>
        <p:spPr>
          <a:xfrm>
            <a:off x="5029200" y="35295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  |  Post-CD  |  TEST, UAT only</a:t>
            </a:r>
            <a:endParaRPr lang="en-US" sz="650" dirty="0"/>
          </a:p>
        </p:txBody>
      </p:sp>
      <p:sp>
        <p:nvSpPr>
          <p:cNvPr id="63" name="Shape 52"/>
          <p:cNvSpPr/>
          <p:nvPr/>
        </p:nvSpPr>
        <p:spPr>
          <a:xfrm>
            <a:off x="320040" y="3749040"/>
            <a:ext cx="85039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4" name="Shape 53"/>
          <p:cNvSpPr/>
          <p:nvPr/>
        </p:nvSpPr>
        <p:spPr>
          <a:xfrm>
            <a:off x="320040" y="3749040"/>
            <a:ext cx="36576" cy="384048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65" name="Text 54"/>
          <p:cNvSpPr/>
          <p:nvPr/>
        </p:nvSpPr>
        <p:spPr>
          <a:xfrm>
            <a:off x="438912" y="376732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60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/ Kafka → Public API + Integration API → MongoDB → notification → BFF API → Angular</a:t>
            </a:r>
            <a:endParaRPr lang="en-US" sz="800" dirty="0"/>
          </a:p>
        </p:txBody>
      </p:sp>
      <p:sp>
        <p:nvSpPr>
          <p:cNvPr id="66" name="Text 55"/>
          <p:cNvSpPr/>
          <p:nvPr/>
        </p:nvSpPr>
        <p:spPr>
          <a:xfrm>
            <a:off x="438912" y="39136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real including the notification path. Data flows from ingestion through Mongo, triggers BFF notification, renders in Angular. Verify cross-app consistency and full user journeys.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Smoke Tests?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automated go / no-go gate that runs post-deployment to verify a release is healthy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68096"/>
            <a:ext cx="8503920" cy="640080"/>
          </a:xfrm>
          <a:prstGeom prst="rect">
            <a:avLst/>
          </a:prstGeom>
          <a:solidFill>
            <a:srgbClr val="002C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595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822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tests answer one question: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1005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"Is this deployment healthy and can it serve traffic?"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15361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Principles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810512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810512"/>
            <a:ext cx="36576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1901952"/>
            <a:ext cx="256032" cy="25603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92024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4400" y="186537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&amp; non-destructive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914400" y="20482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requests only (Tier 1). No data mutations in PROD. Safe for every environment.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800600" y="1810512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00600" y="1810512"/>
            <a:ext cx="36576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Shape 14"/>
          <p:cNvSpPr/>
          <p:nvPr/>
        </p:nvSpPr>
        <p:spPr>
          <a:xfrm>
            <a:off x="4910328" y="1901952"/>
            <a:ext cx="256032" cy="25603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1920240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57800" y="186537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— under 2 minutes total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257800" y="20482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checks, version match, critical API shape. Not a full regression suite.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457200" y="2404872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2404872"/>
            <a:ext cx="36576" cy="50292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24" name="Shape 19"/>
          <p:cNvSpPr/>
          <p:nvPr/>
        </p:nvSpPr>
        <p:spPr>
          <a:xfrm>
            <a:off x="566928" y="2496312"/>
            <a:ext cx="256032" cy="256032"/>
          </a:xfrm>
          <a:prstGeom prst="rect">
            <a:avLst/>
          </a:prstGeom>
          <a:solidFill>
            <a:srgbClr val="8E654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2514600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4400" y="24597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&amp; blocking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914400" y="26426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→ Tekton post-deploy. Failure = automatic rollback. No human in the loop.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4800600" y="2404872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800600" y="2404872"/>
            <a:ext cx="36576" cy="502920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30" name="Shape 24"/>
          <p:cNvSpPr/>
          <p:nvPr/>
        </p:nvSpPr>
        <p:spPr>
          <a:xfrm>
            <a:off x="4910328" y="2496312"/>
            <a:ext cx="256032" cy="256032"/>
          </a:xfrm>
          <a:prstGeom prst="rect">
            <a:avLst/>
          </a:prstGeom>
          <a:solidFill>
            <a:srgbClr val="33566F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2514600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257800" y="24597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signal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5257800" y="26426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suite (Tier 1) identical across TEST, UAT, PROD. "CD passed" means the same everywhere.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457200" y="30906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Tiers — Differentiated by Environment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320040" y="3383280"/>
            <a:ext cx="2706624" cy="16093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20040" y="3383280"/>
            <a:ext cx="2706624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0"/>
          <p:cNvSpPr/>
          <p:nvPr/>
        </p:nvSpPr>
        <p:spPr>
          <a:xfrm>
            <a:off x="429768" y="34747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886968" y="34747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429768" y="3694176"/>
            <a:ext cx="2487168" cy="164592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40" name="Text 33"/>
          <p:cNvSpPr/>
          <p:nvPr/>
        </p:nvSpPr>
        <p:spPr>
          <a:xfrm>
            <a:off x="429768" y="3694176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environments (incl. PROD)</a:t>
            </a:r>
            <a:endParaRPr lang="en-US" sz="750" dirty="0"/>
          </a:p>
        </p:txBody>
      </p:sp>
      <p:sp>
        <p:nvSpPr>
          <p:cNvPr id="41" name="Text 34"/>
          <p:cNvSpPr/>
          <p:nvPr/>
        </p:nvSpPr>
        <p:spPr>
          <a:xfrm>
            <a:off x="429768" y="391363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/health → 200, GET /version → matches Helm chart, GET /api/resource → expected structure, Kafka consumer connected</a:t>
            </a:r>
            <a:endParaRPr lang="en-US" sz="700" dirty="0"/>
          </a:p>
        </p:txBody>
      </p:sp>
      <p:sp>
        <p:nvSpPr>
          <p:cNvPr id="42" name="Shape 35"/>
          <p:cNvSpPr/>
          <p:nvPr/>
        </p:nvSpPr>
        <p:spPr>
          <a:xfrm>
            <a:off x="429768" y="4736592"/>
            <a:ext cx="2487168" cy="182880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43" name="Text 36"/>
          <p:cNvSpPr/>
          <p:nvPr/>
        </p:nvSpPr>
        <p:spPr>
          <a:xfrm>
            <a:off x="429768" y="4736592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tests  |  &lt; 30 seconds</a:t>
            </a:r>
            <a:endParaRPr lang="en-US" sz="700" dirty="0"/>
          </a:p>
        </p:txBody>
      </p:sp>
      <p:sp>
        <p:nvSpPr>
          <p:cNvPr id="44" name="Shape 37"/>
          <p:cNvSpPr/>
          <p:nvPr/>
        </p:nvSpPr>
        <p:spPr>
          <a:xfrm>
            <a:off x="3172968" y="3383280"/>
            <a:ext cx="2706624" cy="16093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3172968" y="3383280"/>
            <a:ext cx="2706624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39"/>
          <p:cNvSpPr/>
          <p:nvPr/>
        </p:nvSpPr>
        <p:spPr>
          <a:xfrm>
            <a:off x="3282696" y="34747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950" dirty="0"/>
          </a:p>
        </p:txBody>
      </p:sp>
      <p:sp>
        <p:nvSpPr>
          <p:cNvPr id="47" name="Text 40"/>
          <p:cNvSpPr/>
          <p:nvPr/>
        </p:nvSpPr>
        <p:spPr>
          <a:xfrm>
            <a:off x="3739896" y="34747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Verification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3282696" y="3694176"/>
            <a:ext cx="2487168" cy="164592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49" name="Text 42"/>
          <p:cNvSpPr/>
          <p:nvPr/>
        </p:nvSpPr>
        <p:spPr>
          <a:xfrm>
            <a:off x="3282696" y="3694176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+ UAT only</a:t>
            </a:r>
            <a:endParaRPr lang="en-US" sz="750" dirty="0"/>
          </a:p>
        </p:txBody>
      </p:sp>
      <p:sp>
        <p:nvSpPr>
          <p:cNvPr id="50" name="Text 43"/>
          <p:cNvSpPr/>
          <p:nvPr/>
        </p:nvSpPr>
        <p:spPr>
          <a:xfrm>
            <a:off x="3282696" y="391363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test entity (_test marker) → verify in DB via GET → cleanup. One write-read-cleanup per major endpoint. Must be idempotent.</a:t>
            </a:r>
            <a:endParaRPr lang="en-US" sz="700" dirty="0"/>
          </a:p>
        </p:txBody>
      </p:sp>
      <p:sp>
        <p:nvSpPr>
          <p:cNvPr id="51" name="Shape 44"/>
          <p:cNvSpPr/>
          <p:nvPr/>
        </p:nvSpPr>
        <p:spPr>
          <a:xfrm>
            <a:off x="3282696" y="4736592"/>
            <a:ext cx="2487168" cy="182880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52" name="Text 45"/>
          <p:cNvSpPr/>
          <p:nvPr/>
        </p:nvSpPr>
        <p:spPr>
          <a:xfrm>
            <a:off x="3282696" y="4736592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tests  |  &lt; 90 seconds</a:t>
            </a:r>
            <a:endParaRPr lang="en-US" sz="700" dirty="0"/>
          </a:p>
        </p:txBody>
      </p:sp>
      <p:sp>
        <p:nvSpPr>
          <p:cNvPr id="53" name="Shape 46"/>
          <p:cNvSpPr/>
          <p:nvPr/>
        </p:nvSpPr>
        <p:spPr>
          <a:xfrm>
            <a:off x="6025896" y="3383280"/>
            <a:ext cx="2706624" cy="16093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4" name="Shape 47"/>
          <p:cNvSpPr/>
          <p:nvPr/>
        </p:nvSpPr>
        <p:spPr>
          <a:xfrm>
            <a:off x="6025896" y="3383280"/>
            <a:ext cx="2706624" cy="36576"/>
          </a:xfrm>
          <a:prstGeom prst="rect">
            <a:avLst/>
          </a:prstGeom>
          <a:solidFill>
            <a:srgbClr val="5A8BA5"/>
          </a:solidFill>
          <a:ln/>
        </p:spPr>
      </p:sp>
      <p:sp>
        <p:nvSpPr>
          <p:cNvPr id="55" name="Text 48"/>
          <p:cNvSpPr/>
          <p:nvPr/>
        </p:nvSpPr>
        <p:spPr>
          <a:xfrm>
            <a:off x="6135624" y="34747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8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950" dirty="0"/>
          </a:p>
        </p:txBody>
      </p:sp>
      <p:sp>
        <p:nvSpPr>
          <p:cNvPr id="56" name="Text 49"/>
          <p:cNvSpPr/>
          <p:nvPr/>
        </p:nvSpPr>
        <p:spPr>
          <a:xfrm>
            <a:off x="6592824" y="34747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 Verification</a:t>
            </a:r>
            <a:endParaRPr lang="en-US" sz="950" dirty="0"/>
          </a:p>
        </p:txBody>
      </p:sp>
      <p:sp>
        <p:nvSpPr>
          <p:cNvPr id="57" name="Shape 50"/>
          <p:cNvSpPr/>
          <p:nvPr/>
        </p:nvSpPr>
        <p:spPr>
          <a:xfrm>
            <a:off x="6135624" y="3694176"/>
            <a:ext cx="2487168" cy="164592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58" name="Text 51"/>
          <p:cNvSpPr/>
          <p:nvPr/>
        </p:nvSpPr>
        <p:spPr>
          <a:xfrm>
            <a:off x="6135624" y="3694176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8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only</a:t>
            </a:r>
            <a:endParaRPr lang="en-US" sz="750" dirty="0"/>
          </a:p>
        </p:txBody>
      </p:sp>
      <p:sp>
        <p:nvSpPr>
          <p:cNvPr id="59" name="Text 52"/>
          <p:cNvSpPr/>
          <p:nvPr/>
        </p:nvSpPr>
        <p:spPr>
          <a:xfrm>
            <a:off x="6135624" y="391363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Kafka event → Integration API consumes → writes Mongo → BFF notified → verify via BFF GET. Full notification chain.</a:t>
            </a:r>
            <a:endParaRPr lang="en-US" sz="700" dirty="0"/>
          </a:p>
        </p:txBody>
      </p:sp>
      <p:sp>
        <p:nvSpPr>
          <p:cNvPr id="60" name="Shape 53"/>
          <p:cNvSpPr/>
          <p:nvPr/>
        </p:nvSpPr>
        <p:spPr>
          <a:xfrm>
            <a:off x="6135624" y="4736592"/>
            <a:ext cx="2487168" cy="182880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61" name="Text 54"/>
          <p:cNvSpPr/>
          <p:nvPr/>
        </p:nvSpPr>
        <p:spPr>
          <a:xfrm>
            <a:off x="6135624" y="4736592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tests  |  &lt; 2 minutes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Architecture, Test Examples &amp; Smoke Tests</dc:title>
  <dc:subject>PptxGenJS Presentation</dc:subject>
  <dc:creator>Quality Engineering</dc:creator>
  <cp:lastModifiedBy>Quality Engineering</cp:lastModifiedBy>
  <cp:revision>1</cp:revision>
  <dcterms:created xsi:type="dcterms:W3CDTF">2026-03-10T17:19:47Z</dcterms:created>
  <dcterms:modified xsi:type="dcterms:W3CDTF">2026-03-10T17:19:47Z</dcterms:modified>
</cp:coreProperties>
</file>