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Maturity — Four Axes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× Performance × Observability × Production Behaviour — Level 1 is the minimum viable baseline, not the absence of practice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1371600" cy="43891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00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↓ / Level →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640080"/>
            <a:ext cx="1371600" cy="43891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established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640080"/>
            <a:ext cx="13716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&amp; repeatable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640080"/>
            <a:ext cx="1371600" cy="43891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&amp; governed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89320" y="640080"/>
            <a:ext cx="1371600" cy="43891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406640" y="640080"/>
            <a:ext cx="1371600" cy="43891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&amp; self-healing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1115568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1115568"/>
            <a:ext cx="73152" cy="85953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" y="1225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" y="14996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types, automation, management, pipelines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737360" y="1115568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7360" y="1115568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32" name="Text 30"/>
          <p:cNvSpPr/>
          <p:nvPr/>
        </p:nvSpPr>
        <p:spPr>
          <a:xfrm>
            <a:off x="181051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exist for core logic. CI pipeline runs them on every PR. Static analysis runs on commit. Test cases tracked (even informally).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54680" y="1115568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34" name="Shape 32"/>
          <p:cNvSpPr/>
          <p:nvPr/>
        </p:nvSpPr>
        <p:spPr>
          <a:xfrm>
            <a:off x="3154680" y="1115568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322783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+ component tests in CI; coverage measured. Static analysis blocks merge. Test cases catalogued in qTest.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0" y="1115568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1115568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(Pact + Schema). Integration &amp; system tests in CT. Req → Test → Defect traceability in qTest.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989320" y="1115568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1115568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41" name="Text 39"/>
          <p:cNvSpPr/>
          <p:nvPr/>
        </p:nvSpPr>
        <p:spPr>
          <a:xfrm>
            <a:off x="606247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CI/CD/CT discipline. Test results auto-sync to qTest. Release readiness scored from coverage + pass rate.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406640" y="1115568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43" name="Shape 41"/>
          <p:cNvSpPr/>
          <p:nvPr/>
        </p:nvSpPr>
        <p:spPr>
          <a:xfrm>
            <a:off x="7406640" y="1115568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44" name="Text 42"/>
          <p:cNvSpPr/>
          <p:nvPr/>
        </p:nvSpPr>
        <p:spPr>
          <a:xfrm>
            <a:off x="747979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test selection. Risk-based test prioritisation driven by code change + production signals.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20040" y="2020824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2020824"/>
            <a:ext cx="73152" cy="85953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8056" y="2404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Load, stress, resilience, security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37360" y="2020824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50" name="Shape 48"/>
          <p:cNvSpPr/>
          <p:nvPr/>
        </p:nvSpPr>
        <p:spPr>
          <a:xfrm>
            <a:off x="1737360" y="2020824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51" name="Text 49"/>
          <p:cNvSpPr/>
          <p:nvPr/>
        </p:nvSpPr>
        <p:spPr>
          <a:xfrm>
            <a:off x="181051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scan runs on every PR. Dependency vulnerability scan runs weekly. Known critical CVEs tracked in a backlog.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154680" y="2020824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53" name="Shape 51"/>
          <p:cNvSpPr/>
          <p:nvPr/>
        </p:nvSpPr>
        <p:spPr>
          <a:xfrm>
            <a:off x="3154680" y="2020824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4" name="Text 52"/>
          <p:cNvSpPr/>
          <p:nvPr/>
        </p:nvSpPr>
        <p:spPr>
          <a:xfrm>
            <a:off x="322783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smoke on key endpoints. Dependency vuln scan blocks critical CVEs in CI. DAST scheduled in TEST.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72000" y="2020824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56" name="Shape 54"/>
          <p:cNvSpPr/>
          <p:nvPr/>
        </p:nvSpPr>
        <p:spPr>
          <a:xfrm>
            <a:off x="4572000" y="2020824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7" name="Text 55"/>
          <p:cNvSpPr/>
          <p:nvPr/>
        </p:nvSpPr>
        <p:spPr>
          <a:xfrm>
            <a:off x="464515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load tests in TEST. Performance baselines documented. Pen test before major releases.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89320" y="2020824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59" name="Shape 57"/>
          <p:cNvSpPr/>
          <p:nvPr/>
        </p:nvSpPr>
        <p:spPr>
          <a:xfrm>
            <a:off x="5989320" y="2020824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60" name="Text 58"/>
          <p:cNvSpPr/>
          <p:nvPr/>
        </p:nvSpPr>
        <p:spPr>
          <a:xfrm>
            <a:off x="606247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regression gates in CT. Continuous DAST + secret scanning. Threat modelling per feature.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406640" y="2020824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62" name="Shape 60"/>
          <p:cNvSpPr/>
          <p:nvPr/>
        </p:nvSpPr>
        <p:spPr>
          <a:xfrm>
            <a:off x="7406640" y="2020824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63" name="Text 61"/>
          <p:cNvSpPr/>
          <p:nvPr/>
        </p:nvSpPr>
        <p:spPr>
          <a:xfrm>
            <a:off x="747979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+ fault injection in TEST. Resilience scoring. Runtime self-protection (RASP).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0040" y="2926080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320040" y="2926080"/>
            <a:ext cx="73152" cy="85953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66" name="Text 64"/>
          <p:cNvSpPr/>
          <p:nvPr/>
        </p:nvSpPr>
        <p:spPr>
          <a:xfrm>
            <a:off x="448056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48056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traces, alerts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737360" y="2926080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69" name="Shape 67"/>
          <p:cNvSpPr/>
          <p:nvPr/>
        </p:nvSpPr>
        <p:spPr>
          <a:xfrm>
            <a:off x="1737360" y="2926080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70" name="Text 68"/>
          <p:cNvSpPr/>
          <p:nvPr/>
        </p:nvSpPr>
        <p:spPr>
          <a:xfrm>
            <a:off x="181051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emit structured logs (JSON). Health check endpoint per service. Logs accessible (even via kubectl).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154680" y="2926080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72" name="Shape 70"/>
          <p:cNvSpPr/>
          <p:nvPr/>
        </p:nvSpPr>
        <p:spPr>
          <a:xfrm>
            <a:off x="3154680" y="2926080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3" name="Text 71"/>
          <p:cNvSpPr/>
          <p:nvPr/>
        </p:nvSpPr>
        <p:spPr>
          <a:xfrm>
            <a:off x="322783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log aggregation. Per-service metric dashboards. Error rate alerts.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572000" y="2926080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0" y="2926080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76" name="Text 74"/>
          <p:cNvSpPr/>
          <p:nvPr/>
        </p:nvSpPr>
        <p:spPr>
          <a:xfrm>
            <a:off x="464515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across services. SLO dashboards with error budgets. Synthetic monitoring of critical journeys.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989320" y="2926080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78" name="Shape 76"/>
          <p:cNvSpPr/>
          <p:nvPr/>
        </p:nvSpPr>
        <p:spPr>
          <a:xfrm>
            <a:off x="5989320" y="2926080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79" name="Text 77"/>
          <p:cNvSpPr/>
          <p:nvPr/>
        </p:nvSpPr>
        <p:spPr>
          <a:xfrm>
            <a:off x="606247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on key metrics. Alerts tied to user-facing SLOs. Production telemetry informs test gaps.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406640" y="2926080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81" name="Shape 79"/>
          <p:cNvSpPr/>
          <p:nvPr/>
        </p:nvSpPr>
        <p:spPr>
          <a:xfrm>
            <a:off x="7406640" y="2926080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82" name="Text 80"/>
          <p:cNvSpPr/>
          <p:nvPr/>
        </p:nvSpPr>
        <p:spPr>
          <a:xfrm>
            <a:off x="747979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 debug telemetry (eBPF). Canary analysis with auto-rollback. Self-healing on detected anomalies.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20040" y="3831336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320040" y="3831336"/>
            <a:ext cx="73152" cy="85953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5" name="Text 83"/>
          <p:cNvSpPr/>
          <p:nvPr/>
        </p:nvSpPr>
        <p:spPr>
          <a:xfrm>
            <a:off x="448056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Behaviour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448056" y="42153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outcomes — incidents, recovery, user impact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737360" y="3831336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88" name="Shape 86"/>
          <p:cNvSpPr/>
          <p:nvPr/>
        </p:nvSpPr>
        <p:spPr>
          <a:xfrm>
            <a:off x="1737360" y="3831336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89" name="Text 87"/>
          <p:cNvSpPr/>
          <p:nvPr/>
        </p:nvSpPr>
        <p:spPr>
          <a:xfrm>
            <a:off x="181051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logged consistently (ticket per incident). Severity classified (P1/P2/P3). Post-incident review held for P1s.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154680" y="3831336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91" name="Shape 89"/>
          <p:cNvSpPr/>
          <p:nvPr/>
        </p:nvSpPr>
        <p:spPr>
          <a:xfrm>
            <a:off x="3154680" y="3831336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2" name="Text 90"/>
          <p:cNvSpPr/>
          <p:nvPr/>
        </p:nvSpPr>
        <p:spPr>
          <a:xfrm>
            <a:off x="322783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tracked in ServiceNow. Manual MTTR &amp; change failure rate per quarter. Hotfixes logged.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572000" y="3831336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94" name="Shape 92"/>
          <p:cNvSpPr/>
          <p:nvPr/>
        </p:nvSpPr>
        <p:spPr>
          <a:xfrm>
            <a:off x="4572000" y="3831336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5" name="Text 93"/>
          <p:cNvSpPr/>
          <p:nvPr/>
        </p:nvSpPr>
        <p:spPr>
          <a:xfrm>
            <a:off x="464515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 measured monthly. Defect escape rate &lt; 25%. MTTR &lt; 4h. Change failure rate &lt; 30%.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989320" y="3831336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97" name="Shape 95"/>
          <p:cNvSpPr/>
          <p:nvPr/>
        </p:nvSpPr>
        <p:spPr>
          <a:xfrm>
            <a:off x="5989320" y="3831336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98" name="Text 96"/>
          <p:cNvSpPr/>
          <p:nvPr/>
        </p:nvSpPr>
        <p:spPr>
          <a:xfrm>
            <a:off x="606247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 live in dashboard. DER &lt; 10%. MTTR &lt; 1h. CFR &lt; 15%. SLO error budget tracked weekly.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406640" y="3831336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00" name="Shape 98"/>
          <p:cNvSpPr/>
          <p:nvPr/>
        </p:nvSpPr>
        <p:spPr>
          <a:xfrm>
            <a:off x="7406640" y="3831336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1" name="Text 99"/>
          <p:cNvSpPr/>
          <p:nvPr/>
        </p:nvSpPr>
        <p:spPr>
          <a:xfrm>
            <a:off x="747979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&lt; 5%. MTTR &lt; 15min. CFR &lt; 5%. Predictive incident detection. Auto-rollback on SLO breach.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0040" y="4773168"/>
            <a:ext cx="54864" cy="29260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457200" y="47914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— </a:t>
            </a:r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describes the 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baseline </a:t>
            </a:r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what must be in place to move from chaos to a measurable starting point. Teams with none of these in place are at </a:t>
            </a:r>
            <a:pPr indent="0" marL="0">
              <a:buNone/>
            </a:pPr>
            <a:r>
              <a:rPr lang="en-US" sz="7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 (below the floor)</a:t>
            </a:r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their first investments should target the L1 baseline. Each subsequent level builds on the previous.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Maturity Matrix — Four Axes</dc:title>
  <dc:subject>PptxGenJS Presentation</dc:subject>
  <dc:creator>Quality Engineering</dc:creator>
  <cp:lastModifiedBy>Quality Engineering</cp:lastModifiedBy>
  <cp:revision>1</cp:revision>
  <dcterms:created xsi:type="dcterms:W3CDTF">2026-06-19T15:23:22Z</dcterms:created>
  <dcterms:modified xsi:type="dcterms:W3CDTF">2026-06-19T15:23:22Z</dcterms:modified>
</cp:coreProperties>
</file>