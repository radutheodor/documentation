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Test Factory?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testing to a governed, industrialised quality platform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45720" cy="105156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" y="932688"/>
            <a:ext cx="310896" cy="310896"/>
          </a:xfrm>
          <a:prstGeom prst="rect">
            <a:avLst/>
          </a:prstGeom>
          <a:solidFill>
            <a:srgbClr val="96002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96012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896112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Tosca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7552" y="1115568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Tosca-based test suites alone are not sufficient to cover the full testing spectrum — from unit and component tests to contract, integration, and infrastructure-level verification. A broader, multi-layered strategy is needed.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773168" y="8229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3168" y="822960"/>
            <a:ext cx="45720" cy="105156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3" name="Shape 10"/>
          <p:cNvSpPr/>
          <p:nvPr/>
        </p:nvSpPr>
        <p:spPr>
          <a:xfrm>
            <a:off x="4901184" y="932688"/>
            <a:ext cx="310896" cy="310896"/>
          </a:xfrm>
          <a:prstGeom prst="rect">
            <a:avLst/>
          </a:prstGeom>
          <a:solidFill>
            <a:srgbClr val="002C4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96012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896112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Shift Left &amp; Shift Right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0" y="1115568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defects earlier (shift left: unit, component, contract tests in CI) and validate in production (shift right: synthetic monitoring, canary analysis, observability). Testing is no longer a phase — it’s continuous.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57200" y="2002536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002536"/>
            <a:ext cx="45720" cy="105156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9" name="Shape 15"/>
          <p:cNvSpPr/>
          <p:nvPr/>
        </p:nvSpPr>
        <p:spPr>
          <a:xfrm>
            <a:off x="585216" y="2112264"/>
            <a:ext cx="310896" cy="310896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13969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7552" y="207568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What, Where, When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87552" y="2295144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which tests run with which tools and frameworks, in which pipeline (CI, CD, CT), triggered by what event (commit, deploy, schedule), and in which environment (DEV, TEST, UAT, PROD) — with clear safety boundaries.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4773168" y="2002536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73168" y="2002536"/>
            <a:ext cx="45720" cy="105156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25" name="Shape 20"/>
          <p:cNvSpPr/>
          <p:nvPr/>
        </p:nvSpPr>
        <p:spPr>
          <a:xfrm>
            <a:off x="4901184" y="2112264"/>
            <a:ext cx="310896" cy="310896"/>
          </a:xfrm>
          <a:prstGeom prst="rect">
            <a:avLst/>
          </a:prstGeom>
          <a:solidFill>
            <a:srgbClr val="8E654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13969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07568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Standardise &amp; Industrialise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03520" y="2295144"/>
            <a:ext cx="3456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shared QA libraries, reusable test templates, common reporting (Allure), and governed frameworks across all product teams. Stop reinventing the wheel — build once, reuse everywhere.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457200" y="3291840"/>
            <a:ext cx="8430768" cy="237744"/>
          </a:xfrm>
          <a:prstGeom prst="rect">
            <a:avLst/>
          </a:prstGeom>
          <a:solidFill>
            <a:srgbClr val="002C4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9272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4672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Key Results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57200" y="3584448"/>
            <a:ext cx="1609344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57200" y="3584448"/>
            <a:ext cx="1609344" cy="36576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34" name="Shape 27"/>
          <p:cNvSpPr/>
          <p:nvPr/>
        </p:nvSpPr>
        <p:spPr>
          <a:xfrm>
            <a:off x="530352" y="3694176"/>
            <a:ext cx="201168" cy="164592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35" name="Text 28"/>
          <p:cNvSpPr/>
          <p:nvPr/>
        </p:nvSpPr>
        <p:spPr>
          <a:xfrm>
            <a:off x="530352" y="36941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86384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time-to-production for hotfixes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530352" y="4059936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38" name="Text 31"/>
          <p:cNvSpPr/>
          <p:nvPr/>
        </p:nvSpPr>
        <p:spPr>
          <a:xfrm>
            <a:off x="530352" y="405993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786384" y="40416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 deployed to PROD within 4 hours of code fix (currently 2–3 days)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530352" y="4407408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1" name="Text 34"/>
          <p:cNvSpPr/>
          <p:nvPr/>
        </p:nvSpPr>
        <p:spPr>
          <a:xfrm>
            <a:off x="530352" y="440740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786384" y="4389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smoke tests pass rate ≥ 98% across all environments</a:t>
            </a:r>
            <a:endParaRPr lang="en-US" sz="700" dirty="0"/>
          </a:p>
        </p:txBody>
      </p:sp>
      <p:sp>
        <p:nvSpPr>
          <p:cNvPr id="43" name="Shape 36"/>
          <p:cNvSpPr/>
          <p:nvPr/>
        </p:nvSpPr>
        <p:spPr>
          <a:xfrm>
            <a:off x="2176272" y="3584448"/>
            <a:ext cx="1609344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2176272" y="3584448"/>
            <a:ext cx="1609344" cy="3657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45" name="Shape 38"/>
          <p:cNvSpPr/>
          <p:nvPr/>
        </p:nvSpPr>
        <p:spPr>
          <a:xfrm>
            <a:off x="2249424" y="3694176"/>
            <a:ext cx="201168" cy="164592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46" name="Text 39"/>
          <p:cNvSpPr/>
          <p:nvPr/>
        </p:nvSpPr>
        <p:spPr>
          <a:xfrm>
            <a:off x="2249424" y="36941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2505456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 comprehensive CI test coverage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2249424" y="4059936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9" name="Text 42"/>
          <p:cNvSpPr/>
          <p:nvPr/>
        </p:nvSpPr>
        <p:spPr>
          <a:xfrm>
            <a:off x="2249424" y="405993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2505456" y="40416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services have component tests in CI with ≥ 60% code coverage</a:t>
            </a:r>
            <a:endParaRPr lang="en-US" sz="700" dirty="0"/>
          </a:p>
        </p:txBody>
      </p:sp>
      <p:sp>
        <p:nvSpPr>
          <p:cNvPr id="51" name="Shape 44"/>
          <p:cNvSpPr/>
          <p:nvPr/>
        </p:nvSpPr>
        <p:spPr>
          <a:xfrm>
            <a:off x="2249424" y="4407408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52" name="Text 45"/>
          <p:cNvSpPr/>
          <p:nvPr/>
        </p:nvSpPr>
        <p:spPr>
          <a:xfrm>
            <a:off x="2249424" y="440740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53" name="Text 46"/>
          <p:cNvSpPr/>
          <p:nvPr/>
        </p:nvSpPr>
        <p:spPr>
          <a:xfrm>
            <a:off x="2505456" y="4389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 (Pact + Schema) implemented for all API boundaries</a:t>
            </a:r>
            <a:endParaRPr lang="en-US" sz="700" dirty="0"/>
          </a:p>
        </p:txBody>
      </p:sp>
      <p:sp>
        <p:nvSpPr>
          <p:cNvPr id="54" name="Shape 47"/>
          <p:cNvSpPr/>
          <p:nvPr/>
        </p:nvSpPr>
        <p:spPr>
          <a:xfrm>
            <a:off x="3895344" y="3584448"/>
            <a:ext cx="1609344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3895344" y="3584448"/>
            <a:ext cx="1609344" cy="3657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56" name="Shape 49"/>
          <p:cNvSpPr/>
          <p:nvPr/>
        </p:nvSpPr>
        <p:spPr>
          <a:xfrm>
            <a:off x="3968496" y="3694176"/>
            <a:ext cx="201168" cy="164592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57" name="Text 50"/>
          <p:cNvSpPr/>
          <p:nvPr/>
        </p:nvSpPr>
        <p:spPr>
          <a:xfrm>
            <a:off x="3968496" y="36941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Text 51"/>
          <p:cNvSpPr/>
          <p:nvPr/>
        </p:nvSpPr>
        <p:spPr>
          <a:xfrm>
            <a:off x="4224528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automated post-deployment validation</a:t>
            </a:r>
            <a:endParaRPr lang="en-US" sz="800" dirty="0"/>
          </a:p>
        </p:txBody>
      </p:sp>
      <p:sp>
        <p:nvSpPr>
          <p:cNvPr id="59" name="Shape 52"/>
          <p:cNvSpPr/>
          <p:nvPr/>
        </p:nvSpPr>
        <p:spPr>
          <a:xfrm>
            <a:off x="3968496" y="4059936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60" name="Text 53"/>
          <p:cNvSpPr/>
          <p:nvPr/>
        </p:nvSpPr>
        <p:spPr>
          <a:xfrm>
            <a:off x="3968496" y="405993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61" name="Text 54"/>
          <p:cNvSpPr/>
          <p:nvPr/>
        </p:nvSpPr>
        <p:spPr>
          <a:xfrm>
            <a:off x="4224528" y="40416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smoke tests automated for all services in all environments incl. PROD</a:t>
            </a:r>
            <a:endParaRPr lang="en-US" sz="700" dirty="0"/>
          </a:p>
        </p:txBody>
      </p:sp>
      <p:sp>
        <p:nvSpPr>
          <p:cNvPr id="62" name="Shape 55"/>
          <p:cNvSpPr/>
          <p:nvPr/>
        </p:nvSpPr>
        <p:spPr>
          <a:xfrm>
            <a:off x="3968496" y="4407408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63" name="Text 56"/>
          <p:cNvSpPr/>
          <p:nvPr/>
        </p:nvSpPr>
        <p:spPr>
          <a:xfrm>
            <a:off x="3968496" y="440740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64" name="Text 57"/>
          <p:cNvSpPr/>
          <p:nvPr/>
        </p:nvSpPr>
        <p:spPr>
          <a:xfrm>
            <a:off x="4224528" y="4389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2/3 smoke tests operational in TEST and UAT within Q2</a:t>
            </a:r>
            <a:endParaRPr lang="en-US" sz="700" dirty="0"/>
          </a:p>
        </p:txBody>
      </p:sp>
      <p:sp>
        <p:nvSpPr>
          <p:cNvPr id="65" name="Shape 58"/>
          <p:cNvSpPr/>
          <p:nvPr/>
        </p:nvSpPr>
        <p:spPr>
          <a:xfrm>
            <a:off x="5614416" y="3584448"/>
            <a:ext cx="1609344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6" name="Shape 59"/>
          <p:cNvSpPr/>
          <p:nvPr/>
        </p:nvSpPr>
        <p:spPr>
          <a:xfrm>
            <a:off x="5614416" y="3584448"/>
            <a:ext cx="1609344" cy="36576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67" name="Shape 60"/>
          <p:cNvSpPr/>
          <p:nvPr/>
        </p:nvSpPr>
        <p:spPr>
          <a:xfrm>
            <a:off x="5687568" y="3694176"/>
            <a:ext cx="201168" cy="164592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68" name="Text 61"/>
          <p:cNvSpPr/>
          <p:nvPr/>
        </p:nvSpPr>
        <p:spPr>
          <a:xfrm>
            <a:off x="5687568" y="36941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69" name="Text 62"/>
          <p:cNvSpPr/>
          <p:nvPr/>
        </p:nvSpPr>
        <p:spPr>
          <a:xfrm>
            <a:off x="5943600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Standardise QA tooling and practices across teams</a:t>
            </a:r>
            <a:endParaRPr lang="en-US" sz="800" dirty="0"/>
          </a:p>
        </p:txBody>
      </p:sp>
      <p:sp>
        <p:nvSpPr>
          <p:cNvPr id="70" name="Shape 63"/>
          <p:cNvSpPr/>
          <p:nvPr/>
        </p:nvSpPr>
        <p:spPr>
          <a:xfrm>
            <a:off x="5687568" y="4059936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71" name="Text 64"/>
          <p:cNvSpPr/>
          <p:nvPr/>
        </p:nvSpPr>
        <p:spPr>
          <a:xfrm>
            <a:off x="5687568" y="405993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72" name="Text 65"/>
          <p:cNvSpPr/>
          <p:nvPr/>
        </p:nvSpPr>
        <p:spPr>
          <a:xfrm>
            <a:off x="5943600" y="40416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test library adopted by all 4 product teams</a:t>
            </a:r>
            <a:endParaRPr lang="en-US" sz="700" dirty="0"/>
          </a:p>
        </p:txBody>
      </p:sp>
      <p:sp>
        <p:nvSpPr>
          <p:cNvPr id="73" name="Shape 66"/>
          <p:cNvSpPr/>
          <p:nvPr/>
        </p:nvSpPr>
        <p:spPr>
          <a:xfrm>
            <a:off x="5687568" y="4407408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74" name="Text 67"/>
          <p:cNvSpPr/>
          <p:nvPr/>
        </p:nvSpPr>
        <p:spPr>
          <a:xfrm>
            <a:off x="5687568" y="440740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75" name="Text 68"/>
          <p:cNvSpPr/>
          <p:nvPr/>
        </p:nvSpPr>
        <p:spPr>
          <a:xfrm>
            <a:off x="5943600" y="4389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Allure reporting integrated into all CI/CD/CT pipelines</a:t>
            </a:r>
            <a:endParaRPr lang="en-US" sz="700" dirty="0"/>
          </a:p>
        </p:txBody>
      </p:sp>
      <p:sp>
        <p:nvSpPr>
          <p:cNvPr id="76" name="Shape 69"/>
          <p:cNvSpPr/>
          <p:nvPr/>
        </p:nvSpPr>
        <p:spPr>
          <a:xfrm>
            <a:off x="5687568" y="4754880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77" name="Text 70"/>
          <p:cNvSpPr/>
          <p:nvPr/>
        </p:nvSpPr>
        <p:spPr>
          <a:xfrm>
            <a:off x="5687568" y="475488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78" name="Text 71"/>
          <p:cNvSpPr/>
          <p:nvPr/>
        </p:nvSpPr>
        <p:spPr>
          <a:xfrm>
            <a:off x="5943600" y="4736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TAG_REGISTRY.yaml governs all test execution with safety guards</a:t>
            </a:r>
            <a:endParaRPr lang="en-US" sz="700" dirty="0"/>
          </a:p>
        </p:txBody>
      </p:sp>
      <p:sp>
        <p:nvSpPr>
          <p:cNvPr id="79" name="Shape 72"/>
          <p:cNvSpPr/>
          <p:nvPr/>
        </p:nvSpPr>
        <p:spPr>
          <a:xfrm>
            <a:off x="7333488" y="3584448"/>
            <a:ext cx="1609344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0" name="Shape 73"/>
          <p:cNvSpPr/>
          <p:nvPr/>
        </p:nvSpPr>
        <p:spPr>
          <a:xfrm>
            <a:off x="7333488" y="3584448"/>
            <a:ext cx="1609344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1" name="Shape 74"/>
          <p:cNvSpPr/>
          <p:nvPr/>
        </p:nvSpPr>
        <p:spPr>
          <a:xfrm>
            <a:off x="7406640" y="3694176"/>
            <a:ext cx="201168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2" name="Text 75"/>
          <p:cNvSpPr/>
          <p:nvPr/>
        </p:nvSpPr>
        <p:spPr>
          <a:xfrm>
            <a:off x="7406640" y="36941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83" name="Text 76"/>
          <p:cNvSpPr/>
          <p:nvPr/>
        </p:nvSpPr>
        <p:spPr>
          <a:xfrm>
            <a:off x="7662672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quality intelligence platform</a:t>
            </a:r>
            <a:endParaRPr lang="en-US" sz="800" dirty="0"/>
          </a:p>
        </p:txBody>
      </p:sp>
      <p:sp>
        <p:nvSpPr>
          <p:cNvPr id="84" name="Shape 77"/>
          <p:cNvSpPr/>
          <p:nvPr/>
        </p:nvSpPr>
        <p:spPr>
          <a:xfrm>
            <a:off x="7406640" y="4059936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85" name="Text 78"/>
          <p:cNvSpPr/>
          <p:nvPr/>
        </p:nvSpPr>
        <p:spPr>
          <a:xfrm>
            <a:off x="7406640" y="405993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86" name="Text 79"/>
          <p:cNvSpPr/>
          <p:nvPr/>
        </p:nvSpPr>
        <p:spPr>
          <a:xfrm>
            <a:off x="7662672" y="40416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Factory Dashboard live with Sonar, CI, CD, qTest, ServiceNow data</a:t>
            </a:r>
            <a:endParaRPr lang="en-US" sz="700" dirty="0"/>
          </a:p>
        </p:txBody>
      </p:sp>
      <p:sp>
        <p:nvSpPr>
          <p:cNvPr id="87" name="Shape 80"/>
          <p:cNvSpPr/>
          <p:nvPr/>
        </p:nvSpPr>
        <p:spPr>
          <a:xfrm>
            <a:off x="7406640" y="4407408"/>
            <a:ext cx="201168" cy="146304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88" name="Text 81"/>
          <p:cNvSpPr/>
          <p:nvPr/>
        </p:nvSpPr>
        <p:spPr>
          <a:xfrm>
            <a:off x="7406640" y="440740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700" dirty="0"/>
          </a:p>
        </p:txBody>
      </p:sp>
      <p:sp>
        <p:nvSpPr>
          <p:cNvPr id="89" name="Text 82"/>
          <p:cNvSpPr/>
          <p:nvPr/>
        </p:nvSpPr>
        <p:spPr>
          <a:xfrm>
            <a:off x="7662672" y="4389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 completed for all teams with improvement roadmaps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a Test Factory</dc:title>
  <dc:subject>PptxGenJS Presentation</dc:subject>
  <dc:creator>Quality Engineering</dc:creator>
  <cp:lastModifiedBy>Quality Engineering</cp:lastModifiedBy>
  <cp:revision>1</cp:revision>
  <dcterms:created xsi:type="dcterms:W3CDTF">2026-03-17T19:09:10Z</dcterms:created>
  <dcterms:modified xsi:type="dcterms:W3CDTF">2026-03-17T19:09:10Z</dcterms:modified>
</cp:coreProperties>
</file>