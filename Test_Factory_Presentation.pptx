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45720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CCC2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FACTORY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We Need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Test Factory?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governed, and automated quality assurance across every delivery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54864" cy="1280160"/>
          </a:xfrm>
          <a:prstGeom prst="rect">
            <a:avLst/>
          </a:prstGeom>
          <a:solidFill>
            <a:srgbClr val="96002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7568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slows deployments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 across teams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guards for higher environments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Hotfixes take days instead of hours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429000"/>
            <a:ext cx="54864" cy="1280160"/>
          </a:xfrm>
          <a:prstGeom prst="rect">
            <a:avLst/>
          </a:prstGeom>
          <a:solidFill>
            <a:srgbClr val="96002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53872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3502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9808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tests in PROD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 overwhelming UAT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 from test to requirement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knowledge, no shared standards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965960"/>
            <a:ext cx="4114800" cy="2743200"/>
          </a:xfrm>
          <a:prstGeom prst="rect">
            <a:avLst/>
          </a:prstGeom>
          <a:solidFill>
            <a:srgbClr val="002C4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1488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0352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Test Factory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892040" y="2487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governed platform that: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2549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5232" y="2788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test execution across CI, CD, and CT pipelines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17296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5232" y="3136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safety guards: what runs where, who approves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2044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85232" y="3483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hotfix delivery from days to hours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86791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85232" y="38313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Standardises test types, tags, and quality gates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4215384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85232" y="4178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traceability from commit to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Pyramid &amp; Test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fast, cheap feedback at the base to slow, expensive validation at the top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74520" y="1280160"/>
            <a:ext cx="1371600" cy="50292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874520"/>
            <a:ext cx="2011680" cy="50292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2468880"/>
            <a:ext cx="2651760" cy="50292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063240"/>
            <a:ext cx="3108960" cy="502920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3566160" cy="50292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251960"/>
            <a:ext cx="3931920" cy="50292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251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" y="128016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" y="2011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60021"/>
                </a:solidFill>
              </a:rPr>
              <a:t>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C4B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" y="41148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5720" cy="530352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1188720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271016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30368" y="1207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Code Analysis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230368" y="14081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linting, code quality. No execution needed.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30368" y="155448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commit, every PR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754880" y="1810512"/>
            <a:ext cx="45720" cy="53035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28" name="Shape 25"/>
          <p:cNvSpPr/>
          <p:nvPr/>
        </p:nvSpPr>
        <p:spPr>
          <a:xfrm>
            <a:off x="4800600" y="1810512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892808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30368" y="1828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230368" y="20299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functions/methods in isolation. Fast, mocked.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230368" y="217627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commit, every PR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4754880" y="2432304"/>
            <a:ext cx="45720" cy="530352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34" name="Shape 30"/>
          <p:cNvSpPr/>
          <p:nvPr/>
        </p:nvSpPr>
        <p:spPr>
          <a:xfrm>
            <a:off x="4800600" y="2432304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514600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230368" y="2450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Tests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230368" y="2651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 between consumer and provider (Pact).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230368" y="279806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(PR), provider verification in TEST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4754880" y="3054096"/>
            <a:ext cx="45720" cy="530352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40" name="Shape 35"/>
          <p:cNvSpPr/>
          <p:nvPr/>
        </p:nvSpPr>
        <p:spPr>
          <a:xfrm>
            <a:off x="4800600" y="3054096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136392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30368" y="3072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Tests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230368" y="327355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service with real dependencies mocked at boundary.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230368" y="3419856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(PR), CD (post-deploy)</a:t>
            </a:r>
            <a:endParaRPr lang="en-US" sz="700" dirty="0"/>
          </a:p>
        </p:txBody>
      </p:sp>
      <p:sp>
        <p:nvSpPr>
          <p:cNvPr id="45" name="Shape 39"/>
          <p:cNvSpPr/>
          <p:nvPr/>
        </p:nvSpPr>
        <p:spPr>
          <a:xfrm>
            <a:off x="4754880" y="3675888"/>
            <a:ext cx="45720" cy="53035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46" name="Shape 40"/>
          <p:cNvSpPr/>
          <p:nvPr/>
        </p:nvSpPr>
        <p:spPr>
          <a:xfrm>
            <a:off x="4800600" y="3675888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758184"/>
            <a:ext cx="256032" cy="25603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230368" y="36941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Integration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5230368" y="38953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components of one application tested together.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5230368" y="4041648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(post-CD in TEST/UAT)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4754880" y="4297680"/>
            <a:ext cx="45720" cy="530352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52" name="Shape 45"/>
          <p:cNvSpPr/>
          <p:nvPr/>
        </p:nvSpPr>
        <p:spPr>
          <a:xfrm>
            <a:off x="4800600" y="4297680"/>
            <a:ext cx="4069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379976"/>
            <a:ext cx="256032" cy="256032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230368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Tests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5230368" y="45171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across multiple applications forming a product.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5230368" y="46634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(TEST/UAT only)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Pipelines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pipeline strategies, each with distinct triggers, ownership, and safety boundaries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743200" cy="777240"/>
          </a:xfrm>
          <a:prstGeom prst="rect">
            <a:avLst/>
          </a:prstGeom>
          <a:solidFill>
            <a:srgbClr val="002C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527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" y="2039112"/>
            <a:ext cx="2523744" cy="32004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039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ADO Pipelines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" y="2468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92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commit, Pull Request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2953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EXECUTED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02920" y="31363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Code Analysis (SAST, lint)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(consumer)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gating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" y="4251960"/>
            <a:ext cx="2523744" cy="54864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before merge. Every PR validated.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246120" y="114300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46120" y="1143000"/>
            <a:ext cx="2743200" cy="777240"/>
          </a:xfrm>
          <a:prstGeom prst="rect">
            <a:avLst/>
          </a:prstGeom>
          <a:solidFill>
            <a:srgbClr val="8E654C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52728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9476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379476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79476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Tekton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55848" y="2039112"/>
            <a:ext cx="2523744" cy="32004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26" name="Text 22"/>
          <p:cNvSpPr/>
          <p:nvPr/>
        </p:nvSpPr>
        <p:spPr>
          <a:xfrm>
            <a:off x="3429000" y="2039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→ Tekton Pipelines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383280" y="2468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338328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Change Request (post-deployment)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383280" y="2953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EXECUTED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383280" y="31363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/ Smoke Tests (read-only)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config verification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API happy-path (GET only)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355848" y="4251960"/>
            <a:ext cx="2523744" cy="54864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32" name="Text 28"/>
          <p:cNvSpPr/>
          <p:nvPr/>
        </p:nvSpPr>
        <p:spPr>
          <a:xfrm>
            <a:off x="3429000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for deployment. Failure = automatic rollback.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6126480" y="114300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126480" y="1143000"/>
            <a:ext cx="2743200" cy="777240"/>
          </a:xfrm>
          <a:prstGeom prst="rect">
            <a:avLst/>
          </a:prstGeom>
          <a:solidFill>
            <a:srgbClr val="33566F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52728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67512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</a:t>
            </a:r>
            <a:endParaRPr lang="en-US" sz="2200" dirty="0"/>
          </a:p>
        </p:txBody>
      </p:sp>
      <p:sp>
        <p:nvSpPr>
          <p:cNvPr id="37" name="Text 32"/>
          <p:cNvSpPr/>
          <p:nvPr/>
        </p:nvSpPr>
        <p:spPr>
          <a:xfrm>
            <a:off x="667512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Testing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67512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+ Tekton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236208" y="2039112"/>
            <a:ext cx="2523744" cy="32004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0" name="Text 35"/>
          <p:cNvSpPr/>
          <p:nvPr/>
        </p:nvSpPr>
        <p:spPr>
          <a:xfrm>
            <a:off x="6309360" y="2039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orchestrates, Tekton executes (OpenShift, Kafka, Vault)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263640" y="2468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6263640" y="26334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 success, manual, scheduled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6263640" y="29535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EXECUTED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6263640" y="31363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Integration Tests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 (end-to-end)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 (TEST only)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6236208" y="4251960"/>
            <a:ext cx="2523744" cy="548640"/>
          </a:xfrm>
          <a:prstGeom prst="rect">
            <a:avLst/>
          </a:prstGeom>
          <a:solidFill>
            <a:srgbClr val="EDE8E3"/>
          </a:solidFill>
          <a:ln/>
        </p:spPr>
      </p:sp>
      <p:sp>
        <p:nvSpPr>
          <p:cNvPr id="46" name="Text 41"/>
          <p:cNvSpPr/>
          <p:nvPr/>
        </p:nvSpPr>
        <p:spPr>
          <a:xfrm>
            <a:off x="6309360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quality confidence. Not blocking deployment.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End-to-End: Deliver Patch to Production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hotfix commit to production deployment — stages, test types, pipelines, and triggers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78992" cy="548640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hotfix/*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005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654C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82496" y="868680"/>
            <a:ext cx="1078992" cy="5486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9" name="Text 7"/>
          <p:cNvSpPr/>
          <p:nvPr/>
        </p:nvSpPr>
        <p:spPr>
          <a:xfrm>
            <a:off x="1682496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release/x.y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34056" y="1005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654C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868680"/>
            <a:ext cx="1078992" cy="5486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2" name="Text 10"/>
          <p:cNvSpPr/>
          <p:nvPr/>
        </p:nvSpPr>
        <p:spPr>
          <a:xfrm>
            <a:off x="2907792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59352" y="1005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654C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3088" y="868680"/>
            <a:ext cx="1078992" cy="548640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15" name="Text 13"/>
          <p:cNvSpPr/>
          <p:nvPr/>
        </p:nvSpPr>
        <p:spPr>
          <a:xfrm>
            <a:off x="4133088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84648" y="1005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654C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58384" y="868680"/>
            <a:ext cx="1078992" cy="54864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9944" y="1005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654C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868680"/>
            <a:ext cx="1078992" cy="54864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35240" y="10058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654C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08976" y="868680"/>
            <a:ext cx="1078992" cy="54864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24" name="Text 22"/>
          <p:cNvSpPr/>
          <p:nvPr/>
        </p:nvSpPr>
        <p:spPr>
          <a:xfrm>
            <a:off x="7808976" y="86868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627632"/>
            <a:ext cx="1417320" cy="41148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6276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Pipeline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4520" y="1627632"/>
            <a:ext cx="1078992" cy="41148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28" name="Text 26"/>
          <p:cNvSpPr/>
          <p:nvPr/>
        </p:nvSpPr>
        <p:spPr>
          <a:xfrm>
            <a:off x="1874520" y="162763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(Commit/PR)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99816" y="1627632"/>
            <a:ext cx="1078992" cy="411480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30" name="Text 28"/>
          <p:cNvSpPr/>
          <p:nvPr/>
        </p:nvSpPr>
        <p:spPr>
          <a:xfrm>
            <a:off x="3099816" y="162763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25112" y="1627632"/>
            <a:ext cx="1078992" cy="41148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32" name="Text 30"/>
          <p:cNvSpPr/>
          <p:nvPr/>
        </p:nvSpPr>
        <p:spPr>
          <a:xfrm>
            <a:off x="4325112" y="162763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50408" y="1627632"/>
            <a:ext cx="1078992" cy="41148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4" name="Text 32"/>
          <p:cNvSpPr/>
          <p:nvPr/>
        </p:nvSpPr>
        <p:spPr>
          <a:xfrm>
            <a:off x="5550408" y="162763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75704" y="1627632"/>
            <a:ext cx="1078992" cy="41148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162763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205740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2057400"/>
            <a:ext cx="45720" cy="347472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2057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74520" y="2057400"/>
            <a:ext cx="1078992" cy="34747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1" name="Text 39"/>
          <p:cNvSpPr/>
          <p:nvPr/>
        </p:nvSpPr>
        <p:spPr>
          <a:xfrm>
            <a:off x="1874520" y="20574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Commit + PR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99816" y="205740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099816" y="20574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325112" y="205740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325112" y="20574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50408" y="205740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550408" y="20574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775704" y="205740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75704" y="20574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242316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" y="2423160"/>
            <a:ext cx="45720" cy="347472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874520" y="2423160"/>
            <a:ext cx="1078992" cy="34747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4" name="Text 52"/>
          <p:cNvSpPr/>
          <p:nvPr/>
        </p:nvSpPr>
        <p:spPr>
          <a:xfrm>
            <a:off x="1874520" y="24231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Commit + PR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099816" y="242316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099816" y="24231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325112" y="242316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325112" y="24231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550408" y="242316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550408" y="24231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775704" y="242316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775704" y="24231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278892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457200" y="2788920"/>
            <a:ext cx="45720" cy="347472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2788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+ CT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874520" y="2788920"/>
            <a:ext cx="1078992" cy="34747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7" name="Text 65"/>
          <p:cNvSpPr/>
          <p:nvPr/>
        </p:nvSpPr>
        <p:spPr>
          <a:xfrm>
            <a:off x="1874520" y="2788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099816" y="278892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099816" y="2788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25112" y="2788920"/>
            <a:ext cx="1078992" cy="34747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1" name="Text 69"/>
          <p:cNvSpPr/>
          <p:nvPr/>
        </p:nvSpPr>
        <p:spPr>
          <a:xfrm>
            <a:off x="4325112" y="2788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Provider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550408" y="278892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73" name="Text 71"/>
          <p:cNvSpPr/>
          <p:nvPr/>
        </p:nvSpPr>
        <p:spPr>
          <a:xfrm>
            <a:off x="5550408" y="2788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can-i-deploy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775704" y="278892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75" name="Text 73"/>
          <p:cNvSpPr/>
          <p:nvPr/>
        </p:nvSpPr>
        <p:spPr>
          <a:xfrm>
            <a:off x="6775704" y="27889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can-i-deploy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57200" y="315468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457200" y="3154680"/>
            <a:ext cx="45720" cy="347472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78" name="Text 76"/>
          <p:cNvSpPr/>
          <p:nvPr/>
        </p:nvSpPr>
        <p:spPr>
          <a:xfrm>
            <a:off x="548640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Tests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+ CD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874520" y="3154680"/>
            <a:ext cx="1078992" cy="34747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0" name="Text 78"/>
          <p:cNvSpPr/>
          <p:nvPr/>
        </p:nvSpPr>
        <p:spPr>
          <a:xfrm>
            <a:off x="1874520" y="315468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099816" y="315468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82" name="Text 80"/>
          <p:cNvSpPr/>
          <p:nvPr/>
        </p:nvSpPr>
        <p:spPr>
          <a:xfrm>
            <a:off x="3099816" y="315468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25112" y="315468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84" name="Text 82"/>
          <p:cNvSpPr/>
          <p:nvPr/>
        </p:nvSpPr>
        <p:spPr>
          <a:xfrm>
            <a:off x="4325112" y="315468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550408" y="315468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86" name="Text 84"/>
          <p:cNvSpPr/>
          <p:nvPr/>
        </p:nvSpPr>
        <p:spPr>
          <a:xfrm>
            <a:off x="5550408" y="315468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775704" y="3154680"/>
            <a:ext cx="1078992" cy="347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88" name="Text 86"/>
          <p:cNvSpPr/>
          <p:nvPr/>
        </p:nvSpPr>
        <p:spPr>
          <a:xfrm>
            <a:off x="6775704" y="315468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only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57200" y="352044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457200" y="3520440"/>
            <a:ext cx="45720" cy="347472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91" name="Text 89"/>
          <p:cNvSpPr/>
          <p:nvPr/>
        </p:nvSpPr>
        <p:spPr>
          <a:xfrm>
            <a:off x="548640" y="3520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Integration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874520" y="352044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1874520" y="3520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99816" y="3520440"/>
            <a:ext cx="1078992" cy="347472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95" name="Text 93"/>
          <p:cNvSpPr/>
          <p:nvPr/>
        </p:nvSpPr>
        <p:spPr>
          <a:xfrm>
            <a:off x="3099816" y="3520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Manual/Auto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325112" y="3520440"/>
            <a:ext cx="1078992" cy="347472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97" name="Text 95"/>
          <p:cNvSpPr/>
          <p:nvPr/>
        </p:nvSpPr>
        <p:spPr>
          <a:xfrm>
            <a:off x="4325112" y="3520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550408" y="352044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99" name="Text 97"/>
          <p:cNvSpPr/>
          <p:nvPr/>
        </p:nvSpPr>
        <p:spPr>
          <a:xfrm>
            <a:off x="5550408" y="3520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775704" y="3520440"/>
            <a:ext cx="1078992" cy="347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1" name="Text 99"/>
          <p:cNvSpPr/>
          <p:nvPr/>
        </p:nvSpPr>
        <p:spPr>
          <a:xfrm>
            <a:off x="6775704" y="352044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57200" y="388620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57200" y="3886200"/>
            <a:ext cx="45720" cy="347472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04" name="Text 102"/>
          <p:cNvSpPr/>
          <p:nvPr/>
        </p:nvSpPr>
        <p:spPr>
          <a:xfrm>
            <a:off x="548640" y="3886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874520" y="388620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1874520" y="38862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099816" y="388620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3099816" y="38862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325112" y="3886200"/>
            <a:ext cx="1078992" cy="347472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4325112" y="38862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Post-CD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550408" y="3886200"/>
            <a:ext cx="1078992" cy="347472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12" name="Text 110"/>
          <p:cNvSpPr/>
          <p:nvPr/>
        </p:nvSpPr>
        <p:spPr>
          <a:xfrm>
            <a:off x="5550408" y="38862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8E6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775704" y="3886200"/>
            <a:ext cx="1078992" cy="347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4" name="Text 112"/>
          <p:cNvSpPr/>
          <p:nvPr/>
        </p:nvSpPr>
        <p:spPr>
          <a:xfrm>
            <a:off x="6775704" y="388620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457200" y="4251960"/>
            <a:ext cx="1417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57200" y="4251960"/>
            <a:ext cx="45720" cy="347472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17" name="Text 115"/>
          <p:cNvSpPr/>
          <p:nvPr/>
        </p:nvSpPr>
        <p:spPr>
          <a:xfrm>
            <a:off x="548640" y="4251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850" dirty="0"/>
          </a:p>
          <a:p>
            <a:pPr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1874520" y="4251960"/>
            <a:ext cx="107899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7"/>
          <p:cNvSpPr/>
          <p:nvPr/>
        </p:nvSpPr>
        <p:spPr>
          <a:xfrm>
            <a:off x="1874520" y="4251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099816" y="4251960"/>
            <a:ext cx="1078992" cy="347472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3099816" y="4251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4325112" y="4251960"/>
            <a:ext cx="1078992" cy="347472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23" name="Text 121"/>
          <p:cNvSpPr/>
          <p:nvPr/>
        </p:nvSpPr>
        <p:spPr>
          <a:xfrm>
            <a:off x="4325112" y="4251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3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550408" y="4251960"/>
            <a:ext cx="1078992" cy="347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5" name="Text 123"/>
          <p:cNvSpPr/>
          <p:nvPr/>
        </p:nvSpPr>
        <p:spPr>
          <a:xfrm>
            <a:off x="5550408" y="4251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775704" y="4251960"/>
            <a:ext cx="1078992" cy="34747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7" name="Text 125"/>
          <p:cNvSpPr/>
          <p:nvPr/>
        </p:nvSpPr>
        <p:spPr>
          <a:xfrm>
            <a:off x="6775704" y="42519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60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48640" y="4800600"/>
            <a:ext cx="137160" cy="137160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29" name="Text 127"/>
          <p:cNvSpPr/>
          <p:nvPr/>
        </p:nvSpPr>
        <p:spPr>
          <a:xfrm>
            <a:off x="73152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Azure DevOps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743200" y="4800600"/>
            <a:ext cx="137160" cy="13716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31" name="Text 129"/>
          <p:cNvSpPr/>
          <p:nvPr/>
        </p:nvSpPr>
        <p:spPr>
          <a:xfrm>
            <a:off x="292608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= Tekton (ServiceNow)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4937760" y="4800600"/>
            <a:ext cx="137160" cy="137160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33" name="Text 131"/>
          <p:cNvSpPr/>
          <p:nvPr/>
        </p:nvSpPr>
        <p:spPr>
          <a:xfrm>
            <a:off x="512064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= ADO + Tekton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132320" y="4800600"/>
            <a:ext cx="137160" cy="137160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35" name="Text 133"/>
          <p:cNvSpPr/>
          <p:nvPr/>
        </p:nvSpPr>
        <p:spPr>
          <a:xfrm>
            <a:off x="7315200" y="47823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= Safety Guard Blocked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Factory Strategy</dc:title>
  <dc:subject>PptxGenJS Presentation</dc:subject>
  <dc:creator>Quality Engineering</dc:creator>
  <cp:lastModifiedBy>Quality Engineering</cp:lastModifiedBy>
  <cp:revision>1</cp:revision>
  <dcterms:created xsi:type="dcterms:W3CDTF">2026-03-06T16:41:58Z</dcterms:created>
  <dcterms:modified xsi:type="dcterms:W3CDTF">2026-03-06T16:41:58Z</dcterms:modified>
</cp:coreProperties>
</file>