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Strategy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Deployment (CD)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675120" y="338328"/>
            <a:ext cx="21031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3383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GO / NO-GO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80467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&amp; smoke tests that gate build promotion — triggered by ServiceNow, executed by Tekton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325880" cy="1097280"/>
          </a:xfrm>
          <a:prstGeom prst="rect">
            <a:avLst/>
          </a:prstGeom>
          <a:solidFill>
            <a:srgbClr val="142240"/>
          </a:solidFill>
          <a:ln w="19050">
            <a:solidFill>
              <a:srgbClr val="1560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71600"/>
            <a:ext cx="1325880" cy="45720"/>
          </a:xfrm>
          <a:prstGeom prst="rect">
            <a:avLst/>
          </a:prstGeom>
          <a:solidFill>
            <a:srgbClr val="1560B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53619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1874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21214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Approved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737360" y="19202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2" y="1847088"/>
            <a:ext cx="146304" cy="14630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057400" y="1371600"/>
            <a:ext cx="1417320" cy="1097280"/>
          </a:xfrm>
          <a:prstGeom prst="rect">
            <a:avLst/>
          </a:prstGeom>
          <a:solidFill>
            <a:srgbClr val="142240"/>
          </a:solidFill>
          <a:ln w="19050">
            <a:solidFill>
              <a:srgbClr val="FD495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057400" y="1371600"/>
            <a:ext cx="1417320" cy="45720"/>
          </a:xfrm>
          <a:prstGeom prst="rect">
            <a:avLst/>
          </a:prstGeom>
          <a:solidFill>
            <a:srgbClr val="FD495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756" y="153619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Tekton Pipeline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2103120" y="21214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520440" y="19202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1847088"/>
            <a:ext cx="146304" cy="14630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840480" y="1371600"/>
            <a:ext cx="1417320" cy="1097280"/>
          </a:xfrm>
          <a:prstGeom prst="rect">
            <a:avLst/>
          </a:prstGeom>
          <a:solidFill>
            <a:srgbClr val="14224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840480" y="1371600"/>
            <a:ext cx="141732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2836" y="1536192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886200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Execution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3886200" y="21214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+ Smoke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5303520" y="19202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2392" y="1847088"/>
            <a:ext cx="146304" cy="14630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623560" y="1371600"/>
            <a:ext cx="1280160" cy="1097280"/>
          </a:xfrm>
          <a:prstGeom prst="rect">
            <a:avLst/>
          </a:prstGeom>
          <a:solidFill>
            <a:srgbClr val="1422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5623560" y="1371600"/>
            <a:ext cx="128016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36" y="1536192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669280" y="1874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Gate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5669280" y="21214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850" dirty="0"/>
          </a:p>
        </p:txBody>
      </p:sp>
      <p:sp>
        <p:nvSpPr>
          <p:cNvPr id="34" name="Shape 25"/>
          <p:cNvSpPr/>
          <p:nvPr/>
        </p:nvSpPr>
        <p:spPr>
          <a:xfrm>
            <a:off x="6949440" y="19202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8312" y="1847088"/>
            <a:ext cx="146304" cy="146304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7269480" y="1371600"/>
            <a:ext cx="1234440" cy="1097280"/>
          </a:xfrm>
          <a:prstGeom prst="rect">
            <a:avLst/>
          </a:prstGeom>
          <a:solidFill>
            <a:srgbClr val="14224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7269480" y="1371600"/>
            <a:ext cx="123444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0396" y="1536192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315200" y="1874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</a:t>
            </a:r>
            <a:endParaRPr lang="en-US" sz="1050" dirty="0"/>
          </a:p>
        </p:txBody>
      </p:sp>
      <p:sp>
        <p:nvSpPr>
          <p:cNvPr id="40" name="Text 29"/>
          <p:cNvSpPr/>
          <p:nvPr/>
        </p:nvSpPr>
        <p:spPr>
          <a:xfrm>
            <a:off x="7315200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Rollback</a:t>
            </a:r>
            <a:endParaRPr lang="en-US" sz="850" dirty="0"/>
          </a:p>
        </p:txBody>
      </p:sp>
      <p:sp>
        <p:nvSpPr>
          <p:cNvPr id="41" name="Text 30"/>
          <p:cNvSpPr/>
          <p:nvPr/>
        </p:nvSpPr>
        <p:spPr>
          <a:xfrm>
            <a:off x="457200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Environments: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1645920" y="2651760"/>
            <a:ext cx="868680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3" name="Text 32"/>
          <p:cNvSpPr/>
          <p:nvPr/>
        </p:nvSpPr>
        <p:spPr>
          <a:xfrm>
            <a:off x="1645920" y="2651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2032" y="2697480"/>
            <a:ext cx="128016" cy="128016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2743200" y="2651760"/>
            <a:ext cx="868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34"/>
          <p:cNvSpPr/>
          <p:nvPr/>
        </p:nvSpPr>
        <p:spPr>
          <a:xfrm>
            <a:off x="2743200" y="2651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90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39312" y="2697480"/>
            <a:ext cx="128016" cy="128016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3840480" y="2651760"/>
            <a:ext cx="8686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36"/>
          <p:cNvSpPr/>
          <p:nvPr/>
        </p:nvSpPr>
        <p:spPr>
          <a:xfrm>
            <a:off x="3840480" y="2651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900" dirty="0"/>
          </a:p>
        </p:txBody>
      </p:sp>
      <p:sp>
        <p:nvSpPr>
          <p:cNvPr id="50" name="Shape 37"/>
          <p:cNvSpPr/>
          <p:nvPr/>
        </p:nvSpPr>
        <p:spPr>
          <a:xfrm>
            <a:off x="4572000" y="2587752"/>
            <a:ext cx="42062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1" name="Text 38"/>
          <p:cNvSpPr/>
          <p:nvPr/>
        </p:nvSpPr>
        <p:spPr>
          <a:xfrm>
            <a:off x="4663440" y="2587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reside with app repo OR in a dedicated test repository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365760" y="3154680"/>
            <a:ext cx="2697480" cy="1737360"/>
          </a:xfrm>
          <a:prstGeom prst="rect">
            <a:avLst/>
          </a:prstGeom>
          <a:solidFill>
            <a:srgbClr val="14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Shape 40"/>
          <p:cNvSpPr/>
          <p:nvPr/>
        </p:nvSpPr>
        <p:spPr>
          <a:xfrm>
            <a:off x="365760" y="3154680"/>
            <a:ext cx="2697480" cy="38404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" y="3218688"/>
            <a:ext cx="256032" cy="256032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777240" y="3154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Runs</a:t>
            </a:r>
            <a:endParaRPr lang="en-US" sz="1300" dirty="0"/>
          </a:p>
        </p:txBody>
      </p:sp>
      <p:sp>
        <p:nvSpPr>
          <p:cNvPr id="56" name="Text 42"/>
          <p:cNvSpPr/>
          <p:nvPr/>
        </p:nvSpPr>
        <p:spPr>
          <a:xfrm>
            <a:off x="475488" y="3630168"/>
            <a:ext cx="24780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 checks (GET /health)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verification (matches Helm chart)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critical API smoke tests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validation (no ERROR/FATAL)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endpoint availability</a:t>
            </a:r>
            <a:endParaRPr lang="en-US" sz="900" dirty="0"/>
          </a:p>
        </p:txBody>
      </p:sp>
      <p:sp>
        <p:nvSpPr>
          <p:cNvPr id="57" name="Shape 43"/>
          <p:cNvSpPr/>
          <p:nvPr/>
        </p:nvSpPr>
        <p:spPr>
          <a:xfrm>
            <a:off x="457200" y="4572000"/>
            <a:ext cx="251460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8" name="Text 44"/>
          <p:cNvSpPr/>
          <p:nvPr/>
        </p:nvSpPr>
        <p:spPr>
          <a:xfrm>
            <a:off x="457200" y="4572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&amp; fast (≤ 2 min total)</a:t>
            </a:r>
            <a:endParaRPr lang="en-US" sz="800" dirty="0"/>
          </a:p>
        </p:txBody>
      </p:sp>
      <p:sp>
        <p:nvSpPr>
          <p:cNvPr id="59" name="Shape 45"/>
          <p:cNvSpPr/>
          <p:nvPr/>
        </p:nvSpPr>
        <p:spPr>
          <a:xfrm>
            <a:off x="3246120" y="3154680"/>
            <a:ext cx="2697480" cy="1737360"/>
          </a:xfrm>
          <a:prstGeom prst="rect">
            <a:avLst/>
          </a:prstGeom>
          <a:solidFill>
            <a:srgbClr val="1422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Shape 46"/>
          <p:cNvSpPr/>
          <p:nvPr/>
        </p:nvSpPr>
        <p:spPr>
          <a:xfrm>
            <a:off x="3246120" y="3154680"/>
            <a:ext cx="2697480" cy="38404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5848" y="3218688"/>
            <a:ext cx="256032" cy="256032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3657600" y="3154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Logic</a:t>
            </a:r>
            <a:endParaRPr lang="en-US" sz="1300" dirty="0"/>
          </a:p>
        </p:txBody>
      </p:sp>
      <p:sp>
        <p:nvSpPr>
          <p:cNvPr id="63" name="Text 48"/>
          <p:cNvSpPr/>
          <p:nvPr/>
        </p:nvSpPr>
        <p:spPr>
          <a:xfrm>
            <a:off x="3355848" y="3630168"/>
            <a:ext cx="24780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must PASS → build promoted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 → automated rollback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rollback to previous revision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CR updated automatically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human intervention required</a:t>
            </a:r>
            <a:endParaRPr lang="en-US" sz="900" dirty="0"/>
          </a:p>
        </p:txBody>
      </p:sp>
      <p:sp>
        <p:nvSpPr>
          <p:cNvPr id="64" name="Shape 49"/>
          <p:cNvSpPr/>
          <p:nvPr/>
        </p:nvSpPr>
        <p:spPr>
          <a:xfrm>
            <a:off x="3337560" y="4572000"/>
            <a:ext cx="251460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5" name="Text 50"/>
          <p:cNvSpPr/>
          <p:nvPr/>
        </p:nvSpPr>
        <p:spPr>
          <a:xfrm>
            <a:off x="3337560" y="4572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PASS = promote, FAIL = rollback</a:t>
            </a:r>
            <a:endParaRPr lang="en-US" sz="800" dirty="0"/>
          </a:p>
        </p:txBody>
      </p:sp>
      <p:sp>
        <p:nvSpPr>
          <p:cNvPr id="66" name="Shape 51"/>
          <p:cNvSpPr/>
          <p:nvPr/>
        </p:nvSpPr>
        <p:spPr>
          <a:xfrm>
            <a:off x="6126480" y="3154680"/>
            <a:ext cx="2697480" cy="1737360"/>
          </a:xfrm>
          <a:prstGeom prst="rect">
            <a:avLst/>
          </a:prstGeom>
          <a:solidFill>
            <a:srgbClr val="142240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67" name="Shape 52"/>
          <p:cNvSpPr/>
          <p:nvPr/>
        </p:nvSpPr>
        <p:spPr>
          <a:xfrm>
            <a:off x="6126480" y="3154680"/>
            <a:ext cx="2697480" cy="384048"/>
          </a:xfrm>
          <a:prstGeom prst="rect">
            <a:avLst/>
          </a:prstGeom>
          <a:solidFill>
            <a:srgbClr val="1560BD"/>
          </a:solidFill>
          <a:ln/>
        </p:spPr>
      </p:sp>
      <p:pic>
        <p:nvPicPr>
          <p:cNvPr id="6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6208" y="3218688"/>
            <a:ext cx="256032" cy="256032"/>
          </a:xfrm>
          <a:prstGeom prst="rect">
            <a:avLst/>
          </a:prstGeom>
        </p:spPr>
      </p:pic>
      <p:sp>
        <p:nvSpPr>
          <p:cNvPr id="69" name="Text 53"/>
          <p:cNvSpPr/>
          <p:nvPr/>
        </p:nvSpPr>
        <p:spPr>
          <a:xfrm>
            <a:off x="6537960" y="3154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70" name="Text 54"/>
          <p:cNvSpPr/>
          <p:nvPr/>
        </p:nvSpPr>
        <p:spPr>
          <a:xfrm>
            <a:off x="6236208" y="3630168"/>
            <a:ext cx="24780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 ServiceNow Change Requests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(test reports in CR)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rollback in &lt; 60 seconds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Tekton logs stored for compliance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feed release readiness score</a:t>
            </a:r>
            <a:endParaRPr lang="en-US" sz="900" dirty="0"/>
          </a:p>
        </p:txBody>
      </p:sp>
      <p:sp>
        <p:nvSpPr>
          <p:cNvPr id="71" name="Shape 55"/>
          <p:cNvSpPr/>
          <p:nvPr/>
        </p:nvSpPr>
        <p:spPr>
          <a:xfrm>
            <a:off x="6217920" y="4572000"/>
            <a:ext cx="251460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2" name="Text 56"/>
          <p:cNvSpPr/>
          <p:nvPr/>
        </p:nvSpPr>
        <p:spPr>
          <a:xfrm>
            <a:off x="6217920" y="4572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is the single source of truth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Strategy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Testing (CT)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675120" y="338328"/>
            <a:ext cx="210312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3383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GO / NO-GO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80467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automated suite execution for overall quality assessment — triggered by Azure DevOps, executed by Tekton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371600" cy="1097280"/>
          </a:xfrm>
          <a:prstGeom prst="rect">
            <a:avLst/>
          </a:prstGeom>
          <a:solidFill>
            <a:srgbClr val="142240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71600"/>
            <a:ext cx="1371600" cy="45720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53619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DevOps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21214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Cron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783080" y="19202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1847088"/>
            <a:ext cx="146304" cy="14630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103120" y="1371600"/>
            <a:ext cx="1417320" cy="1097280"/>
          </a:xfrm>
          <a:prstGeom prst="rect">
            <a:avLst/>
          </a:prstGeom>
          <a:solidFill>
            <a:srgbClr val="142240"/>
          </a:solidFill>
          <a:ln w="19050">
            <a:solidFill>
              <a:srgbClr val="FD495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103120" y="1371600"/>
            <a:ext cx="1417320" cy="45720"/>
          </a:xfrm>
          <a:prstGeom prst="rect">
            <a:avLst/>
          </a:prstGeom>
          <a:solidFill>
            <a:srgbClr val="FD495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476" y="153619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48840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Tekton Pipeline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2148840" y="21214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566160" y="19202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847088"/>
            <a:ext cx="146304" cy="14630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886200" y="1371600"/>
            <a:ext cx="1417320" cy="1097280"/>
          </a:xfrm>
          <a:prstGeom prst="rect">
            <a:avLst/>
          </a:prstGeom>
          <a:solidFill>
            <a:srgbClr val="1422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886200" y="1371600"/>
            <a:ext cx="1417320" cy="45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556" y="1536192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31920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Test Suite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3931920" y="21214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+ More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5349240" y="19202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8112" y="1847088"/>
            <a:ext cx="146304" cy="14630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669280" y="1371600"/>
            <a:ext cx="1325880" cy="1097280"/>
          </a:xfrm>
          <a:prstGeom prst="rect">
            <a:avLst/>
          </a:prstGeom>
          <a:solidFill>
            <a:srgbClr val="1422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5669280" y="1371600"/>
            <a:ext cx="132588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5916" y="1536192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715000" y="1874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Allure Report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5715000" y="21214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Published</a:t>
            </a:r>
            <a:endParaRPr lang="en-US" sz="850" dirty="0"/>
          </a:p>
        </p:txBody>
      </p:sp>
      <p:sp>
        <p:nvSpPr>
          <p:cNvPr id="34" name="Shape 25"/>
          <p:cNvSpPr/>
          <p:nvPr/>
        </p:nvSpPr>
        <p:spPr>
          <a:xfrm>
            <a:off x="7040880" y="19202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9752" y="1847088"/>
            <a:ext cx="146304" cy="146304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7360920" y="1371600"/>
            <a:ext cx="1280160" cy="1097280"/>
          </a:xfrm>
          <a:prstGeom prst="rect">
            <a:avLst/>
          </a:prstGeom>
          <a:solidFill>
            <a:srgbClr val="1422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7360920" y="1371600"/>
            <a:ext cx="128016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4696" y="1536192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406640" y="1874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Review</a:t>
            </a:r>
            <a:endParaRPr lang="en-US" sz="1050" dirty="0"/>
          </a:p>
        </p:txBody>
      </p:sp>
      <p:sp>
        <p:nvSpPr>
          <p:cNvPr id="40" name="Text 29"/>
          <p:cNvSpPr/>
          <p:nvPr/>
        </p:nvSpPr>
        <p:spPr>
          <a:xfrm>
            <a:off x="7406640" y="21214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</a:t>
            </a:r>
            <a:endParaRPr lang="en-US" sz="850" dirty="0"/>
          </a:p>
        </p:txBody>
      </p:sp>
      <p:sp>
        <p:nvSpPr>
          <p:cNvPr id="41" name="Text 30"/>
          <p:cNvSpPr/>
          <p:nvPr/>
        </p:nvSpPr>
        <p:spPr>
          <a:xfrm>
            <a:off x="457200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modes: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1645920" y="2633472"/>
            <a:ext cx="1325880" cy="29260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3" name="Text 32"/>
          <p:cNvSpPr/>
          <p:nvPr/>
        </p:nvSpPr>
        <p:spPr>
          <a:xfrm>
            <a:off x="1691640" y="26334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2377440" y="2633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800" dirty="0"/>
          </a:p>
        </p:txBody>
      </p:sp>
      <p:sp>
        <p:nvSpPr>
          <p:cNvPr id="45" name="Shape 34"/>
          <p:cNvSpPr/>
          <p:nvPr/>
        </p:nvSpPr>
        <p:spPr>
          <a:xfrm>
            <a:off x="3154680" y="2633472"/>
            <a:ext cx="1325880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6" name="Text 35"/>
          <p:cNvSpPr/>
          <p:nvPr/>
        </p:nvSpPr>
        <p:spPr>
          <a:xfrm>
            <a:off x="3200400" y="26334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3886200" y="2633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</a:t>
            </a:r>
            <a:endParaRPr lang="en-US" sz="800" dirty="0"/>
          </a:p>
        </p:txBody>
      </p:sp>
      <p:sp>
        <p:nvSpPr>
          <p:cNvPr id="48" name="Shape 37"/>
          <p:cNvSpPr/>
          <p:nvPr/>
        </p:nvSpPr>
        <p:spPr>
          <a:xfrm>
            <a:off x="4663440" y="2633472"/>
            <a:ext cx="132588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38"/>
          <p:cNvSpPr/>
          <p:nvPr/>
        </p:nvSpPr>
        <p:spPr>
          <a:xfrm>
            <a:off x="4709160" y="26334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POST-CD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5394960" y="26334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CD passes</a:t>
            </a:r>
            <a:endParaRPr lang="en-US" sz="800" dirty="0"/>
          </a:p>
        </p:txBody>
      </p:sp>
      <p:sp>
        <p:nvSpPr>
          <p:cNvPr id="51" name="Shape 40"/>
          <p:cNvSpPr/>
          <p:nvPr/>
        </p:nvSpPr>
        <p:spPr>
          <a:xfrm>
            <a:off x="5303520" y="2615184"/>
            <a:ext cx="347472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2" name="Text 41"/>
          <p:cNvSpPr/>
          <p:nvPr/>
        </p:nvSpPr>
        <p:spPr>
          <a:xfrm>
            <a:off x="5394960" y="26151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reported back to Azure DevOps + Allure Report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365760" y="3154680"/>
            <a:ext cx="2697480" cy="1737360"/>
          </a:xfrm>
          <a:prstGeom prst="rect">
            <a:avLst/>
          </a:prstGeom>
          <a:solidFill>
            <a:srgbClr val="1422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365760" y="3154680"/>
            <a:ext cx="2697480" cy="38404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" y="3218688"/>
            <a:ext cx="256032" cy="256032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777240" y="3154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Runs</a:t>
            </a:r>
            <a:endParaRPr lang="en-US" sz="1300" dirty="0"/>
          </a:p>
        </p:txBody>
      </p:sp>
      <p:sp>
        <p:nvSpPr>
          <p:cNvPr id="57" name="Text 45"/>
          <p:cNvSpPr/>
          <p:nvPr/>
        </p:nvSpPr>
        <p:spPr>
          <a:xfrm>
            <a:off x="475488" y="3630168"/>
            <a:ext cx="2478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test suite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(all endpoints)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 (consumer + provider)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load test scenarios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scans (DAST)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/ cross-device tests</a:t>
            </a:r>
            <a:endParaRPr lang="en-US" sz="900" dirty="0"/>
          </a:p>
        </p:txBody>
      </p:sp>
      <p:sp>
        <p:nvSpPr>
          <p:cNvPr id="58" name="Shape 46"/>
          <p:cNvSpPr/>
          <p:nvPr/>
        </p:nvSpPr>
        <p:spPr>
          <a:xfrm>
            <a:off x="457200" y="4572000"/>
            <a:ext cx="251460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9" name="Text 47"/>
          <p:cNvSpPr/>
          <p:nvPr/>
        </p:nvSpPr>
        <p:spPr>
          <a:xfrm>
            <a:off x="457200" y="4572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&amp; thorough (15–60 min)</a:t>
            </a:r>
            <a:endParaRPr lang="en-US" sz="800" dirty="0"/>
          </a:p>
        </p:txBody>
      </p:sp>
      <p:sp>
        <p:nvSpPr>
          <p:cNvPr id="60" name="Shape 48"/>
          <p:cNvSpPr/>
          <p:nvPr/>
        </p:nvSpPr>
        <p:spPr>
          <a:xfrm>
            <a:off x="3246120" y="3154680"/>
            <a:ext cx="2697480" cy="1737360"/>
          </a:xfrm>
          <a:prstGeom prst="rect">
            <a:avLst/>
          </a:prstGeom>
          <a:solidFill>
            <a:srgbClr val="14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3246120" y="3154680"/>
            <a:ext cx="2697480" cy="38404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5848" y="3218688"/>
            <a:ext cx="256032" cy="256032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3657600" y="3154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Handling</a:t>
            </a:r>
            <a:endParaRPr lang="en-US" sz="1300" dirty="0"/>
          </a:p>
        </p:txBody>
      </p:sp>
      <p:sp>
        <p:nvSpPr>
          <p:cNvPr id="64" name="Text 51"/>
          <p:cNvSpPr/>
          <p:nvPr/>
        </p:nvSpPr>
        <p:spPr>
          <a:xfrm>
            <a:off x="3355848" y="3630168"/>
            <a:ext cx="2478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EXPECTED and evaluated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tests triaged (rerun / quarantine)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defects logged as Jira bugs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with trend analysis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feed quality dashboard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rollback — human decides</a:t>
            </a:r>
            <a:endParaRPr lang="en-US" sz="900" dirty="0"/>
          </a:p>
        </p:txBody>
      </p:sp>
      <p:sp>
        <p:nvSpPr>
          <p:cNvPr id="65" name="Shape 52"/>
          <p:cNvSpPr/>
          <p:nvPr/>
        </p:nvSpPr>
        <p:spPr>
          <a:xfrm>
            <a:off x="3337560" y="4572000"/>
            <a:ext cx="251460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6" name="Text 53"/>
          <p:cNvSpPr/>
          <p:nvPr/>
        </p:nvSpPr>
        <p:spPr>
          <a:xfrm>
            <a:off x="3337560" y="4572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≠ rollback (human evaluation)</a:t>
            </a:r>
            <a:endParaRPr lang="en-US" sz="800" dirty="0"/>
          </a:p>
        </p:txBody>
      </p:sp>
      <p:sp>
        <p:nvSpPr>
          <p:cNvPr id="67" name="Shape 54"/>
          <p:cNvSpPr/>
          <p:nvPr/>
        </p:nvSpPr>
        <p:spPr>
          <a:xfrm>
            <a:off x="6126480" y="3154680"/>
            <a:ext cx="2697480" cy="1737360"/>
          </a:xfrm>
          <a:prstGeom prst="rect">
            <a:avLst/>
          </a:prstGeom>
          <a:solidFill>
            <a:srgbClr val="142240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8" name="Shape 55"/>
          <p:cNvSpPr/>
          <p:nvPr/>
        </p:nvSpPr>
        <p:spPr>
          <a:xfrm>
            <a:off x="6126480" y="3154680"/>
            <a:ext cx="2697480" cy="384048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6208" y="3218688"/>
            <a:ext cx="256032" cy="256032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6537960" y="3154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71" name="Text 57"/>
          <p:cNvSpPr/>
          <p:nvPr/>
        </p:nvSpPr>
        <p:spPr>
          <a:xfrm>
            <a:off x="6236208" y="3630168"/>
            <a:ext cx="2478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 Azure DevOps pipelines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CD passes (not blocking CD)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go/no-go based on report analysis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decision by QA + Engineering Lead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inform next sprint quality actions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tracking via Allure</a:t>
            </a:r>
            <a:endParaRPr lang="en-US" sz="900" dirty="0"/>
          </a:p>
        </p:txBody>
      </p:sp>
      <p:sp>
        <p:nvSpPr>
          <p:cNvPr id="72" name="Shape 58"/>
          <p:cNvSpPr/>
          <p:nvPr/>
        </p:nvSpPr>
        <p:spPr>
          <a:xfrm>
            <a:off x="6217920" y="4572000"/>
            <a:ext cx="251460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3" name="Text 59"/>
          <p:cNvSpPr/>
          <p:nvPr/>
        </p:nvSpPr>
        <p:spPr>
          <a:xfrm>
            <a:off x="6217920" y="4572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is the orchestrator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 vs CT: Side-by-Side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strategies — CD gates promotion, CT validates overall quality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  <a:gridCol w="3383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Continuous Deployment (CD)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Continuous Testing (CT)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build promotion (go/no-go)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overall quality posture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CR approval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DevOps (manual / cron / post-CD)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→ Tekton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DevOps → Tekton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health &amp; smoke tests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regression + integration + perf +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 minutes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15–60 minutes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→ UAT → PROD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TEST, UAT (typically not PROD)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Failure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rollback (Helm)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evaluation (flaky vs. real defect)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— zero human intervention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decision by QA + Eng Lead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 in ServiceNow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Allure Report + Azure DevOps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 deployment (blocking)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CD passes (non-blocking)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2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Tolerance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— any failure = rollback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— failures are triaged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526280"/>
            <a:ext cx="8412480" cy="594360"/>
          </a:xfrm>
          <a:prstGeom prst="rect">
            <a:avLst/>
          </a:prstGeom>
          <a:solidFill>
            <a:srgbClr val="142240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617720"/>
            <a:ext cx="23774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CD: Deploy + Smoke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63240" y="4572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017520" y="4823460"/>
            <a:ext cx="8229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31920" y="4617720"/>
            <a:ext cx="237744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3931920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CT: Full Suite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46520" y="4823460"/>
            <a:ext cx="548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040880" y="4617720"/>
            <a:ext cx="15544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4617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Verdict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9651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runs first (blocking) → CT runs after (non-blocking) → Full quality picture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Execution Strategies - CD vs CT</dc:title>
  <dc:subject>PptxGenJS Presentation</dc:subject>
  <dc:creator>Quality Engineering</dc:creator>
  <cp:lastModifiedBy>Quality Engineering</cp:lastModifiedBy>
  <cp:revision>1</cp:revision>
  <dcterms:created xsi:type="dcterms:W3CDTF">2026-02-16T16:13:17Z</dcterms:created>
  <dcterms:modified xsi:type="dcterms:W3CDTF">2026-02-16T16:13:17Z</dcterms:modified>
</cp:coreProperties>
</file>