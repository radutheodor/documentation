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Test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Component, Application &amp; System test boundaries mapped to CI / CD / CT pipelines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120640" cy="4023360"/>
          </a:xfrm>
          <a:prstGeom prst="rect">
            <a:avLst/>
          </a:prstGeom>
          <a:solidFill>
            <a:srgbClr val="FFFFFF">
              <a:alpha val="50000"/>
            </a:srgbClr>
          </a:solidFill>
          <a:ln w="19050">
            <a:solidFill>
              <a:srgbClr val="96002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47472" y="795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84048" y="1033272"/>
            <a:ext cx="2331720" cy="3611880"/>
          </a:xfrm>
          <a:prstGeom prst="rect">
            <a:avLst/>
          </a:prstGeom>
          <a:solidFill>
            <a:srgbClr val="FFFFFF">
              <a:alpha val="70000"/>
            </a:srgbClr>
          </a:solidFill>
          <a:ln w="15240">
            <a:solidFill>
              <a:srgbClr val="002C4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38912" y="1069848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 — Data Ingestion (Write Side)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852928" y="1033272"/>
            <a:ext cx="2331720" cy="3611880"/>
          </a:xfrm>
          <a:prstGeom prst="rect">
            <a:avLst/>
          </a:prstGeom>
          <a:solidFill>
            <a:srgbClr val="FFFFFF">
              <a:alpha val="70000"/>
            </a:srgbClr>
          </a:solidFill>
          <a:ln w="15240">
            <a:solidFill>
              <a:srgbClr val="33566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907792" y="1069848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 — Data Serving (Read Side)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21208" y="1325880"/>
            <a:ext cx="2057400" cy="457200"/>
          </a:xfrm>
          <a:prstGeom prst="rect">
            <a:avLst/>
          </a:prstGeom>
          <a:solidFill>
            <a:srgbClr val="002C4B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41732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50392" y="1380744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" y="1600200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+ Kafka producer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21208" y="1965960"/>
            <a:ext cx="2057400" cy="457200"/>
          </a:xfrm>
          <a:prstGeom prst="rect">
            <a:avLst/>
          </a:prstGeom>
          <a:solidFill>
            <a:srgbClr val="33566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05740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50392" y="2020824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API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94360" y="2240280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 → processor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521208" y="2587752"/>
            <a:ext cx="621792" cy="411480"/>
          </a:xfrm>
          <a:prstGeom prst="rect">
            <a:avLst/>
          </a:prstGeom>
          <a:solidFill>
            <a:srgbClr val="92847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21208" y="260604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 1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1234440" y="2587752"/>
            <a:ext cx="621792" cy="411480"/>
          </a:xfrm>
          <a:prstGeom prst="rect">
            <a:avLst/>
          </a:prstGeom>
          <a:solidFill>
            <a:srgbClr val="92847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1234440" y="260604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 2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1947672" y="2587752"/>
            <a:ext cx="621792" cy="411480"/>
          </a:xfrm>
          <a:prstGeom prst="rect">
            <a:avLst/>
          </a:prstGeom>
          <a:solidFill>
            <a:srgbClr val="92847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1947672" y="260604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 3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521208" y="2441448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A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▲</a:t>
            </a:r>
            <a:endParaRPr lang="en-US" sz="600" dirty="0"/>
          </a:p>
        </p:txBody>
      </p:sp>
      <p:sp>
        <p:nvSpPr>
          <p:cNvPr id="26" name="Shape 22"/>
          <p:cNvSpPr/>
          <p:nvPr/>
        </p:nvSpPr>
        <p:spPr>
          <a:xfrm>
            <a:off x="2578608" y="2587752"/>
            <a:ext cx="411480" cy="822960"/>
          </a:xfrm>
          <a:prstGeom prst="rect">
            <a:avLst/>
          </a:prstGeom>
          <a:solidFill>
            <a:srgbClr val="8E654C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2660904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578608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2578608" y="1554480"/>
            <a:ext cx="0" cy="1216152"/>
          </a:xfrm>
          <a:prstGeom prst="line">
            <a:avLst/>
          </a:prstGeom>
          <a:noFill/>
          <a:ln w="15240">
            <a:solidFill>
              <a:srgbClr val="002C4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578608" y="2194560"/>
            <a:ext cx="0" cy="850392"/>
          </a:xfrm>
          <a:prstGeom prst="line">
            <a:avLst/>
          </a:prstGeom>
          <a:noFill/>
          <a:ln w="15240">
            <a:solidFill>
              <a:srgbClr val="33566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990088" y="1490472"/>
            <a:ext cx="2057400" cy="457200"/>
          </a:xfrm>
          <a:prstGeom prst="rect">
            <a:avLst/>
          </a:prstGeom>
          <a:solidFill>
            <a:srgbClr val="33566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1581912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319272" y="1545336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API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3063240" y="1764792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Back-For-Front — reads from Mongo</a:t>
            </a:r>
            <a:endParaRPr lang="en-US" sz="700" dirty="0"/>
          </a:p>
        </p:txBody>
      </p:sp>
      <p:sp>
        <p:nvSpPr>
          <p:cNvPr id="35" name="Shape 29"/>
          <p:cNvSpPr/>
          <p:nvPr/>
        </p:nvSpPr>
        <p:spPr>
          <a:xfrm>
            <a:off x="2990088" y="2953512"/>
            <a:ext cx="0" cy="-1234440"/>
          </a:xfrm>
          <a:prstGeom prst="line">
            <a:avLst/>
          </a:prstGeom>
          <a:noFill/>
          <a:ln w="15240">
            <a:solidFill>
              <a:srgbClr val="8E654C"/>
            </a:solidFill>
            <a:prstDash val="dash"/>
          </a:ln>
        </p:spPr>
      </p:sp>
      <p:sp>
        <p:nvSpPr>
          <p:cNvPr id="36" name="Shape 30"/>
          <p:cNvSpPr/>
          <p:nvPr/>
        </p:nvSpPr>
        <p:spPr>
          <a:xfrm>
            <a:off x="2990088" y="2130552"/>
            <a:ext cx="2057400" cy="457200"/>
          </a:xfrm>
          <a:prstGeom prst="rect">
            <a:avLst/>
          </a:prstGeom>
          <a:solidFill>
            <a:srgbClr val="5A8BA5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2221992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319272" y="2185416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3063240" y="2404872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Dashboard + Assessment</a:t>
            </a:r>
            <a:endParaRPr lang="en-US" sz="700" dirty="0"/>
          </a:p>
        </p:txBody>
      </p:sp>
      <p:sp>
        <p:nvSpPr>
          <p:cNvPr id="40" name="Shape 33"/>
          <p:cNvSpPr/>
          <p:nvPr/>
        </p:nvSpPr>
        <p:spPr>
          <a:xfrm>
            <a:off x="4018788" y="1947672"/>
            <a:ext cx="0" cy="182880"/>
          </a:xfrm>
          <a:prstGeom prst="line">
            <a:avLst/>
          </a:prstGeom>
          <a:noFill/>
          <a:ln w="15240">
            <a:solidFill>
              <a:srgbClr val="33566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064508" y="196596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600" dirty="0"/>
          </a:p>
        </p:txBody>
      </p:sp>
      <p:sp>
        <p:nvSpPr>
          <p:cNvPr id="42" name="Shape 35"/>
          <p:cNvSpPr/>
          <p:nvPr/>
        </p:nvSpPr>
        <p:spPr>
          <a:xfrm>
            <a:off x="228600" y="1344168"/>
            <a:ext cx="73152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36"/>
          <p:cNvSpPr/>
          <p:nvPr/>
        </p:nvSpPr>
        <p:spPr>
          <a:xfrm>
            <a:off x="-274320" y="1344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650" dirty="0"/>
          </a:p>
          <a:p>
            <a:pPr algn="r"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650" dirty="0"/>
          </a:p>
        </p:txBody>
      </p:sp>
      <p:sp>
        <p:nvSpPr>
          <p:cNvPr id="44" name="Shape 37"/>
          <p:cNvSpPr/>
          <p:nvPr/>
        </p:nvSpPr>
        <p:spPr>
          <a:xfrm>
            <a:off x="521208" y="1819656"/>
            <a:ext cx="2057400" cy="182880"/>
          </a:xfrm>
          <a:prstGeom prst="rect">
            <a:avLst/>
          </a:prstGeom>
          <a:solidFill>
            <a:srgbClr val="EDE8E3"/>
          </a:solidFill>
          <a:ln w="6350">
            <a:solidFill>
              <a:srgbClr val="002C4B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521208" y="181965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 — CI (PR) — Azure DevOps</a:t>
            </a:r>
            <a:endParaRPr lang="en-US" sz="600" dirty="0"/>
          </a:p>
        </p:txBody>
      </p:sp>
      <p:sp>
        <p:nvSpPr>
          <p:cNvPr id="46" name="Shape 39"/>
          <p:cNvSpPr/>
          <p:nvPr/>
        </p:nvSpPr>
        <p:spPr>
          <a:xfrm>
            <a:off x="521208" y="2459736"/>
            <a:ext cx="2057400" cy="182880"/>
          </a:xfrm>
          <a:prstGeom prst="rect">
            <a:avLst/>
          </a:prstGeom>
          <a:solidFill>
            <a:srgbClr val="EDE8E3"/>
          </a:solidFill>
          <a:ln w="6350">
            <a:solidFill>
              <a:srgbClr val="33566F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21208" y="245973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 — CI (PR) — Azure DevOps</a:t>
            </a:r>
            <a:endParaRPr lang="en-US" sz="600" dirty="0"/>
          </a:p>
        </p:txBody>
      </p:sp>
      <p:sp>
        <p:nvSpPr>
          <p:cNvPr id="48" name="Shape 41"/>
          <p:cNvSpPr/>
          <p:nvPr/>
        </p:nvSpPr>
        <p:spPr>
          <a:xfrm>
            <a:off x="2990088" y="1984248"/>
            <a:ext cx="2057400" cy="182880"/>
          </a:xfrm>
          <a:prstGeom prst="rect">
            <a:avLst/>
          </a:prstGeom>
          <a:solidFill>
            <a:srgbClr val="EDE8E3"/>
          </a:solidFill>
          <a:ln w="6350">
            <a:solidFill>
              <a:srgbClr val="33566F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2990088" y="19842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 — CI (PR) — Azure DevOps</a:t>
            </a:r>
            <a:endParaRPr lang="en-US" sz="600" dirty="0"/>
          </a:p>
        </p:txBody>
      </p:sp>
      <p:sp>
        <p:nvSpPr>
          <p:cNvPr id="50" name="Shape 43"/>
          <p:cNvSpPr/>
          <p:nvPr/>
        </p:nvSpPr>
        <p:spPr>
          <a:xfrm>
            <a:off x="2990088" y="2624328"/>
            <a:ext cx="2057400" cy="182880"/>
          </a:xfrm>
          <a:prstGeom prst="rect">
            <a:avLst/>
          </a:prstGeom>
          <a:solidFill>
            <a:srgbClr val="EDE8E3"/>
          </a:solidFill>
          <a:ln w="6350">
            <a:solidFill>
              <a:srgbClr val="5A8BA5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2990088" y="26243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A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 — CI (PR) — Azure DevOps</a:t>
            </a:r>
            <a:endParaRPr lang="en-US" sz="600" dirty="0"/>
          </a:p>
        </p:txBody>
      </p:sp>
      <p:sp>
        <p:nvSpPr>
          <p:cNvPr id="52" name="Shape 45"/>
          <p:cNvSpPr/>
          <p:nvPr/>
        </p:nvSpPr>
        <p:spPr>
          <a:xfrm>
            <a:off x="438912" y="4297680"/>
            <a:ext cx="2221992" cy="21945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53" name="Text 46"/>
          <p:cNvSpPr/>
          <p:nvPr/>
        </p:nvSpPr>
        <p:spPr>
          <a:xfrm>
            <a:off x="438912" y="4297680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INTEGRATION — CT (Post-CD) — ADO + Tekton</a:t>
            </a:r>
            <a:endParaRPr lang="en-US" sz="700" dirty="0"/>
          </a:p>
        </p:txBody>
      </p:sp>
      <p:sp>
        <p:nvSpPr>
          <p:cNvPr id="54" name="Shape 47"/>
          <p:cNvSpPr/>
          <p:nvPr/>
        </p:nvSpPr>
        <p:spPr>
          <a:xfrm>
            <a:off x="2907792" y="4297680"/>
            <a:ext cx="2221992" cy="219456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55" name="Text 48"/>
          <p:cNvSpPr/>
          <p:nvPr/>
        </p:nvSpPr>
        <p:spPr>
          <a:xfrm>
            <a:off x="2907792" y="4297680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INTEGRATION — CT (Post-CD) — ADO + Tekton</a:t>
            </a:r>
            <a:endParaRPr lang="en-US" sz="700" dirty="0"/>
          </a:p>
        </p:txBody>
      </p:sp>
      <p:sp>
        <p:nvSpPr>
          <p:cNvPr id="56" name="Shape 49"/>
          <p:cNvSpPr/>
          <p:nvPr/>
        </p:nvSpPr>
        <p:spPr>
          <a:xfrm>
            <a:off x="329184" y="4462272"/>
            <a:ext cx="5010912" cy="219456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57" name="Text 50"/>
          <p:cNvSpPr/>
          <p:nvPr/>
        </p:nvSpPr>
        <p:spPr>
          <a:xfrm>
            <a:off x="329184" y="4462272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 — CT (Post-CD, TEST/UAT only) — ADO + Tekton</a:t>
            </a:r>
            <a:endParaRPr lang="en-US" sz="750" dirty="0"/>
          </a:p>
        </p:txBody>
      </p:sp>
      <p:sp>
        <p:nvSpPr>
          <p:cNvPr id="58" name="Shape 51"/>
          <p:cNvSpPr/>
          <p:nvPr/>
        </p:nvSpPr>
        <p:spPr>
          <a:xfrm>
            <a:off x="5623560" y="749808"/>
            <a:ext cx="3337560" cy="201168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59" name="Text 52"/>
          <p:cNvSpPr/>
          <p:nvPr/>
        </p:nvSpPr>
        <p:spPr>
          <a:xfrm>
            <a:off x="5696712" y="74980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Tests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5623560" y="987552"/>
            <a:ext cx="3337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4"/>
          <p:cNvSpPr/>
          <p:nvPr/>
        </p:nvSpPr>
        <p:spPr>
          <a:xfrm>
            <a:off x="5696712" y="10058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696712" y="115214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→ mocked Mongo</a:t>
            </a:r>
            <a:endParaRPr lang="en-US" sz="650" dirty="0"/>
          </a:p>
        </p:txBody>
      </p:sp>
      <p:sp>
        <p:nvSpPr>
          <p:cNvPr id="63" name="Shape 56"/>
          <p:cNvSpPr/>
          <p:nvPr/>
        </p:nvSpPr>
        <p:spPr>
          <a:xfrm>
            <a:off x="7726680" y="1024128"/>
            <a:ext cx="256032" cy="12801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64" name="Text 57"/>
          <p:cNvSpPr/>
          <p:nvPr/>
        </p:nvSpPr>
        <p:spPr>
          <a:xfrm>
            <a:off x="7726680" y="102412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600" dirty="0"/>
          </a:p>
        </p:txBody>
      </p:sp>
      <p:sp>
        <p:nvSpPr>
          <p:cNvPr id="65" name="Text 58"/>
          <p:cNvSpPr/>
          <p:nvPr/>
        </p:nvSpPr>
        <p:spPr>
          <a:xfrm>
            <a:off x="8028432" y="102412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Commit</a:t>
            </a:r>
            <a:endParaRPr lang="en-US" sz="600" dirty="0"/>
          </a:p>
        </p:txBody>
      </p:sp>
      <p:sp>
        <p:nvSpPr>
          <p:cNvPr id="66" name="Text 59"/>
          <p:cNvSpPr/>
          <p:nvPr/>
        </p:nvSpPr>
        <p:spPr>
          <a:xfrm>
            <a:off x="8028432" y="117043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550" dirty="0"/>
          </a:p>
        </p:txBody>
      </p:sp>
      <p:sp>
        <p:nvSpPr>
          <p:cNvPr id="67" name="Shape 60"/>
          <p:cNvSpPr/>
          <p:nvPr/>
        </p:nvSpPr>
        <p:spPr>
          <a:xfrm>
            <a:off x="5623560" y="1298448"/>
            <a:ext cx="3337560" cy="310896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68" name="Text 61"/>
          <p:cNvSpPr/>
          <p:nvPr/>
        </p:nvSpPr>
        <p:spPr>
          <a:xfrm>
            <a:off x="5696712" y="13167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API</a:t>
            </a:r>
            <a:endParaRPr lang="en-US" sz="800" dirty="0"/>
          </a:p>
        </p:txBody>
      </p:sp>
      <p:sp>
        <p:nvSpPr>
          <p:cNvPr id="69" name="Text 62"/>
          <p:cNvSpPr/>
          <p:nvPr/>
        </p:nvSpPr>
        <p:spPr>
          <a:xfrm>
            <a:off x="5696712" y="146304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Kafka → mocked Mongo</a:t>
            </a:r>
            <a:endParaRPr lang="en-US" sz="650" dirty="0"/>
          </a:p>
        </p:txBody>
      </p:sp>
      <p:sp>
        <p:nvSpPr>
          <p:cNvPr id="70" name="Shape 63"/>
          <p:cNvSpPr/>
          <p:nvPr/>
        </p:nvSpPr>
        <p:spPr>
          <a:xfrm>
            <a:off x="7726680" y="1335024"/>
            <a:ext cx="256032" cy="12801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71" name="Text 64"/>
          <p:cNvSpPr/>
          <p:nvPr/>
        </p:nvSpPr>
        <p:spPr>
          <a:xfrm>
            <a:off x="7726680" y="13350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600" dirty="0"/>
          </a:p>
        </p:txBody>
      </p:sp>
      <p:sp>
        <p:nvSpPr>
          <p:cNvPr id="72" name="Text 65"/>
          <p:cNvSpPr/>
          <p:nvPr/>
        </p:nvSpPr>
        <p:spPr>
          <a:xfrm>
            <a:off x="8028432" y="133502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Commit</a:t>
            </a:r>
            <a:endParaRPr lang="en-US" sz="600" dirty="0"/>
          </a:p>
        </p:txBody>
      </p:sp>
      <p:sp>
        <p:nvSpPr>
          <p:cNvPr id="73" name="Text 66"/>
          <p:cNvSpPr/>
          <p:nvPr/>
        </p:nvSpPr>
        <p:spPr>
          <a:xfrm>
            <a:off x="8028432" y="1481328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550" dirty="0"/>
          </a:p>
        </p:txBody>
      </p:sp>
      <p:sp>
        <p:nvSpPr>
          <p:cNvPr id="74" name="Shape 67"/>
          <p:cNvSpPr/>
          <p:nvPr/>
        </p:nvSpPr>
        <p:spPr>
          <a:xfrm>
            <a:off x="5623560" y="1609344"/>
            <a:ext cx="3337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68"/>
          <p:cNvSpPr/>
          <p:nvPr/>
        </p:nvSpPr>
        <p:spPr>
          <a:xfrm>
            <a:off x="5696712" y="16276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API</a:t>
            </a:r>
            <a:endParaRPr lang="en-US" sz="800" dirty="0"/>
          </a:p>
        </p:txBody>
      </p:sp>
      <p:sp>
        <p:nvSpPr>
          <p:cNvPr id="76" name="Text 69"/>
          <p:cNvSpPr/>
          <p:nvPr/>
        </p:nvSpPr>
        <p:spPr>
          <a:xfrm>
            <a:off x="5696712" y="177393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Mongo → verify REST responses</a:t>
            </a:r>
            <a:endParaRPr lang="en-US" sz="650" dirty="0"/>
          </a:p>
        </p:txBody>
      </p:sp>
      <p:sp>
        <p:nvSpPr>
          <p:cNvPr id="77" name="Shape 70"/>
          <p:cNvSpPr/>
          <p:nvPr/>
        </p:nvSpPr>
        <p:spPr>
          <a:xfrm>
            <a:off x="7726680" y="1645920"/>
            <a:ext cx="256032" cy="12801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78" name="Text 71"/>
          <p:cNvSpPr/>
          <p:nvPr/>
        </p:nvSpPr>
        <p:spPr>
          <a:xfrm>
            <a:off x="7726680" y="164592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600" dirty="0"/>
          </a:p>
        </p:txBody>
      </p:sp>
      <p:sp>
        <p:nvSpPr>
          <p:cNvPr id="79" name="Text 72"/>
          <p:cNvSpPr/>
          <p:nvPr/>
        </p:nvSpPr>
        <p:spPr>
          <a:xfrm>
            <a:off x="8028432" y="164592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Commit</a:t>
            </a:r>
            <a:endParaRPr lang="en-US" sz="600" dirty="0"/>
          </a:p>
        </p:txBody>
      </p:sp>
      <p:sp>
        <p:nvSpPr>
          <p:cNvPr id="80" name="Text 73"/>
          <p:cNvSpPr/>
          <p:nvPr/>
        </p:nvSpPr>
        <p:spPr>
          <a:xfrm>
            <a:off x="8028432" y="179222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550" dirty="0"/>
          </a:p>
        </p:txBody>
      </p:sp>
      <p:sp>
        <p:nvSpPr>
          <p:cNvPr id="81" name="Shape 74"/>
          <p:cNvSpPr/>
          <p:nvPr/>
        </p:nvSpPr>
        <p:spPr>
          <a:xfrm>
            <a:off x="5623560" y="1920240"/>
            <a:ext cx="3337560" cy="310896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82" name="Text 75"/>
          <p:cNvSpPr/>
          <p:nvPr/>
        </p:nvSpPr>
        <p:spPr>
          <a:xfrm>
            <a:off x="5696712" y="193852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FE</a:t>
            </a:r>
            <a:endParaRPr lang="en-US" sz="800" dirty="0"/>
          </a:p>
        </p:txBody>
      </p:sp>
      <p:sp>
        <p:nvSpPr>
          <p:cNvPr id="83" name="Text 76"/>
          <p:cNvSpPr/>
          <p:nvPr/>
        </p:nvSpPr>
        <p:spPr>
          <a:xfrm>
            <a:off x="5696712" y="208483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BFF (MSW) → UI interactions</a:t>
            </a:r>
            <a:endParaRPr lang="en-US" sz="650" dirty="0"/>
          </a:p>
        </p:txBody>
      </p:sp>
      <p:sp>
        <p:nvSpPr>
          <p:cNvPr id="84" name="Shape 77"/>
          <p:cNvSpPr/>
          <p:nvPr/>
        </p:nvSpPr>
        <p:spPr>
          <a:xfrm>
            <a:off x="7726680" y="1956816"/>
            <a:ext cx="256032" cy="12801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85" name="Text 78"/>
          <p:cNvSpPr/>
          <p:nvPr/>
        </p:nvSpPr>
        <p:spPr>
          <a:xfrm>
            <a:off x="7726680" y="19568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600" dirty="0"/>
          </a:p>
        </p:txBody>
      </p:sp>
      <p:sp>
        <p:nvSpPr>
          <p:cNvPr id="86" name="Text 79"/>
          <p:cNvSpPr/>
          <p:nvPr/>
        </p:nvSpPr>
        <p:spPr>
          <a:xfrm>
            <a:off x="8028432" y="195681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Commit</a:t>
            </a:r>
            <a:endParaRPr lang="en-US" sz="600" dirty="0"/>
          </a:p>
        </p:txBody>
      </p:sp>
      <p:sp>
        <p:nvSpPr>
          <p:cNvPr id="87" name="Text 80"/>
          <p:cNvSpPr/>
          <p:nvPr/>
        </p:nvSpPr>
        <p:spPr>
          <a:xfrm>
            <a:off x="8028432" y="210312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550" dirty="0"/>
          </a:p>
        </p:txBody>
      </p:sp>
      <p:sp>
        <p:nvSpPr>
          <p:cNvPr id="88" name="Shape 81"/>
          <p:cNvSpPr/>
          <p:nvPr/>
        </p:nvSpPr>
        <p:spPr>
          <a:xfrm>
            <a:off x="5623560" y="2304288"/>
            <a:ext cx="3337560" cy="219456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89" name="Text 82"/>
          <p:cNvSpPr/>
          <p:nvPr/>
        </p:nvSpPr>
        <p:spPr>
          <a:xfrm>
            <a:off x="5696712" y="230428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Integration Tests</a:t>
            </a:r>
            <a:endParaRPr lang="en-US" sz="900" dirty="0"/>
          </a:p>
        </p:txBody>
      </p:sp>
      <p:sp>
        <p:nvSpPr>
          <p:cNvPr id="90" name="Shape 83"/>
          <p:cNvSpPr/>
          <p:nvPr/>
        </p:nvSpPr>
        <p:spPr>
          <a:xfrm>
            <a:off x="5623560" y="2523744"/>
            <a:ext cx="33375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4"/>
          <p:cNvSpPr/>
          <p:nvPr/>
        </p:nvSpPr>
        <p:spPr>
          <a:xfrm>
            <a:off x="5696712" y="254203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Path (App A)</a:t>
            </a:r>
            <a:endParaRPr lang="en-US" sz="800" dirty="0"/>
          </a:p>
        </p:txBody>
      </p:sp>
      <p:sp>
        <p:nvSpPr>
          <p:cNvPr id="92" name="Text 85"/>
          <p:cNvSpPr/>
          <p:nvPr/>
        </p:nvSpPr>
        <p:spPr>
          <a:xfrm>
            <a:off x="5696712" y="268833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→ real Mongo / Kafka → real Mongo</a:t>
            </a:r>
            <a:endParaRPr lang="en-US" sz="650" dirty="0"/>
          </a:p>
        </p:txBody>
      </p:sp>
      <p:sp>
        <p:nvSpPr>
          <p:cNvPr id="93" name="Shape 86"/>
          <p:cNvSpPr/>
          <p:nvPr/>
        </p:nvSpPr>
        <p:spPr>
          <a:xfrm>
            <a:off x="7726680" y="2560320"/>
            <a:ext cx="256032" cy="128016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94" name="Text 87"/>
          <p:cNvSpPr/>
          <p:nvPr/>
        </p:nvSpPr>
        <p:spPr>
          <a:xfrm>
            <a:off x="7726680" y="256032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600" dirty="0"/>
          </a:p>
        </p:txBody>
      </p:sp>
      <p:sp>
        <p:nvSpPr>
          <p:cNvPr id="95" name="Text 88"/>
          <p:cNvSpPr/>
          <p:nvPr/>
        </p:nvSpPr>
        <p:spPr>
          <a:xfrm>
            <a:off x="8028432" y="256032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Post-CD  ·  TEST, UAT</a:t>
            </a:r>
            <a:endParaRPr lang="en-US" sz="600" dirty="0"/>
          </a:p>
        </p:txBody>
      </p:sp>
      <p:sp>
        <p:nvSpPr>
          <p:cNvPr id="96" name="Text 89"/>
          <p:cNvSpPr/>
          <p:nvPr/>
        </p:nvSpPr>
        <p:spPr>
          <a:xfrm>
            <a:off x="8028432" y="270662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+ Tekton</a:t>
            </a:r>
            <a:endParaRPr lang="en-US" sz="550" dirty="0"/>
          </a:p>
        </p:txBody>
      </p:sp>
      <p:sp>
        <p:nvSpPr>
          <p:cNvPr id="97" name="Shape 90"/>
          <p:cNvSpPr/>
          <p:nvPr/>
        </p:nvSpPr>
        <p:spPr>
          <a:xfrm>
            <a:off x="5623560" y="2889504"/>
            <a:ext cx="3337560" cy="365760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98" name="Text 91"/>
          <p:cNvSpPr/>
          <p:nvPr/>
        </p:nvSpPr>
        <p:spPr>
          <a:xfrm>
            <a:off x="5696712" y="290779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Path (App B)</a:t>
            </a:r>
            <a:endParaRPr lang="en-US" sz="800" dirty="0"/>
          </a:p>
        </p:txBody>
      </p:sp>
      <p:sp>
        <p:nvSpPr>
          <p:cNvPr id="99" name="Text 92"/>
          <p:cNvSpPr/>
          <p:nvPr/>
        </p:nvSpPr>
        <p:spPr>
          <a:xfrm>
            <a:off x="5696712" y="30540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Mongo → BFF → Angular renders</a:t>
            </a:r>
            <a:endParaRPr lang="en-US" sz="650" dirty="0"/>
          </a:p>
        </p:txBody>
      </p:sp>
      <p:sp>
        <p:nvSpPr>
          <p:cNvPr id="100" name="Shape 93"/>
          <p:cNvSpPr/>
          <p:nvPr/>
        </p:nvSpPr>
        <p:spPr>
          <a:xfrm>
            <a:off x="7726680" y="2926080"/>
            <a:ext cx="256032" cy="128016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01" name="Text 94"/>
          <p:cNvSpPr/>
          <p:nvPr/>
        </p:nvSpPr>
        <p:spPr>
          <a:xfrm>
            <a:off x="7726680" y="29260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600" dirty="0"/>
          </a:p>
        </p:txBody>
      </p:sp>
      <p:sp>
        <p:nvSpPr>
          <p:cNvPr id="102" name="Text 95"/>
          <p:cNvSpPr/>
          <p:nvPr/>
        </p:nvSpPr>
        <p:spPr>
          <a:xfrm>
            <a:off x="8028432" y="292608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Post-CD  ·  TEST, UAT</a:t>
            </a:r>
            <a:endParaRPr lang="en-US" sz="600" dirty="0"/>
          </a:p>
        </p:txBody>
      </p:sp>
      <p:sp>
        <p:nvSpPr>
          <p:cNvPr id="103" name="Text 96"/>
          <p:cNvSpPr/>
          <p:nvPr/>
        </p:nvSpPr>
        <p:spPr>
          <a:xfrm>
            <a:off x="8028432" y="307238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+ Tekton</a:t>
            </a:r>
            <a:endParaRPr lang="en-US" sz="550" dirty="0"/>
          </a:p>
        </p:txBody>
      </p:sp>
      <p:sp>
        <p:nvSpPr>
          <p:cNvPr id="104" name="Shape 97"/>
          <p:cNvSpPr/>
          <p:nvPr/>
        </p:nvSpPr>
        <p:spPr>
          <a:xfrm>
            <a:off x="5623560" y="3328416"/>
            <a:ext cx="3337560" cy="219456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105" name="Text 98"/>
          <p:cNvSpPr/>
          <p:nvPr/>
        </p:nvSpPr>
        <p:spPr>
          <a:xfrm>
            <a:off x="5696712" y="3328416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Tests (E2E)</a:t>
            </a:r>
            <a:endParaRPr lang="en-US" sz="900" dirty="0"/>
          </a:p>
        </p:txBody>
      </p:sp>
      <p:sp>
        <p:nvSpPr>
          <p:cNvPr id="106" name="Shape 99"/>
          <p:cNvSpPr/>
          <p:nvPr/>
        </p:nvSpPr>
        <p:spPr>
          <a:xfrm>
            <a:off x="5623560" y="3547872"/>
            <a:ext cx="33375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Text 100"/>
          <p:cNvSpPr/>
          <p:nvPr/>
        </p:nvSpPr>
        <p:spPr>
          <a:xfrm>
            <a:off x="5696712" y="356616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Chain E2E</a:t>
            </a:r>
            <a:endParaRPr lang="en-US" sz="800" dirty="0"/>
          </a:p>
        </p:txBody>
      </p:sp>
      <p:sp>
        <p:nvSpPr>
          <p:cNvPr id="108" name="Text 101"/>
          <p:cNvSpPr/>
          <p:nvPr/>
        </p:nvSpPr>
        <p:spPr>
          <a:xfrm>
            <a:off x="5696712" y="371246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REST/Kafka → Mongo → BFF → Angular</a:t>
            </a:r>
            <a:endParaRPr lang="en-US" sz="650" dirty="0"/>
          </a:p>
        </p:txBody>
      </p:sp>
      <p:sp>
        <p:nvSpPr>
          <p:cNvPr id="109" name="Shape 102"/>
          <p:cNvSpPr/>
          <p:nvPr/>
        </p:nvSpPr>
        <p:spPr>
          <a:xfrm>
            <a:off x="7726680" y="3584448"/>
            <a:ext cx="256032" cy="128016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110" name="Text 103"/>
          <p:cNvSpPr/>
          <p:nvPr/>
        </p:nvSpPr>
        <p:spPr>
          <a:xfrm>
            <a:off x="7726680" y="35844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600" dirty="0"/>
          </a:p>
        </p:txBody>
      </p:sp>
      <p:sp>
        <p:nvSpPr>
          <p:cNvPr id="111" name="Text 104"/>
          <p:cNvSpPr/>
          <p:nvPr/>
        </p:nvSpPr>
        <p:spPr>
          <a:xfrm>
            <a:off x="8028432" y="358444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Post-CD  ·  TEST, UAT</a:t>
            </a:r>
            <a:endParaRPr lang="en-US" sz="600" dirty="0"/>
          </a:p>
        </p:txBody>
      </p:sp>
      <p:sp>
        <p:nvSpPr>
          <p:cNvPr id="112" name="Text 105"/>
          <p:cNvSpPr/>
          <p:nvPr/>
        </p:nvSpPr>
        <p:spPr>
          <a:xfrm>
            <a:off x="8028432" y="373075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+ Tekton</a:t>
            </a:r>
            <a:endParaRPr lang="en-US" sz="550" dirty="0"/>
          </a:p>
        </p:txBody>
      </p:sp>
      <p:sp>
        <p:nvSpPr>
          <p:cNvPr id="113" name="Shape 106"/>
          <p:cNvSpPr/>
          <p:nvPr/>
        </p:nvSpPr>
        <p:spPr>
          <a:xfrm>
            <a:off x="5623560" y="4005072"/>
            <a:ext cx="3337560" cy="219456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14" name="Text 107"/>
          <p:cNvSpPr/>
          <p:nvPr/>
        </p:nvSpPr>
        <p:spPr>
          <a:xfrm>
            <a:off x="5696712" y="4005072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 Smoke Tests (Post-Deployment)</a:t>
            </a:r>
            <a:endParaRPr lang="en-US" sz="900" dirty="0"/>
          </a:p>
        </p:txBody>
      </p:sp>
      <p:sp>
        <p:nvSpPr>
          <p:cNvPr id="115" name="Shape 108"/>
          <p:cNvSpPr/>
          <p:nvPr/>
        </p:nvSpPr>
        <p:spPr>
          <a:xfrm>
            <a:off x="5623560" y="4224528"/>
            <a:ext cx="3337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Text 109"/>
          <p:cNvSpPr/>
          <p:nvPr/>
        </p:nvSpPr>
        <p:spPr>
          <a:xfrm>
            <a:off x="5696712" y="424281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Universal</a:t>
            </a:r>
            <a:endParaRPr lang="en-US" sz="750" dirty="0"/>
          </a:p>
        </p:txBody>
      </p:sp>
      <p:sp>
        <p:nvSpPr>
          <p:cNvPr id="117" name="Text 110"/>
          <p:cNvSpPr/>
          <p:nvPr/>
        </p:nvSpPr>
        <p:spPr>
          <a:xfrm>
            <a:off x="5696712" y="4379976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version, read-only API checks</a:t>
            </a:r>
            <a:endParaRPr lang="en-US" sz="600" dirty="0"/>
          </a:p>
        </p:txBody>
      </p:sp>
      <p:sp>
        <p:nvSpPr>
          <p:cNvPr id="118" name="Shape 111"/>
          <p:cNvSpPr/>
          <p:nvPr/>
        </p:nvSpPr>
        <p:spPr>
          <a:xfrm>
            <a:off x="7726680" y="4261104"/>
            <a:ext cx="256032" cy="128016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19" name="Text 112"/>
          <p:cNvSpPr/>
          <p:nvPr/>
        </p:nvSpPr>
        <p:spPr>
          <a:xfrm>
            <a:off x="7726680" y="426110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600" dirty="0"/>
          </a:p>
        </p:txBody>
      </p:sp>
      <p:sp>
        <p:nvSpPr>
          <p:cNvPr id="120" name="Text 113"/>
          <p:cNvSpPr/>
          <p:nvPr/>
        </p:nvSpPr>
        <p:spPr>
          <a:xfrm>
            <a:off x="8028432" y="426110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(incl. PROD)</a:t>
            </a:r>
            <a:endParaRPr lang="en-US" sz="600" dirty="0"/>
          </a:p>
        </p:txBody>
      </p:sp>
      <p:sp>
        <p:nvSpPr>
          <p:cNvPr id="121" name="Text 114"/>
          <p:cNvSpPr/>
          <p:nvPr/>
        </p:nvSpPr>
        <p:spPr>
          <a:xfrm>
            <a:off x="8028432" y="438912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 (ServiceNow)</a:t>
            </a:r>
            <a:endParaRPr lang="en-US" sz="550" dirty="0"/>
          </a:p>
        </p:txBody>
      </p:sp>
      <p:sp>
        <p:nvSpPr>
          <p:cNvPr id="122" name="Shape 115"/>
          <p:cNvSpPr/>
          <p:nvPr/>
        </p:nvSpPr>
        <p:spPr>
          <a:xfrm>
            <a:off x="5623560" y="4535424"/>
            <a:ext cx="3337560" cy="310896"/>
          </a:xfrm>
          <a:prstGeom prst="rect">
            <a:avLst/>
          </a:prstGeom>
          <a:solidFill>
            <a:srgbClr val="F5F2EF"/>
          </a:solidFill>
          <a:ln/>
        </p:spPr>
      </p:sp>
      <p:sp>
        <p:nvSpPr>
          <p:cNvPr id="123" name="Text 116"/>
          <p:cNvSpPr/>
          <p:nvPr/>
        </p:nvSpPr>
        <p:spPr>
          <a:xfrm>
            <a:off x="5696712" y="455371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Write verify</a:t>
            </a:r>
            <a:endParaRPr lang="en-US" sz="750" dirty="0"/>
          </a:p>
        </p:txBody>
      </p:sp>
      <p:sp>
        <p:nvSpPr>
          <p:cNvPr id="124" name="Text 117"/>
          <p:cNvSpPr/>
          <p:nvPr/>
        </p:nvSpPr>
        <p:spPr>
          <a:xfrm>
            <a:off x="5696712" y="469087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verify → cleanup (idempotent)</a:t>
            </a:r>
            <a:endParaRPr lang="en-US" sz="600" dirty="0"/>
          </a:p>
        </p:txBody>
      </p:sp>
      <p:sp>
        <p:nvSpPr>
          <p:cNvPr id="125" name="Shape 118"/>
          <p:cNvSpPr/>
          <p:nvPr/>
        </p:nvSpPr>
        <p:spPr>
          <a:xfrm>
            <a:off x="7726680" y="4572000"/>
            <a:ext cx="256032" cy="128016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26" name="Text 119"/>
          <p:cNvSpPr/>
          <p:nvPr/>
        </p:nvSpPr>
        <p:spPr>
          <a:xfrm>
            <a:off x="7726680" y="457200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600" dirty="0"/>
          </a:p>
        </p:txBody>
      </p:sp>
      <p:sp>
        <p:nvSpPr>
          <p:cNvPr id="127" name="Text 120"/>
          <p:cNvSpPr/>
          <p:nvPr/>
        </p:nvSpPr>
        <p:spPr>
          <a:xfrm>
            <a:off x="8028432" y="457200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UAT only</a:t>
            </a:r>
            <a:endParaRPr lang="en-US" sz="600" dirty="0"/>
          </a:p>
        </p:txBody>
      </p:sp>
      <p:sp>
        <p:nvSpPr>
          <p:cNvPr id="128" name="Text 121"/>
          <p:cNvSpPr/>
          <p:nvPr/>
        </p:nvSpPr>
        <p:spPr>
          <a:xfrm>
            <a:off x="8028432" y="470001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 (ServiceNow)</a:t>
            </a:r>
            <a:endParaRPr lang="en-US" sz="550" dirty="0"/>
          </a:p>
        </p:txBody>
      </p:sp>
      <p:sp>
        <p:nvSpPr>
          <p:cNvPr id="129" name="Shape 122"/>
          <p:cNvSpPr/>
          <p:nvPr/>
        </p:nvSpPr>
        <p:spPr>
          <a:xfrm>
            <a:off x="5623560" y="4846320"/>
            <a:ext cx="3337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3"/>
          <p:cNvSpPr/>
          <p:nvPr/>
        </p:nvSpPr>
        <p:spPr>
          <a:xfrm>
            <a:off x="5696712" y="48646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Infra verify</a:t>
            </a:r>
            <a:endParaRPr lang="en-US" sz="750" dirty="0"/>
          </a:p>
        </p:txBody>
      </p:sp>
      <p:sp>
        <p:nvSpPr>
          <p:cNvPr id="131" name="Text 124"/>
          <p:cNvSpPr/>
          <p:nvPr/>
        </p:nvSpPr>
        <p:spPr>
          <a:xfrm>
            <a:off x="5696712" y="500176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E2E produce → consume → verify</a:t>
            </a:r>
            <a:endParaRPr lang="en-US" sz="600" dirty="0"/>
          </a:p>
        </p:txBody>
      </p:sp>
      <p:sp>
        <p:nvSpPr>
          <p:cNvPr id="132" name="Shape 125"/>
          <p:cNvSpPr/>
          <p:nvPr/>
        </p:nvSpPr>
        <p:spPr>
          <a:xfrm>
            <a:off x="7726680" y="4882896"/>
            <a:ext cx="256032" cy="128016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33" name="Text 126"/>
          <p:cNvSpPr/>
          <p:nvPr/>
        </p:nvSpPr>
        <p:spPr>
          <a:xfrm>
            <a:off x="7726680" y="488289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600" dirty="0"/>
          </a:p>
        </p:txBody>
      </p:sp>
      <p:sp>
        <p:nvSpPr>
          <p:cNvPr id="134" name="Text 127"/>
          <p:cNvSpPr/>
          <p:nvPr/>
        </p:nvSpPr>
        <p:spPr>
          <a:xfrm>
            <a:off x="8028432" y="488289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5A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only</a:t>
            </a:r>
            <a:endParaRPr lang="en-US" sz="600" dirty="0"/>
          </a:p>
        </p:txBody>
      </p:sp>
      <p:sp>
        <p:nvSpPr>
          <p:cNvPr id="135" name="Text 128"/>
          <p:cNvSpPr/>
          <p:nvPr/>
        </p:nvSpPr>
        <p:spPr>
          <a:xfrm>
            <a:off x="8028432" y="501091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 (ServiceNow)</a:t>
            </a:r>
            <a:endParaRPr lang="en-US" sz="550" dirty="0"/>
          </a:p>
        </p:txBody>
      </p:sp>
      <p:sp>
        <p:nvSpPr>
          <p:cNvPr id="136" name="Shape 129"/>
          <p:cNvSpPr/>
          <p:nvPr/>
        </p:nvSpPr>
        <p:spPr>
          <a:xfrm>
            <a:off x="457200" y="4919472"/>
            <a:ext cx="128016" cy="12801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37" name="Text 130"/>
          <p:cNvSpPr/>
          <p:nvPr/>
        </p:nvSpPr>
        <p:spPr>
          <a:xfrm>
            <a:off x="640080" y="49103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Azure DevOps (PR/Commit)</a:t>
            </a:r>
            <a:endParaRPr lang="en-US" sz="750" dirty="0"/>
          </a:p>
        </p:txBody>
      </p:sp>
      <p:sp>
        <p:nvSpPr>
          <p:cNvPr id="138" name="Shape 131"/>
          <p:cNvSpPr/>
          <p:nvPr/>
        </p:nvSpPr>
        <p:spPr>
          <a:xfrm>
            <a:off x="3383280" y="4919472"/>
            <a:ext cx="128016" cy="128016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39" name="Text 132"/>
          <p:cNvSpPr/>
          <p:nvPr/>
        </p:nvSpPr>
        <p:spPr>
          <a:xfrm>
            <a:off x="3566160" y="49103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= Tekton (ServiceNow post-deploy)</a:t>
            </a:r>
            <a:endParaRPr lang="en-US" sz="750" dirty="0"/>
          </a:p>
        </p:txBody>
      </p:sp>
      <p:sp>
        <p:nvSpPr>
          <p:cNvPr id="140" name="Shape 133"/>
          <p:cNvSpPr/>
          <p:nvPr/>
        </p:nvSpPr>
        <p:spPr>
          <a:xfrm>
            <a:off x="6309360" y="4919472"/>
            <a:ext cx="128016" cy="128016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41" name="Text 134"/>
          <p:cNvSpPr/>
          <p:nvPr/>
        </p:nvSpPr>
        <p:spPr>
          <a:xfrm>
            <a:off x="6492240" y="49103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= ADO + Tekton (post-CD)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&amp; Test Strategy</dc:title>
  <dc:subject>PptxGenJS Presentation</dc:subject>
  <dc:creator>Quality Engineering</dc:creator>
  <cp:lastModifiedBy>Quality Engineering</cp:lastModifiedBy>
  <cp:revision>1</cp:revision>
  <dcterms:created xsi:type="dcterms:W3CDTF">2026-03-10T10:52:21Z</dcterms:created>
  <dcterms:modified xsi:type="dcterms:W3CDTF">2026-03-10T10:52:21Z</dcterms:modified>
</cp:coreProperties>
</file>