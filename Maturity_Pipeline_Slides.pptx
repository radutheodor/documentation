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Test Maturity Framework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846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levels of maturity mapped to the automated patch delivery pipeline — mandatory vs. recommended practices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664208" cy="347472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4980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7498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664208" cy="3703320"/>
          </a:xfrm>
          <a:prstGeom prst="rect">
            <a:avLst/>
          </a:prstGeom>
          <a:solidFill>
            <a:srgbClr val="E8E8EA"/>
          </a:solidFill>
          <a:ln/>
        </p:spPr>
      </p:sp>
      <p:sp>
        <p:nvSpPr>
          <p:cNvPr id="8" name="Shape 6"/>
          <p:cNvSpPr/>
          <p:nvPr/>
        </p:nvSpPr>
        <p:spPr>
          <a:xfrm>
            <a:off x="374904" y="1188720"/>
            <a:ext cx="1554480" cy="182880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" y="11887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74904" y="1426464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74904" y="1426464"/>
            <a:ext cx="36576" cy="384048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Code Analysis on every commit + PR (SonarQube)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74904" y="1828800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74904" y="1828800"/>
            <a:ext cx="36576" cy="384048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exist and run in CI on every PR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74904" y="2231136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" y="2231136"/>
            <a:ext cx="36576" cy="384048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" y="22494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pipeline blocks merge on failure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74904" y="2688336"/>
            <a:ext cx="1554480" cy="164592"/>
          </a:xfrm>
          <a:prstGeom prst="rect">
            <a:avLst/>
          </a:prstGeom>
          <a:solidFill>
            <a:srgbClr val="B0A898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" y="26883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11480" y="288950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coverage measured (target ≥ 20%)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11480" y="318211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Basic health check endpoint (GET /health)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2075688" y="749808"/>
            <a:ext cx="1664208" cy="3474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4" name="Text 22"/>
          <p:cNvSpPr/>
          <p:nvPr/>
        </p:nvSpPr>
        <p:spPr>
          <a:xfrm>
            <a:off x="2075688" y="74980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78608" y="7498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75688" y="1115568"/>
            <a:ext cx="1664208" cy="3703320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27" name="Shape 25"/>
          <p:cNvSpPr/>
          <p:nvPr/>
        </p:nvSpPr>
        <p:spPr>
          <a:xfrm>
            <a:off x="2130552" y="1188720"/>
            <a:ext cx="1554480" cy="1828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8" name="Text 26"/>
          <p:cNvSpPr/>
          <p:nvPr/>
        </p:nvSpPr>
        <p:spPr>
          <a:xfrm>
            <a:off x="2130552" y="11887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130552" y="1426464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130552" y="1426464"/>
            <a:ext cx="36576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1" name="Text 29"/>
          <p:cNvSpPr/>
          <p:nvPr/>
        </p:nvSpPr>
        <p:spPr>
          <a:xfrm>
            <a:off x="2221992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Tests in CI with mocked dependencies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2130552" y="1828800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130552" y="1828800"/>
            <a:ext cx="36576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4" name="Text 32"/>
          <p:cNvSpPr/>
          <p:nvPr/>
        </p:nvSpPr>
        <p:spPr>
          <a:xfrm>
            <a:off x="2221992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coverage gated in CI (≥ 40%)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130552" y="2231136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2130552" y="2231136"/>
            <a:ext cx="36576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7" name="Text 35"/>
          <p:cNvSpPr/>
          <p:nvPr/>
        </p:nvSpPr>
        <p:spPr>
          <a:xfrm>
            <a:off x="2221992" y="22494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Tests: Pact HTTP + Mongo Schema in CI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2130552" y="2633472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2130552" y="2633472"/>
            <a:ext cx="36576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0" name="Text 38"/>
          <p:cNvSpPr/>
          <p:nvPr/>
        </p:nvSpPr>
        <p:spPr>
          <a:xfrm>
            <a:off x="2221992" y="2651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Smoke Tests post-deploy (Health + Read) in all envs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130552" y="3090672"/>
            <a:ext cx="1554480" cy="164592"/>
          </a:xfrm>
          <a:prstGeom prst="rect">
            <a:avLst/>
          </a:prstGeom>
          <a:solidFill>
            <a:srgbClr val="B0A898"/>
          </a:solidFill>
          <a:ln/>
        </p:spPr>
      </p:sp>
      <p:sp>
        <p:nvSpPr>
          <p:cNvPr id="42" name="Text 40"/>
          <p:cNvSpPr/>
          <p:nvPr/>
        </p:nvSpPr>
        <p:spPr>
          <a:xfrm>
            <a:off x="2130552" y="30906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2167128" y="32918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can-i-deploy checks before environment promotions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2167128" y="358444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Allure reporting integrated into CI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831336" y="749808"/>
            <a:ext cx="1664208" cy="34747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6" name="Text 44"/>
          <p:cNvSpPr/>
          <p:nvPr/>
        </p:nvSpPr>
        <p:spPr>
          <a:xfrm>
            <a:off x="3831336" y="74980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334256" y="7498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831336" y="1115568"/>
            <a:ext cx="1664208" cy="3703320"/>
          </a:xfrm>
          <a:prstGeom prst="rect">
            <a:avLst/>
          </a:prstGeom>
          <a:solidFill>
            <a:srgbClr val="F0EAE0"/>
          </a:solidFill>
          <a:ln/>
        </p:spPr>
      </p:sp>
      <p:sp>
        <p:nvSpPr>
          <p:cNvPr id="49" name="Shape 47"/>
          <p:cNvSpPr/>
          <p:nvPr/>
        </p:nvSpPr>
        <p:spPr>
          <a:xfrm>
            <a:off x="3886200" y="1188720"/>
            <a:ext cx="1554480" cy="18288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0" name="Text 48"/>
          <p:cNvSpPr/>
          <p:nvPr/>
        </p:nvSpPr>
        <p:spPr>
          <a:xfrm>
            <a:off x="3886200" y="11887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886200" y="1426464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3886200" y="1426464"/>
            <a:ext cx="36576" cy="3840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3" name="Text 51"/>
          <p:cNvSpPr/>
          <p:nvPr/>
        </p:nvSpPr>
        <p:spPr>
          <a:xfrm>
            <a:off x="3977640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Smoke Tests (Write + Verify) in DEV, TEST, UAT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3886200" y="1828800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3886200" y="1828800"/>
            <a:ext cx="36576" cy="3840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6" name="Text 54"/>
          <p:cNvSpPr/>
          <p:nvPr/>
        </p:nvSpPr>
        <p:spPr>
          <a:xfrm>
            <a:off x="3977640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Smoke Tests (Infra chain) in DEV, TEST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886200" y="2231136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3886200" y="2231136"/>
            <a:ext cx="36576" cy="3840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9" name="Text 57"/>
          <p:cNvSpPr/>
          <p:nvPr/>
        </p:nvSpPr>
        <p:spPr>
          <a:xfrm>
            <a:off x="3977640" y="22494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Integration Tests (CT) in TEST — full suite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3886200" y="2633472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3886200" y="2633472"/>
            <a:ext cx="36576" cy="3840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62" name="Text 60"/>
          <p:cNvSpPr/>
          <p:nvPr/>
        </p:nvSpPr>
        <p:spPr>
          <a:xfrm>
            <a:off x="3977640" y="2651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 managed in qTest with Jira traceability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3886200" y="3090672"/>
            <a:ext cx="1554480" cy="164592"/>
          </a:xfrm>
          <a:prstGeom prst="rect">
            <a:avLst/>
          </a:prstGeom>
          <a:solidFill>
            <a:srgbClr val="B0A898"/>
          </a:solidFill>
          <a:ln/>
        </p:spPr>
      </p:sp>
      <p:sp>
        <p:nvSpPr>
          <p:cNvPr id="64" name="Text 62"/>
          <p:cNvSpPr/>
          <p:nvPr/>
        </p:nvSpPr>
        <p:spPr>
          <a:xfrm>
            <a:off x="3886200" y="30906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922776" y="32918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Application Integration Tests in UAT (safe subset)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3922776" y="358444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Message contract validation for notifications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3922776" y="387705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 dashboard with CI + Sonar + qTest data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5586984" y="749808"/>
            <a:ext cx="1664208" cy="347472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69" name="Text 67"/>
          <p:cNvSpPr/>
          <p:nvPr/>
        </p:nvSpPr>
        <p:spPr>
          <a:xfrm>
            <a:off x="5586984" y="74980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4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089904" y="7498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586984" y="1115568"/>
            <a:ext cx="1664208" cy="3703320"/>
          </a:xfrm>
          <a:prstGeom prst="rect">
            <a:avLst/>
          </a:prstGeom>
          <a:solidFill>
            <a:srgbClr val="FFF5E0"/>
          </a:solidFill>
          <a:ln/>
        </p:spPr>
      </p:sp>
      <p:sp>
        <p:nvSpPr>
          <p:cNvPr id="72" name="Shape 70"/>
          <p:cNvSpPr/>
          <p:nvPr/>
        </p:nvSpPr>
        <p:spPr>
          <a:xfrm>
            <a:off x="5641848" y="1188720"/>
            <a:ext cx="1554480" cy="182880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73" name="Text 71"/>
          <p:cNvSpPr/>
          <p:nvPr/>
        </p:nvSpPr>
        <p:spPr>
          <a:xfrm>
            <a:off x="5641848" y="11887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5641848" y="1426464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hape 73"/>
          <p:cNvSpPr/>
          <p:nvPr/>
        </p:nvSpPr>
        <p:spPr>
          <a:xfrm>
            <a:off x="5641848" y="1426464"/>
            <a:ext cx="36576" cy="384048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76" name="Text 74"/>
          <p:cNvSpPr/>
          <p:nvPr/>
        </p:nvSpPr>
        <p:spPr>
          <a:xfrm>
            <a:off x="5733288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Tests (E2E) in TEST — full chain validation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5641848" y="1828800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Shape 76"/>
          <p:cNvSpPr/>
          <p:nvPr/>
        </p:nvSpPr>
        <p:spPr>
          <a:xfrm>
            <a:off x="5641848" y="1828800"/>
            <a:ext cx="36576" cy="384048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79" name="Text 77"/>
          <p:cNvSpPr/>
          <p:nvPr/>
        </p:nvSpPr>
        <p:spPr>
          <a:xfrm>
            <a:off x="5733288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Tests (E2E safe) in UAT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5641848" y="2231136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hape 79"/>
          <p:cNvSpPr/>
          <p:nvPr/>
        </p:nvSpPr>
        <p:spPr>
          <a:xfrm>
            <a:off x="5641848" y="2231136"/>
            <a:ext cx="36576" cy="384048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82" name="Text 80"/>
          <p:cNvSpPr/>
          <p:nvPr/>
        </p:nvSpPr>
        <p:spPr>
          <a:xfrm>
            <a:off x="5733288" y="22494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Tests in TEST (scheduled)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5641848" y="2633472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82"/>
          <p:cNvSpPr/>
          <p:nvPr/>
        </p:nvSpPr>
        <p:spPr>
          <a:xfrm>
            <a:off x="5641848" y="2633472"/>
            <a:ext cx="36576" cy="384048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85" name="Text 83"/>
          <p:cNvSpPr/>
          <p:nvPr/>
        </p:nvSpPr>
        <p:spPr>
          <a:xfrm>
            <a:off x="5733288" y="2651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release readiness scoring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5641848" y="3090672"/>
            <a:ext cx="1554480" cy="164592"/>
          </a:xfrm>
          <a:prstGeom prst="rect">
            <a:avLst/>
          </a:prstGeom>
          <a:solidFill>
            <a:srgbClr val="B0A898"/>
          </a:solidFill>
          <a:ln/>
        </p:spPr>
      </p:sp>
      <p:sp>
        <p:nvSpPr>
          <p:cNvPr id="87" name="Text 85"/>
          <p:cNvSpPr/>
          <p:nvPr/>
        </p:nvSpPr>
        <p:spPr>
          <a:xfrm>
            <a:off x="5641848" y="30906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5678424" y="32918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baselines with regression detection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5678424" y="358444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Defect escape rate tracking and root cause analysis</a:t>
            </a:r>
            <a:endParaRPr lang="en-US" sz="600" dirty="0"/>
          </a:p>
        </p:txBody>
      </p:sp>
      <p:sp>
        <p:nvSpPr>
          <p:cNvPr id="90" name="Text 88"/>
          <p:cNvSpPr/>
          <p:nvPr/>
        </p:nvSpPr>
        <p:spPr>
          <a:xfrm>
            <a:off x="5678424" y="387705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requirement → test → defect traceability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7342632" y="749808"/>
            <a:ext cx="1664208" cy="347472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92" name="Text 90"/>
          <p:cNvSpPr/>
          <p:nvPr/>
        </p:nvSpPr>
        <p:spPr>
          <a:xfrm>
            <a:off x="7342632" y="74980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5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7845552" y="7498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Optimizing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7342632" y="1115568"/>
            <a:ext cx="1664208" cy="370332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95" name="Shape 93"/>
          <p:cNvSpPr/>
          <p:nvPr/>
        </p:nvSpPr>
        <p:spPr>
          <a:xfrm>
            <a:off x="7397496" y="1188720"/>
            <a:ext cx="1554480" cy="182880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96" name="Text 94"/>
          <p:cNvSpPr/>
          <p:nvPr/>
        </p:nvSpPr>
        <p:spPr>
          <a:xfrm>
            <a:off x="7397496" y="11887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7397496" y="1426464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Shape 96"/>
          <p:cNvSpPr/>
          <p:nvPr/>
        </p:nvSpPr>
        <p:spPr>
          <a:xfrm>
            <a:off x="7397496" y="1426464"/>
            <a:ext cx="36576" cy="384048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99" name="Text 97"/>
          <p:cNvSpPr/>
          <p:nvPr/>
        </p:nvSpPr>
        <p:spPr>
          <a:xfrm>
            <a:off x="7488936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synthetic monitoring (read-only system tests)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7397496" y="1828800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Shape 99"/>
          <p:cNvSpPr/>
          <p:nvPr/>
        </p:nvSpPr>
        <p:spPr>
          <a:xfrm>
            <a:off x="7397496" y="1828800"/>
            <a:ext cx="36576" cy="384048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02" name="Text 100"/>
          <p:cNvSpPr/>
          <p:nvPr/>
        </p:nvSpPr>
        <p:spPr>
          <a:xfrm>
            <a:off x="7488936" y="1847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deployments with automated rollback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7397496" y="2231136"/>
            <a:ext cx="1554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7397496" y="2231136"/>
            <a:ext cx="36576" cy="384048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05" name="Text 103"/>
          <p:cNvSpPr/>
          <p:nvPr/>
        </p:nvSpPr>
        <p:spPr>
          <a:xfrm>
            <a:off x="7488936" y="22494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insights feeding test case generation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7397496" y="2688336"/>
            <a:ext cx="1554480" cy="164592"/>
          </a:xfrm>
          <a:prstGeom prst="rect">
            <a:avLst/>
          </a:prstGeom>
          <a:solidFill>
            <a:srgbClr val="B0A898"/>
          </a:solidFill>
          <a:ln/>
        </p:spPr>
      </p:sp>
      <p:sp>
        <p:nvSpPr>
          <p:cNvPr id="107" name="Text 105"/>
          <p:cNvSpPr/>
          <p:nvPr/>
        </p:nvSpPr>
        <p:spPr>
          <a:xfrm>
            <a:off x="7397496" y="26883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650" dirty="0"/>
          </a:p>
        </p:txBody>
      </p:sp>
      <p:sp>
        <p:nvSpPr>
          <p:cNvPr id="108" name="Text 106"/>
          <p:cNvSpPr/>
          <p:nvPr/>
        </p:nvSpPr>
        <p:spPr>
          <a:xfrm>
            <a:off x="7434072" y="288950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AI-assisted test optimization and deduplication</a:t>
            </a:r>
            <a:endParaRPr lang="en-US" sz="600" dirty="0"/>
          </a:p>
        </p:txBody>
      </p:sp>
      <p:sp>
        <p:nvSpPr>
          <p:cNvPr id="109" name="Text 107"/>
          <p:cNvSpPr/>
          <p:nvPr/>
        </p:nvSpPr>
        <p:spPr>
          <a:xfrm>
            <a:off x="7434072" y="318211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Chaos engineering and fault injection in TEST</a:t>
            </a:r>
            <a:endParaRPr lang="en-US" sz="600" dirty="0"/>
          </a:p>
        </p:txBody>
      </p:sp>
      <p:sp>
        <p:nvSpPr>
          <p:cNvPr id="110" name="Text 108"/>
          <p:cNvSpPr/>
          <p:nvPr/>
        </p:nvSpPr>
        <p:spPr>
          <a:xfrm>
            <a:off x="7434072" y="347472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Predictive quality analytics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Pipeline — Progressive Maturity Unlocking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maturity level unlocks new test activities — from local commit to production deployment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051560" cy="411480"/>
          </a:xfrm>
          <a:prstGeom prst="rect">
            <a:avLst/>
          </a:prstGeom>
          <a:solidFill>
            <a:srgbClr val="B0A89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83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hotfix/*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90472" y="74980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6A4F"/>
                </a:solidFill>
              </a:rPr>
              <a:t>▶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36776" y="658368"/>
            <a:ext cx="105156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1636776" y="6583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release/x.y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70048" y="74980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6A4F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816352" y="658368"/>
            <a:ext cx="1051560" cy="41148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1" name="Text 9"/>
          <p:cNvSpPr/>
          <p:nvPr/>
        </p:nvSpPr>
        <p:spPr>
          <a:xfrm>
            <a:off x="2816352" y="6583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Artifactory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9624" y="74980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6A4F"/>
                </a:solidFill>
              </a:rPr>
              <a:t>▶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95928" y="658368"/>
            <a:ext cx="105156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3995928" y="6583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DBIZ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0" y="74980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6A4F"/>
                </a:solidFill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75504" y="658368"/>
            <a:ext cx="105156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5175504" y="6583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TBIZ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08776" y="74980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6A4F"/>
                </a:solidFill>
              </a:rPr>
              <a:t>▶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55080" y="658368"/>
            <a:ext cx="105156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6583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UBIZ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88352" y="74980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6A4F"/>
                </a:solidFill>
              </a:rPr>
              <a:t>▶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534656" y="658368"/>
            <a:ext cx="105156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3" name="Text 21"/>
          <p:cNvSpPr/>
          <p:nvPr/>
        </p:nvSpPr>
        <p:spPr>
          <a:xfrm>
            <a:off x="7534656" y="6583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PBIZ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1170432"/>
            <a:ext cx="1325880" cy="29260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11704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Type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Pipeline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91640" y="1170432"/>
            <a:ext cx="1051560" cy="292608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27" name="Text 25"/>
          <p:cNvSpPr/>
          <p:nvPr/>
        </p:nvSpPr>
        <p:spPr>
          <a:xfrm>
            <a:off x="1691640" y="11704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(Commit)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871216" y="1170432"/>
            <a:ext cx="1051560" cy="292608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29" name="Text 27"/>
          <p:cNvSpPr/>
          <p:nvPr/>
        </p:nvSpPr>
        <p:spPr>
          <a:xfrm>
            <a:off x="2871216" y="11704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050792" y="1170432"/>
            <a:ext cx="1051560" cy="2926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1" name="Text 29"/>
          <p:cNvSpPr/>
          <p:nvPr/>
        </p:nvSpPr>
        <p:spPr>
          <a:xfrm>
            <a:off x="4050792" y="11704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(Post-Deploy)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230368" y="1170432"/>
            <a:ext cx="1051560" cy="2926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3" name="Text 31"/>
          <p:cNvSpPr/>
          <p:nvPr/>
        </p:nvSpPr>
        <p:spPr>
          <a:xfrm>
            <a:off x="5230368" y="11704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(Post-Deploy)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409944" y="1170432"/>
            <a:ext cx="1051560" cy="2926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5" name="Text 33"/>
          <p:cNvSpPr/>
          <p:nvPr/>
        </p:nvSpPr>
        <p:spPr>
          <a:xfrm>
            <a:off x="6409944" y="11704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(Post-Deploy)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589520" y="1170432"/>
            <a:ext cx="1051560" cy="2926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0" y="11704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(Post-Deploy)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" y="1481328"/>
            <a:ext cx="13258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" y="1481328"/>
            <a:ext cx="45720" cy="310896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40" name="Shape 38"/>
          <p:cNvSpPr/>
          <p:nvPr/>
        </p:nvSpPr>
        <p:spPr>
          <a:xfrm>
            <a:off x="1399032" y="1517904"/>
            <a:ext cx="256032" cy="128016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41" name="Text 39"/>
          <p:cNvSpPr/>
          <p:nvPr/>
        </p:nvSpPr>
        <p:spPr>
          <a:xfrm>
            <a:off x="1399032" y="151790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57200" y="1490472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Analysis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57200" y="1627632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C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+ CI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1691640" y="1481328"/>
            <a:ext cx="1051560" cy="31089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45" name="Shape 43"/>
          <p:cNvSpPr/>
          <p:nvPr/>
        </p:nvSpPr>
        <p:spPr>
          <a:xfrm>
            <a:off x="1691640" y="1481328"/>
            <a:ext cx="1051560" cy="27432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46" name="Text 44"/>
          <p:cNvSpPr/>
          <p:nvPr/>
        </p:nvSpPr>
        <p:spPr>
          <a:xfrm>
            <a:off x="1691640" y="14813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Commit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2871216" y="1481328"/>
            <a:ext cx="1051560" cy="31089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871216" y="1481328"/>
            <a:ext cx="1051560" cy="27432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49" name="Text 47"/>
          <p:cNvSpPr/>
          <p:nvPr/>
        </p:nvSpPr>
        <p:spPr>
          <a:xfrm>
            <a:off x="2871216" y="14813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4050792" y="1481328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4050792" y="14813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5230368" y="1481328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230368" y="14813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6409944" y="1481328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409944" y="14813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7589520" y="1481328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7589520" y="14813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365760" y="1810512"/>
            <a:ext cx="13258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365760" y="1810512"/>
            <a:ext cx="45720" cy="310896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60" name="Shape 58"/>
          <p:cNvSpPr/>
          <p:nvPr/>
        </p:nvSpPr>
        <p:spPr>
          <a:xfrm>
            <a:off x="1399032" y="1847088"/>
            <a:ext cx="256032" cy="128016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61" name="Text 59"/>
          <p:cNvSpPr/>
          <p:nvPr/>
        </p:nvSpPr>
        <p:spPr>
          <a:xfrm>
            <a:off x="1399032" y="18470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457200" y="1819656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57200" y="1956816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C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+ CI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1691640" y="1810512"/>
            <a:ext cx="1051560" cy="31089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65" name="Shape 63"/>
          <p:cNvSpPr/>
          <p:nvPr/>
        </p:nvSpPr>
        <p:spPr>
          <a:xfrm>
            <a:off x="1691640" y="1810512"/>
            <a:ext cx="1051560" cy="27432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66" name="Text 64"/>
          <p:cNvSpPr/>
          <p:nvPr/>
        </p:nvSpPr>
        <p:spPr>
          <a:xfrm>
            <a:off x="1691640" y="18105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Commit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2871216" y="1810512"/>
            <a:ext cx="1051560" cy="31089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68" name="Shape 66"/>
          <p:cNvSpPr/>
          <p:nvPr/>
        </p:nvSpPr>
        <p:spPr>
          <a:xfrm>
            <a:off x="2871216" y="1810512"/>
            <a:ext cx="1051560" cy="27432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69" name="Text 67"/>
          <p:cNvSpPr/>
          <p:nvPr/>
        </p:nvSpPr>
        <p:spPr>
          <a:xfrm>
            <a:off x="2871216" y="18105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4050792" y="1810512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4050792" y="18105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5230368" y="1810512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5230368" y="18105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6409944" y="1810512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6409944" y="18105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7589520" y="1810512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7589520" y="18105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365760" y="2139696"/>
            <a:ext cx="13258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Shape 77"/>
          <p:cNvSpPr/>
          <p:nvPr/>
        </p:nvSpPr>
        <p:spPr>
          <a:xfrm>
            <a:off x="365760" y="2139696"/>
            <a:ext cx="45720" cy="3108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0" name="Shape 78"/>
          <p:cNvSpPr/>
          <p:nvPr/>
        </p:nvSpPr>
        <p:spPr>
          <a:xfrm>
            <a:off x="1399032" y="2176272"/>
            <a:ext cx="256032" cy="12801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1" name="Text 79"/>
          <p:cNvSpPr/>
          <p:nvPr/>
        </p:nvSpPr>
        <p:spPr>
          <a:xfrm>
            <a:off x="1399032" y="21762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57200" y="2148840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Tests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457200" y="2286000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1691640" y="2139696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>
            <a:off x="1691640" y="21396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2871216" y="2139696"/>
            <a:ext cx="1051560" cy="310896"/>
          </a:xfrm>
          <a:prstGeom prst="rect">
            <a:avLst/>
          </a:prstGeom>
          <a:solidFill>
            <a:srgbClr val="D0E8D8"/>
          </a:solidFill>
          <a:ln/>
        </p:spPr>
      </p:sp>
      <p:sp>
        <p:nvSpPr>
          <p:cNvPr id="87" name="Shape 85"/>
          <p:cNvSpPr/>
          <p:nvPr/>
        </p:nvSpPr>
        <p:spPr>
          <a:xfrm>
            <a:off x="2871216" y="2139696"/>
            <a:ext cx="105156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8" name="Text 86"/>
          <p:cNvSpPr/>
          <p:nvPr/>
        </p:nvSpPr>
        <p:spPr>
          <a:xfrm>
            <a:off x="2871216" y="21396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(mocked deps)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4050792" y="2139696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Text 88"/>
          <p:cNvSpPr/>
          <p:nvPr/>
        </p:nvSpPr>
        <p:spPr>
          <a:xfrm>
            <a:off x="4050792" y="21396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5230368" y="2139696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Text 90"/>
          <p:cNvSpPr/>
          <p:nvPr/>
        </p:nvSpPr>
        <p:spPr>
          <a:xfrm>
            <a:off x="5230368" y="21396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6409944" y="2139696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6409944" y="21396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7589520" y="2139696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Text 94"/>
          <p:cNvSpPr/>
          <p:nvPr/>
        </p:nvSpPr>
        <p:spPr>
          <a:xfrm>
            <a:off x="7589520" y="21396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365760" y="2468880"/>
            <a:ext cx="13258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Shape 96"/>
          <p:cNvSpPr/>
          <p:nvPr/>
        </p:nvSpPr>
        <p:spPr>
          <a:xfrm>
            <a:off x="365760" y="2468880"/>
            <a:ext cx="45720" cy="3108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9" name="Shape 97"/>
          <p:cNvSpPr/>
          <p:nvPr/>
        </p:nvSpPr>
        <p:spPr>
          <a:xfrm>
            <a:off x="1399032" y="2505456"/>
            <a:ext cx="256032" cy="12801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0" name="Text 98"/>
          <p:cNvSpPr/>
          <p:nvPr/>
        </p:nvSpPr>
        <p:spPr>
          <a:xfrm>
            <a:off x="1399032" y="250545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600" dirty="0"/>
          </a:p>
        </p:txBody>
      </p:sp>
      <p:sp>
        <p:nvSpPr>
          <p:cNvPr id="101" name="Text 99"/>
          <p:cNvSpPr/>
          <p:nvPr/>
        </p:nvSpPr>
        <p:spPr>
          <a:xfrm>
            <a:off x="457200" y="2478024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Tests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457200" y="2615184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+ CD</a:t>
            </a:r>
            <a:endParaRPr lang="en-US" sz="600" dirty="0"/>
          </a:p>
        </p:txBody>
      </p:sp>
      <p:sp>
        <p:nvSpPr>
          <p:cNvPr id="103" name="Shape 101"/>
          <p:cNvSpPr/>
          <p:nvPr/>
        </p:nvSpPr>
        <p:spPr>
          <a:xfrm>
            <a:off x="1691640" y="2468880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2"/>
          <p:cNvSpPr/>
          <p:nvPr/>
        </p:nvSpPr>
        <p:spPr>
          <a:xfrm>
            <a:off x="1691640" y="2468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2871216" y="2468880"/>
            <a:ext cx="1051560" cy="310896"/>
          </a:xfrm>
          <a:prstGeom prst="rect">
            <a:avLst/>
          </a:prstGeom>
          <a:solidFill>
            <a:srgbClr val="D0E8D8"/>
          </a:solidFill>
          <a:ln/>
        </p:spPr>
      </p:sp>
      <p:sp>
        <p:nvSpPr>
          <p:cNvPr id="106" name="Shape 104"/>
          <p:cNvSpPr/>
          <p:nvPr/>
        </p:nvSpPr>
        <p:spPr>
          <a:xfrm>
            <a:off x="2871216" y="2468880"/>
            <a:ext cx="105156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7" name="Text 105"/>
          <p:cNvSpPr/>
          <p:nvPr/>
        </p:nvSpPr>
        <p:spPr>
          <a:xfrm>
            <a:off x="2871216" y="2468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4050792" y="2468880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Text 107"/>
          <p:cNvSpPr/>
          <p:nvPr/>
        </p:nvSpPr>
        <p:spPr>
          <a:xfrm>
            <a:off x="4050792" y="2468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5230368" y="2468880"/>
            <a:ext cx="1051560" cy="310896"/>
          </a:xfrm>
          <a:prstGeom prst="rect">
            <a:avLst/>
          </a:prstGeom>
          <a:solidFill>
            <a:srgbClr val="D0E8D8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230368" y="2468880"/>
            <a:ext cx="105156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2" name="Text 110"/>
          <p:cNvSpPr/>
          <p:nvPr/>
        </p:nvSpPr>
        <p:spPr>
          <a:xfrm>
            <a:off x="5230368" y="2468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can-i-deploy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6409944" y="2468880"/>
            <a:ext cx="1051560" cy="310896"/>
          </a:xfrm>
          <a:prstGeom prst="rect">
            <a:avLst/>
          </a:prstGeom>
          <a:solidFill>
            <a:srgbClr val="D0E8D8"/>
          </a:solidFill>
          <a:ln/>
        </p:spPr>
      </p:sp>
      <p:sp>
        <p:nvSpPr>
          <p:cNvPr id="114" name="Shape 112"/>
          <p:cNvSpPr/>
          <p:nvPr/>
        </p:nvSpPr>
        <p:spPr>
          <a:xfrm>
            <a:off x="6409944" y="2468880"/>
            <a:ext cx="105156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5" name="Text 113"/>
          <p:cNvSpPr/>
          <p:nvPr/>
        </p:nvSpPr>
        <p:spPr>
          <a:xfrm>
            <a:off x="6409944" y="2468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can-i-deploy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7589520" y="2468880"/>
            <a:ext cx="1051560" cy="310896"/>
          </a:xfrm>
          <a:prstGeom prst="rect">
            <a:avLst/>
          </a:prstGeom>
          <a:solidFill>
            <a:srgbClr val="D0E8D8"/>
          </a:solidFill>
          <a:ln/>
        </p:spPr>
      </p:sp>
      <p:sp>
        <p:nvSpPr>
          <p:cNvPr id="117" name="Shape 115"/>
          <p:cNvSpPr/>
          <p:nvPr/>
        </p:nvSpPr>
        <p:spPr>
          <a:xfrm>
            <a:off x="7589520" y="2468880"/>
            <a:ext cx="105156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8" name="Text 116"/>
          <p:cNvSpPr/>
          <p:nvPr/>
        </p:nvSpPr>
        <p:spPr>
          <a:xfrm>
            <a:off x="7589520" y="2468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can-i-deploy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365760" y="2798064"/>
            <a:ext cx="13258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0" name="Shape 118"/>
          <p:cNvSpPr/>
          <p:nvPr/>
        </p:nvSpPr>
        <p:spPr>
          <a:xfrm>
            <a:off x="365760" y="2798064"/>
            <a:ext cx="45720" cy="3108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399032" y="2834640"/>
            <a:ext cx="256032" cy="12801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22" name="Text 120"/>
          <p:cNvSpPr/>
          <p:nvPr/>
        </p:nvSpPr>
        <p:spPr>
          <a:xfrm>
            <a:off x="1399032" y="283464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600" dirty="0"/>
          </a:p>
        </p:txBody>
      </p:sp>
      <p:sp>
        <p:nvSpPr>
          <p:cNvPr id="123" name="Text 121"/>
          <p:cNvSpPr/>
          <p:nvPr/>
        </p:nvSpPr>
        <p:spPr>
          <a:xfrm>
            <a:off x="457200" y="2807208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Smoke: Tier 1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457200" y="2944368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(all envs)</a:t>
            </a:r>
            <a:endParaRPr lang="en-US" sz="600" dirty="0"/>
          </a:p>
        </p:txBody>
      </p:sp>
      <p:sp>
        <p:nvSpPr>
          <p:cNvPr id="125" name="Shape 123"/>
          <p:cNvSpPr/>
          <p:nvPr/>
        </p:nvSpPr>
        <p:spPr>
          <a:xfrm>
            <a:off x="1691640" y="2798064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24"/>
          <p:cNvSpPr/>
          <p:nvPr/>
        </p:nvSpPr>
        <p:spPr>
          <a:xfrm>
            <a:off x="1691640" y="27980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2871216" y="2798064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8" name="Text 126"/>
          <p:cNvSpPr/>
          <p:nvPr/>
        </p:nvSpPr>
        <p:spPr>
          <a:xfrm>
            <a:off x="2871216" y="27980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4050792" y="2798064"/>
            <a:ext cx="1051560" cy="310896"/>
          </a:xfrm>
          <a:prstGeom prst="rect">
            <a:avLst/>
          </a:prstGeom>
          <a:solidFill>
            <a:srgbClr val="D0E8D8"/>
          </a:solidFill>
          <a:ln/>
        </p:spPr>
      </p:sp>
      <p:sp>
        <p:nvSpPr>
          <p:cNvPr id="130" name="Shape 128"/>
          <p:cNvSpPr/>
          <p:nvPr/>
        </p:nvSpPr>
        <p:spPr>
          <a:xfrm>
            <a:off x="4050792" y="2798064"/>
            <a:ext cx="105156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1" name="Text 129"/>
          <p:cNvSpPr/>
          <p:nvPr/>
        </p:nvSpPr>
        <p:spPr>
          <a:xfrm>
            <a:off x="4050792" y="27980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+ Read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5230368" y="2798064"/>
            <a:ext cx="1051560" cy="310896"/>
          </a:xfrm>
          <a:prstGeom prst="rect">
            <a:avLst/>
          </a:prstGeom>
          <a:solidFill>
            <a:srgbClr val="D0E8D8"/>
          </a:solidFill>
          <a:ln/>
        </p:spPr>
      </p:sp>
      <p:sp>
        <p:nvSpPr>
          <p:cNvPr id="133" name="Shape 131"/>
          <p:cNvSpPr/>
          <p:nvPr/>
        </p:nvSpPr>
        <p:spPr>
          <a:xfrm>
            <a:off x="5230368" y="2798064"/>
            <a:ext cx="105156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4" name="Text 132"/>
          <p:cNvSpPr/>
          <p:nvPr/>
        </p:nvSpPr>
        <p:spPr>
          <a:xfrm>
            <a:off x="5230368" y="27980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+ Read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6409944" y="2798064"/>
            <a:ext cx="1051560" cy="310896"/>
          </a:xfrm>
          <a:prstGeom prst="rect">
            <a:avLst/>
          </a:prstGeom>
          <a:solidFill>
            <a:srgbClr val="D0E8D8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409944" y="2798064"/>
            <a:ext cx="105156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7" name="Text 135"/>
          <p:cNvSpPr/>
          <p:nvPr/>
        </p:nvSpPr>
        <p:spPr>
          <a:xfrm>
            <a:off x="6409944" y="27980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+ Read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7589520" y="2798064"/>
            <a:ext cx="1051560" cy="310896"/>
          </a:xfrm>
          <a:prstGeom prst="rect">
            <a:avLst/>
          </a:prstGeom>
          <a:solidFill>
            <a:srgbClr val="D0E8D8"/>
          </a:solidFill>
          <a:ln/>
        </p:spPr>
      </p:sp>
      <p:sp>
        <p:nvSpPr>
          <p:cNvPr id="139" name="Shape 137"/>
          <p:cNvSpPr/>
          <p:nvPr/>
        </p:nvSpPr>
        <p:spPr>
          <a:xfrm>
            <a:off x="7589520" y="2798064"/>
            <a:ext cx="105156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0" name="Text 138"/>
          <p:cNvSpPr/>
          <p:nvPr/>
        </p:nvSpPr>
        <p:spPr>
          <a:xfrm>
            <a:off x="7589520" y="27980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+ Read</a:t>
            </a:r>
            <a:endParaRPr lang="en-US" sz="650" dirty="0"/>
          </a:p>
        </p:txBody>
      </p:sp>
      <p:sp>
        <p:nvSpPr>
          <p:cNvPr id="141" name="Shape 139"/>
          <p:cNvSpPr/>
          <p:nvPr/>
        </p:nvSpPr>
        <p:spPr>
          <a:xfrm>
            <a:off x="365760" y="3127248"/>
            <a:ext cx="13258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Shape 140"/>
          <p:cNvSpPr/>
          <p:nvPr/>
        </p:nvSpPr>
        <p:spPr>
          <a:xfrm>
            <a:off x="365760" y="3127248"/>
            <a:ext cx="45720" cy="31089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43" name="Shape 141"/>
          <p:cNvSpPr/>
          <p:nvPr/>
        </p:nvSpPr>
        <p:spPr>
          <a:xfrm>
            <a:off x="1399032" y="3163824"/>
            <a:ext cx="256032" cy="12801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44" name="Text 142"/>
          <p:cNvSpPr/>
          <p:nvPr/>
        </p:nvSpPr>
        <p:spPr>
          <a:xfrm>
            <a:off x="1399032" y="316382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600" dirty="0"/>
          </a:p>
        </p:txBody>
      </p:sp>
      <p:sp>
        <p:nvSpPr>
          <p:cNvPr id="145" name="Text 143"/>
          <p:cNvSpPr/>
          <p:nvPr/>
        </p:nvSpPr>
        <p:spPr>
          <a:xfrm>
            <a:off x="457200" y="3136392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Smoke: Tier 2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457200" y="3273552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(TEST)</a:t>
            </a:r>
            <a:endParaRPr lang="en-US" sz="600" dirty="0"/>
          </a:p>
        </p:txBody>
      </p:sp>
      <p:sp>
        <p:nvSpPr>
          <p:cNvPr id="147" name="Shape 145"/>
          <p:cNvSpPr/>
          <p:nvPr/>
        </p:nvSpPr>
        <p:spPr>
          <a:xfrm>
            <a:off x="1691640" y="3127248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8" name="Text 146"/>
          <p:cNvSpPr/>
          <p:nvPr/>
        </p:nvSpPr>
        <p:spPr>
          <a:xfrm>
            <a:off x="1691640" y="31272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149" name="Shape 147"/>
          <p:cNvSpPr/>
          <p:nvPr/>
        </p:nvSpPr>
        <p:spPr>
          <a:xfrm>
            <a:off x="2871216" y="3127248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0" name="Text 148"/>
          <p:cNvSpPr/>
          <p:nvPr/>
        </p:nvSpPr>
        <p:spPr>
          <a:xfrm>
            <a:off x="2871216" y="31272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4050792" y="3127248"/>
            <a:ext cx="1051560" cy="310896"/>
          </a:xfrm>
          <a:prstGeom prst="rect">
            <a:avLst/>
          </a:prstGeom>
          <a:solidFill>
            <a:srgbClr val="E8DED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4050792" y="3127248"/>
            <a:ext cx="1051560" cy="2743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53" name="Text 151"/>
          <p:cNvSpPr/>
          <p:nvPr/>
        </p:nvSpPr>
        <p:spPr>
          <a:xfrm>
            <a:off x="4050792" y="31272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+ Verify</a:t>
            </a:r>
            <a:endParaRPr lang="en-US" sz="650" dirty="0"/>
          </a:p>
        </p:txBody>
      </p:sp>
      <p:sp>
        <p:nvSpPr>
          <p:cNvPr id="154" name="Shape 152"/>
          <p:cNvSpPr/>
          <p:nvPr/>
        </p:nvSpPr>
        <p:spPr>
          <a:xfrm>
            <a:off x="5230368" y="3127248"/>
            <a:ext cx="1051560" cy="310896"/>
          </a:xfrm>
          <a:prstGeom prst="rect">
            <a:avLst/>
          </a:prstGeom>
          <a:solidFill>
            <a:srgbClr val="E8DED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5230368" y="3127248"/>
            <a:ext cx="1051560" cy="2743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56" name="Text 154"/>
          <p:cNvSpPr/>
          <p:nvPr/>
        </p:nvSpPr>
        <p:spPr>
          <a:xfrm>
            <a:off x="5230368" y="31272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+ Verify</a:t>
            </a:r>
            <a:endParaRPr lang="en-US" sz="650" dirty="0"/>
          </a:p>
        </p:txBody>
      </p:sp>
      <p:sp>
        <p:nvSpPr>
          <p:cNvPr id="157" name="Shape 155"/>
          <p:cNvSpPr/>
          <p:nvPr/>
        </p:nvSpPr>
        <p:spPr>
          <a:xfrm>
            <a:off x="6409944" y="3127248"/>
            <a:ext cx="1051560" cy="310896"/>
          </a:xfrm>
          <a:prstGeom prst="rect">
            <a:avLst/>
          </a:prstGeom>
          <a:solidFill>
            <a:srgbClr val="E8DED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6409944" y="3127248"/>
            <a:ext cx="1051560" cy="2743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09944" y="31272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+ Verify</a:t>
            </a:r>
            <a:endParaRPr lang="en-US" sz="650" dirty="0"/>
          </a:p>
        </p:txBody>
      </p:sp>
      <p:sp>
        <p:nvSpPr>
          <p:cNvPr id="160" name="Shape 158"/>
          <p:cNvSpPr/>
          <p:nvPr/>
        </p:nvSpPr>
        <p:spPr>
          <a:xfrm>
            <a:off x="7589520" y="3127248"/>
            <a:ext cx="1051560" cy="310896"/>
          </a:xfrm>
          <a:prstGeom prst="rect">
            <a:avLst/>
          </a:prstGeom>
          <a:solidFill>
            <a:srgbClr val="F5E8E8"/>
          </a:solidFill>
          <a:ln/>
        </p:spPr>
      </p:sp>
      <p:sp>
        <p:nvSpPr>
          <p:cNvPr id="161" name="Text 159"/>
          <p:cNvSpPr/>
          <p:nvPr/>
        </p:nvSpPr>
        <p:spPr>
          <a:xfrm>
            <a:off x="7589520" y="31272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BLOCKED</a:t>
            </a:r>
            <a:endParaRPr lang="en-US" sz="650" dirty="0"/>
          </a:p>
        </p:txBody>
      </p:sp>
      <p:sp>
        <p:nvSpPr>
          <p:cNvPr id="162" name="Shape 160"/>
          <p:cNvSpPr/>
          <p:nvPr/>
        </p:nvSpPr>
        <p:spPr>
          <a:xfrm>
            <a:off x="365760" y="3456432"/>
            <a:ext cx="13258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3" name="Shape 161"/>
          <p:cNvSpPr/>
          <p:nvPr/>
        </p:nvSpPr>
        <p:spPr>
          <a:xfrm>
            <a:off x="365760" y="3456432"/>
            <a:ext cx="45720" cy="31089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399032" y="3493008"/>
            <a:ext cx="256032" cy="12801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65" name="Text 163"/>
          <p:cNvSpPr/>
          <p:nvPr/>
        </p:nvSpPr>
        <p:spPr>
          <a:xfrm>
            <a:off x="1399032" y="349300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600" dirty="0"/>
          </a:p>
        </p:txBody>
      </p:sp>
      <p:sp>
        <p:nvSpPr>
          <p:cNvPr id="166" name="Text 164"/>
          <p:cNvSpPr/>
          <p:nvPr/>
        </p:nvSpPr>
        <p:spPr>
          <a:xfrm>
            <a:off x="457200" y="3465576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Smoke: Tier 3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457200" y="3602736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(TEST)</a:t>
            </a:r>
            <a:endParaRPr lang="en-US" sz="600" dirty="0"/>
          </a:p>
        </p:txBody>
      </p:sp>
      <p:sp>
        <p:nvSpPr>
          <p:cNvPr id="168" name="Shape 166"/>
          <p:cNvSpPr/>
          <p:nvPr/>
        </p:nvSpPr>
        <p:spPr>
          <a:xfrm>
            <a:off x="1691640" y="3456432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9" name="Text 167"/>
          <p:cNvSpPr/>
          <p:nvPr/>
        </p:nvSpPr>
        <p:spPr>
          <a:xfrm>
            <a:off x="1691640" y="34564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170" name="Shape 168"/>
          <p:cNvSpPr/>
          <p:nvPr/>
        </p:nvSpPr>
        <p:spPr>
          <a:xfrm>
            <a:off x="2871216" y="3456432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1" name="Text 169"/>
          <p:cNvSpPr/>
          <p:nvPr/>
        </p:nvSpPr>
        <p:spPr>
          <a:xfrm>
            <a:off x="2871216" y="34564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172" name="Shape 170"/>
          <p:cNvSpPr/>
          <p:nvPr/>
        </p:nvSpPr>
        <p:spPr>
          <a:xfrm>
            <a:off x="4050792" y="3456432"/>
            <a:ext cx="1051560" cy="310896"/>
          </a:xfrm>
          <a:prstGeom prst="rect">
            <a:avLst/>
          </a:prstGeom>
          <a:solidFill>
            <a:srgbClr val="E8DED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4050792" y="3456432"/>
            <a:ext cx="1051560" cy="2743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74" name="Text 172"/>
          <p:cNvSpPr/>
          <p:nvPr/>
        </p:nvSpPr>
        <p:spPr>
          <a:xfrm>
            <a:off x="4050792" y="34564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chain</a:t>
            </a:r>
            <a:endParaRPr lang="en-US" sz="650" dirty="0"/>
          </a:p>
        </p:txBody>
      </p:sp>
      <p:sp>
        <p:nvSpPr>
          <p:cNvPr id="175" name="Shape 173"/>
          <p:cNvSpPr/>
          <p:nvPr/>
        </p:nvSpPr>
        <p:spPr>
          <a:xfrm>
            <a:off x="5230368" y="3456432"/>
            <a:ext cx="1051560" cy="310896"/>
          </a:xfrm>
          <a:prstGeom prst="rect">
            <a:avLst/>
          </a:prstGeom>
          <a:solidFill>
            <a:srgbClr val="E8DED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5230368" y="3456432"/>
            <a:ext cx="1051560" cy="2743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77" name="Text 175"/>
          <p:cNvSpPr/>
          <p:nvPr/>
        </p:nvSpPr>
        <p:spPr>
          <a:xfrm>
            <a:off x="5230368" y="34564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chain</a:t>
            </a:r>
            <a:endParaRPr lang="en-US" sz="650" dirty="0"/>
          </a:p>
        </p:txBody>
      </p:sp>
      <p:sp>
        <p:nvSpPr>
          <p:cNvPr id="178" name="Shape 176"/>
          <p:cNvSpPr/>
          <p:nvPr/>
        </p:nvSpPr>
        <p:spPr>
          <a:xfrm>
            <a:off x="6409944" y="3456432"/>
            <a:ext cx="1051560" cy="310896"/>
          </a:xfrm>
          <a:prstGeom prst="rect">
            <a:avLst/>
          </a:prstGeom>
          <a:solidFill>
            <a:srgbClr val="F5E8E8"/>
          </a:solidFill>
          <a:ln/>
        </p:spPr>
      </p:sp>
      <p:sp>
        <p:nvSpPr>
          <p:cNvPr id="179" name="Text 177"/>
          <p:cNvSpPr/>
          <p:nvPr/>
        </p:nvSpPr>
        <p:spPr>
          <a:xfrm>
            <a:off x="6409944" y="34564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BLOCKED</a:t>
            </a:r>
            <a:endParaRPr lang="en-US" sz="650" dirty="0"/>
          </a:p>
        </p:txBody>
      </p:sp>
      <p:sp>
        <p:nvSpPr>
          <p:cNvPr id="180" name="Shape 178"/>
          <p:cNvSpPr/>
          <p:nvPr/>
        </p:nvSpPr>
        <p:spPr>
          <a:xfrm>
            <a:off x="7589520" y="3456432"/>
            <a:ext cx="1051560" cy="310896"/>
          </a:xfrm>
          <a:prstGeom prst="rect">
            <a:avLst/>
          </a:prstGeom>
          <a:solidFill>
            <a:srgbClr val="F5E8E8"/>
          </a:solidFill>
          <a:ln/>
        </p:spPr>
      </p:sp>
      <p:sp>
        <p:nvSpPr>
          <p:cNvPr id="181" name="Text 179"/>
          <p:cNvSpPr/>
          <p:nvPr/>
        </p:nvSpPr>
        <p:spPr>
          <a:xfrm>
            <a:off x="7589520" y="34564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BLOCKED</a:t>
            </a:r>
            <a:endParaRPr lang="en-US" sz="650" dirty="0"/>
          </a:p>
        </p:txBody>
      </p:sp>
      <p:sp>
        <p:nvSpPr>
          <p:cNvPr id="182" name="Shape 180"/>
          <p:cNvSpPr/>
          <p:nvPr/>
        </p:nvSpPr>
        <p:spPr>
          <a:xfrm>
            <a:off x="365760" y="3785616"/>
            <a:ext cx="13258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3" name="Shape 181"/>
          <p:cNvSpPr/>
          <p:nvPr/>
        </p:nvSpPr>
        <p:spPr>
          <a:xfrm>
            <a:off x="365760" y="3785616"/>
            <a:ext cx="45720" cy="31089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84" name="Shape 182"/>
          <p:cNvSpPr/>
          <p:nvPr/>
        </p:nvSpPr>
        <p:spPr>
          <a:xfrm>
            <a:off x="1399032" y="3822192"/>
            <a:ext cx="256032" cy="12801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85" name="Text 183"/>
          <p:cNvSpPr/>
          <p:nvPr/>
        </p:nvSpPr>
        <p:spPr>
          <a:xfrm>
            <a:off x="1399032" y="38221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600" dirty="0"/>
          </a:p>
        </p:txBody>
      </p:sp>
      <p:sp>
        <p:nvSpPr>
          <p:cNvPr id="186" name="Text 184"/>
          <p:cNvSpPr/>
          <p:nvPr/>
        </p:nvSpPr>
        <p:spPr>
          <a:xfrm>
            <a:off x="457200" y="3794760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Integration</a:t>
            </a:r>
            <a:endParaRPr lang="en-US" sz="750" dirty="0"/>
          </a:p>
        </p:txBody>
      </p:sp>
      <p:sp>
        <p:nvSpPr>
          <p:cNvPr id="187" name="Text 185"/>
          <p:cNvSpPr/>
          <p:nvPr/>
        </p:nvSpPr>
        <p:spPr>
          <a:xfrm>
            <a:off x="457200" y="3931920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600" dirty="0"/>
          </a:p>
        </p:txBody>
      </p:sp>
      <p:sp>
        <p:nvSpPr>
          <p:cNvPr id="188" name="Shape 186"/>
          <p:cNvSpPr/>
          <p:nvPr/>
        </p:nvSpPr>
        <p:spPr>
          <a:xfrm>
            <a:off x="1691640" y="3785616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9" name="Text 187"/>
          <p:cNvSpPr/>
          <p:nvPr/>
        </p:nvSpPr>
        <p:spPr>
          <a:xfrm>
            <a:off x="1691640" y="378561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190" name="Shape 188"/>
          <p:cNvSpPr/>
          <p:nvPr/>
        </p:nvSpPr>
        <p:spPr>
          <a:xfrm>
            <a:off x="2871216" y="3785616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1" name="Text 189"/>
          <p:cNvSpPr/>
          <p:nvPr/>
        </p:nvSpPr>
        <p:spPr>
          <a:xfrm>
            <a:off x="2871216" y="378561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192" name="Shape 190"/>
          <p:cNvSpPr/>
          <p:nvPr/>
        </p:nvSpPr>
        <p:spPr>
          <a:xfrm>
            <a:off x="4050792" y="3785616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3" name="Text 191"/>
          <p:cNvSpPr/>
          <p:nvPr/>
        </p:nvSpPr>
        <p:spPr>
          <a:xfrm>
            <a:off x="4050792" y="378561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194" name="Shape 192"/>
          <p:cNvSpPr/>
          <p:nvPr/>
        </p:nvSpPr>
        <p:spPr>
          <a:xfrm>
            <a:off x="5230368" y="3785616"/>
            <a:ext cx="1051560" cy="310896"/>
          </a:xfrm>
          <a:prstGeom prst="rect">
            <a:avLst/>
          </a:prstGeom>
          <a:solidFill>
            <a:srgbClr val="E8DED0"/>
          </a:solidFill>
          <a:ln/>
        </p:spPr>
      </p:sp>
      <p:sp>
        <p:nvSpPr>
          <p:cNvPr id="195" name="Shape 193"/>
          <p:cNvSpPr/>
          <p:nvPr/>
        </p:nvSpPr>
        <p:spPr>
          <a:xfrm>
            <a:off x="5230368" y="3785616"/>
            <a:ext cx="1051560" cy="2743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96" name="Text 194"/>
          <p:cNvSpPr/>
          <p:nvPr/>
        </p:nvSpPr>
        <p:spPr>
          <a:xfrm>
            <a:off x="5230368" y="378561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CT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suite</a:t>
            </a:r>
            <a:endParaRPr lang="en-US" sz="650" dirty="0"/>
          </a:p>
        </p:txBody>
      </p:sp>
      <p:sp>
        <p:nvSpPr>
          <p:cNvPr id="197" name="Shape 195"/>
          <p:cNvSpPr/>
          <p:nvPr/>
        </p:nvSpPr>
        <p:spPr>
          <a:xfrm>
            <a:off x="6409944" y="3785616"/>
            <a:ext cx="1051560" cy="310896"/>
          </a:xfrm>
          <a:prstGeom prst="rect">
            <a:avLst/>
          </a:prstGeom>
          <a:solidFill>
            <a:srgbClr val="E8DED0"/>
          </a:solidFill>
          <a:ln/>
        </p:spPr>
      </p:sp>
      <p:sp>
        <p:nvSpPr>
          <p:cNvPr id="198" name="Shape 196"/>
          <p:cNvSpPr/>
          <p:nvPr/>
        </p:nvSpPr>
        <p:spPr>
          <a:xfrm>
            <a:off x="6409944" y="3785616"/>
            <a:ext cx="1051560" cy="2743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99" name="Text 197"/>
          <p:cNvSpPr/>
          <p:nvPr/>
        </p:nvSpPr>
        <p:spPr>
          <a:xfrm>
            <a:off x="6409944" y="378561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CT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subset</a:t>
            </a:r>
            <a:endParaRPr lang="en-US" sz="650" dirty="0"/>
          </a:p>
        </p:txBody>
      </p:sp>
      <p:sp>
        <p:nvSpPr>
          <p:cNvPr id="200" name="Shape 198"/>
          <p:cNvSpPr/>
          <p:nvPr/>
        </p:nvSpPr>
        <p:spPr>
          <a:xfrm>
            <a:off x="7589520" y="3785616"/>
            <a:ext cx="1051560" cy="310896"/>
          </a:xfrm>
          <a:prstGeom prst="rect">
            <a:avLst/>
          </a:prstGeom>
          <a:solidFill>
            <a:srgbClr val="F5E8E8"/>
          </a:solidFill>
          <a:ln/>
        </p:spPr>
      </p:sp>
      <p:sp>
        <p:nvSpPr>
          <p:cNvPr id="201" name="Text 199"/>
          <p:cNvSpPr/>
          <p:nvPr/>
        </p:nvSpPr>
        <p:spPr>
          <a:xfrm>
            <a:off x="7589520" y="378561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BLOCKED</a:t>
            </a:r>
            <a:endParaRPr lang="en-US" sz="650" dirty="0"/>
          </a:p>
        </p:txBody>
      </p:sp>
      <p:sp>
        <p:nvSpPr>
          <p:cNvPr id="202" name="Shape 200"/>
          <p:cNvSpPr/>
          <p:nvPr/>
        </p:nvSpPr>
        <p:spPr>
          <a:xfrm>
            <a:off x="365760" y="4114800"/>
            <a:ext cx="13258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3" name="Shape 201"/>
          <p:cNvSpPr/>
          <p:nvPr/>
        </p:nvSpPr>
        <p:spPr>
          <a:xfrm>
            <a:off x="365760" y="4114800"/>
            <a:ext cx="45720" cy="310896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204" name="Shape 202"/>
          <p:cNvSpPr/>
          <p:nvPr/>
        </p:nvSpPr>
        <p:spPr>
          <a:xfrm>
            <a:off x="1399032" y="4151376"/>
            <a:ext cx="256032" cy="128016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205" name="Text 203"/>
          <p:cNvSpPr/>
          <p:nvPr/>
        </p:nvSpPr>
        <p:spPr>
          <a:xfrm>
            <a:off x="1399032" y="415137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600" dirty="0"/>
          </a:p>
        </p:txBody>
      </p:sp>
      <p:sp>
        <p:nvSpPr>
          <p:cNvPr id="206" name="Text 204"/>
          <p:cNvSpPr/>
          <p:nvPr/>
        </p:nvSpPr>
        <p:spPr>
          <a:xfrm>
            <a:off x="457200" y="4123944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Tests</a:t>
            </a:r>
            <a:endParaRPr lang="en-US" sz="750" dirty="0"/>
          </a:p>
        </p:txBody>
      </p:sp>
      <p:sp>
        <p:nvSpPr>
          <p:cNvPr id="207" name="Text 205"/>
          <p:cNvSpPr/>
          <p:nvPr/>
        </p:nvSpPr>
        <p:spPr>
          <a:xfrm>
            <a:off x="457200" y="4261104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600" dirty="0"/>
          </a:p>
        </p:txBody>
      </p:sp>
      <p:sp>
        <p:nvSpPr>
          <p:cNvPr id="208" name="Shape 206"/>
          <p:cNvSpPr/>
          <p:nvPr/>
        </p:nvSpPr>
        <p:spPr>
          <a:xfrm>
            <a:off x="1691640" y="4114800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9" name="Text 207"/>
          <p:cNvSpPr/>
          <p:nvPr/>
        </p:nvSpPr>
        <p:spPr>
          <a:xfrm>
            <a:off x="1691640" y="41148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210" name="Shape 208"/>
          <p:cNvSpPr/>
          <p:nvPr/>
        </p:nvSpPr>
        <p:spPr>
          <a:xfrm>
            <a:off x="2871216" y="4114800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1" name="Text 209"/>
          <p:cNvSpPr/>
          <p:nvPr/>
        </p:nvSpPr>
        <p:spPr>
          <a:xfrm>
            <a:off x="2871216" y="41148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212" name="Shape 210"/>
          <p:cNvSpPr/>
          <p:nvPr/>
        </p:nvSpPr>
        <p:spPr>
          <a:xfrm>
            <a:off x="4050792" y="4114800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3" name="Text 211"/>
          <p:cNvSpPr/>
          <p:nvPr/>
        </p:nvSpPr>
        <p:spPr>
          <a:xfrm>
            <a:off x="4050792" y="41148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214" name="Shape 212"/>
          <p:cNvSpPr/>
          <p:nvPr/>
        </p:nvSpPr>
        <p:spPr>
          <a:xfrm>
            <a:off x="5230368" y="4114800"/>
            <a:ext cx="1051560" cy="310896"/>
          </a:xfrm>
          <a:prstGeom prst="rect">
            <a:avLst/>
          </a:prstGeom>
          <a:solidFill>
            <a:srgbClr val="F0E8D0"/>
          </a:solidFill>
          <a:ln/>
        </p:spPr>
      </p:sp>
      <p:sp>
        <p:nvSpPr>
          <p:cNvPr id="215" name="Shape 213"/>
          <p:cNvSpPr/>
          <p:nvPr/>
        </p:nvSpPr>
        <p:spPr>
          <a:xfrm>
            <a:off x="5230368" y="4114800"/>
            <a:ext cx="1051560" cy="27432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216" name="Text 214"/>
          <p:cNvSpPr/>
          <p:nvPr/>
        </p:nvSpPr>
        <p:spPr>
          <a:xfrm>
            <a:off x="5230368" y="41148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CT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E2E</a:t>
            </a:r>
            <a:endParaRPr lang="en-US" sz="650" dirty="0"/>
          </a:p>
        </p:txBody>
      </p:sp>
      <p:sp>
        <p:nvSpPr>
          <p:cNvPr id="217" name="Shape 215"/>
          <p:cNvSpPr/>
          <p:nvPr/>
        </p:nvSpPr>
        <p:spPr>
          <a:xfrm>
            <a:off x="6409944" y="4114800"/>
            <a:ext cx="1051560" cy="310896"/>
          </a:xfrm>
          <a:prstGeom prst="rect">
            <a:avLst/>
          </a:prstGeom>
          <a:solidFill>
            <a:srgbClr val="F0E8D0"/>
          </a:solidFill>
          <a:ln/>
        </p:spPr>
      </p:sp>
      <p:sp>
        <p:nvSpPr>
          <p:cNvPr id="218" name="Shape 216"/>
          <p:cNvSpPr/>
          <p:nvPr/>
        </p:nvSpPr>
        <p:spPr>
          <a:xfrm>
            <a:off x="6409944" y="4114800"/>
            <a:ext cx="1051560" cy="27432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219" name="Text 217"/>
          <p:cNvSpPr/>
          <p:nvPr/>
        </p:nvSpPr>
        <p:spPr>
          <a:xfrm>
            <a:off x="6409944" y="41148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CT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(safe)</a:t>
            </a:r>
            <a:endParaRPr lang="en-US" sz="650" dirty="0"/>
          </a:p>
        </p:txBody>
      </p:sp>
      <p:sp>
        <p:nvSpPr>
          <p:cNvPr id="220" name="Shape 218"/>
          <p:cNvSpPr/>
          <p:nvPr/>
        </p:nvSpPr>
        <p:spPr>
          <a:xfrm>
            <a:off x="7589520" y="4114800"/>
            <a:ext cx="1051560" cy="310896"/>
          </a:xfrm>
          <a:prstGeom prst="rect">
            <a:avLst/>
          </a:prstGeom>
          <a:solidFill>
            <a:srgbClr val="F5E8E8"/>
          </a:solidFill>
          <a:ln/>
        </p:spPr>
      </p:sp>
      <p:sp>
        <p:nvSpPr>
          <p:cNvPr id="221" name="Text 219"/>
          <p:cNvSpPr/>
          <p:nvPr/>
        </p:nvSpPr>
        <p:spPr>
          <a:xfrm>
            <a:off x="7589520" y="41148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BLOCKED</a:t>
            </a:r>
            <a:endParaRPr lang="en-US" sz="650" dirty="0"/>
          </a:p>
        </p:txBody>
      </p:sp>
      <p:sp>
        <p:nvSpPr>
          <p:cNvPr id="222" name="Shape 220"/>
          <p:cNvSpPr/>
          <p:nvPr/>
        </p:nvSpPr>
        <p:spPr>
          <a:xfrm>
            <a:off x="365760" y="4443984"/>
            <a:ext cx="13258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3" name="Shape 221"/>
          <p:cNvSpPr/>
          <p:nvPr/>
        </p:nvSpPr>
        <p:spPr>
          <a:xfrm>
            <a:off x="365760" y="4443984"/>
            <a:ext cx="45720" cy="310896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224" name="Shape 222"/>
          <p:cNvSpPr/>
          <p:nvPr/>
        </p:nvSpPr>
        <p:spPr>
          <a:xfrm>
            <a:off x="1399032" y="4480560"/>
            <a:ext cx="256032" cy="128016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225" name="Text 223"/>
          <p:cNvSpPr/>
          <p:nvPr/>
        </p:nvSpPr>
        <p:spPr>
          <a:xfrm>
            <a:off x="1399032" y="448056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600" dirty="0"/>
          </a:p>
        </p:txBody>
      </p:sp>
      <p:sp>
        <p:nvSpPr>
          <p:cNvPr id="226" name="Text 224"/>
          <p:cNvSpPr/>
          <p:nvPr/>
        </p:nvSpPr>
        <p:spPr>
          <a:xfrm>
            <a:off x="457200" y="4453128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750" dirty="0"/>
          </a:p>
        </p:txBody>
      </p:sp>
      <p:sp>
        <p:nvSpPr>
          <p:cNvPr id="227" name="Text 225"/>
          <p:cNvSpPr/>
          <p:nvPr/>
        </p:nvSpPr>
        <p:spPr>
          <a:xfrm>
            <a:off x="457200" y="4590288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600" dirty="0"/>
          </a:p>
        </p:txBody>
      </p:sp>
      <p:sp>
        <p:nvSpPr>
          <p:cNvPr id="228" name="Shape 226"/>
          <p:cNvSpPr/>
          <p:nvPr/>
        </p:nvSpPr>
        <p:spPr>
          <a:xfrm>
            <a:off x="1691640" y="4443984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9" name="Text 227"/>
          <p:cNvSpPr/>
          <p:nvPr/>
        </p:nvSpPr>
        <p:spPr>
          <a:xfrm>
            <a:off x="1691640" y="44439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230" name="Shape 228"/>
          <p:cNvSpPr/>
          <p:nvPr/>
        </p:nvSpPr>
        <p:spPr>
          <a:xfrm>
            <a:off x="2871216" y="4443984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1" name="Text 229"/>
          <p:cNvSpPr/>
          <p:nvPr/>
        </p:nvSpPr>
        <p:spPr>
          <a:xfrm>
            <a:off x="2871216" y="44439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232" name="Shape 230"/>
          <p:cNvSpPr/>
          <p:nvPr/>
        </p:nvSpPr>
        <p:spPr>
          <a:xfrm>
            <a:off x="4050792" y="4443984"/>
            <a:ext cx="1051560" cy="310896"/>
          </a:xfrm>
          <a:prstGeom prst="rect">
            <a:avLst/>
          </a:prstGeom>
          <a:solidFill>
            <a:srgbClr val="F0E8D0"/>
          </a:solidFill>
          <a:ln/>
        </p:spPr>
      </p:sp>
      <p:sp>
        <p:nvSpPr>
          <p:cNvPr id="233" name="Shape 231"/>
          <p:cNvSpPr/>
          <p:nvPr/>
        </p:nvSpPr>
        <p:spPr>
          <a:xfrm>
            <a:off x="4050792" y="4443984"/>
            <a:ext cx="1051560" cy="27432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234" name="Text 232"/>
          <p:cNvSpPr/>
          <p:nvPr/>
        </p:nvSpPr>
        <p:spPr>
          <a:xfrm>
            <a:off x="4050792" y="44439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CT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650" dirty="0"/>
          </a:p>
        </p:txBody>
      </p:sp>
      <p:sp>
        <p:nvSpPr>
          <p:cNvPr id="235" name="Shape 233"/>
          <p:cNvSpPr/>
          <p:nvPr/>
        </p:nvSpPr>
        <p:spPr>
          <a:xfrm>
            <a:off x="5230368" y="4443984"/>
            <a:ext cx="1051560" cy="310896"/>
          </a:xfrm>
          <a:prstGeom prst="rect">
            <a:avLst/>
          </a:prstGeom>
          <a:solidFill>
            <a:srgbClr val="F0E8D0"/>
          </a:solidFill>
          <a:ln/>
        </p:spPr>
      </p:sp>
      <p:sp>
        <p:nvSpPr>
          <p:cNvPr id="236" name="Shape 234"/>
          <p:cNvSpPr/>
          <p:nvPr/>
        </p:nvSpPr>
        <p:spPr>
          <a:xfrm>
            <a:off x="5230368" y="4443984"/>
            <a:ext cx="1051560" cy="27432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237" name="Text 235"/>
          <p:cNvSpPr/>
          <p:nvPr/>
        </p:nvSpPr>
        <p:spPr>
          <a:xfrm>
            <a:off x="5230368" y="44439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CT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650" dirty="0"/>
          </a:p>
        </p:txBody>
      </p:sp>
      <p:sp>
        <p:nvSpPr>
          <p:cNvPr id="238" name="Shape 236"/>
          <p:cNvSpPr/>
          <p:nvPr/>
        </p:nvSpPr>
        <p:spPr>
          <a:xfrm>
            <a:off x="6409944" y="4443984"/>
            <a:ext cx="1051560" cy="310896"/>
          </a:xfrm>
          <a:prstGeom prst="rect">
            <a:avLst/>
          </a:prstGeom>
          <a:solidFill>
            <a:srgbClr val="F5E8E8"/>
          </a:solidFill>
          <a:ln/>
        </p:spPr>
      </p:sp>
      <p:sp>
        <p:nvSpPr>
          <p:cNvPr id="239" name="Text 237"/>
          <p:cNvSpPr/>
          <p:nvPr/>
        </p:nvSpPr>
        <p:spPr>
          <a:xfrm>
            <a:off x="6409944" y="44439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BLOCKED</a:t>
            </a:r>
            <a:endParaRPr lang="en-US" sz="650" dirty="0"/>
          </a:p>
        </p:txBody>
      </p:sp>
      <p:sp>
        <p:nvSpPr>
          <p:cNvPr id="240" name="Shape 238"/>
          <p:cNvSpPr/>
          <p:nvPr/>
        </p:nvSpPr>
        <p:spPr>
          <a:xfrm>
            <a:off x="7589520" y="4443984"/>
            <a:ext cx="1051560" cy="310896"/>
          </a:xfrm>
          <a:prstGeom prst="rect">
            <a:avLst/>
          </a:prstGeom>
          <a:solidFill>
            <a:srgbClr val="F5E8E8"/>
          </a:solidFill>
          <a:ln/>
        </p:spPr>
      </p:sp>
      <p:sp>
        <p:nvSpPr>
          <p:cNvPr id="241" name="Text 239"/>
          <p:cNvSpPr/>
          <p:nvPr/>
        </p:nvSpPr>
        <p:spPr>
          <a:xfrm>
            <a:off x="7589520" y="44439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BLOCKED</a:t>
            </a:r>
            <a:endParaRPr lang="en-US" sz="650" dirty="0"/>
          </a:p>
        </p:txBody>
      </p:sp>
      <p:sp>
        <p:nvSpPr>
          <p:cNvPr id="242" name="Text 240"/>
          <p:cNvSpPr/>
          <p:nvPr/>
        </p:nvSpPr>
        <p:spPr>
          <a:xfrm>
            <a:off x="365760" y="473659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Level:</a:t>
            </a:r>
            <a:endParaRPr lang="en-US" sz="700" dirty="0"/>
          </a:p>
        </p:txBody>
      </p:sp>
      <p:sp>
        <p:nvSpPr>
          <p:cNvPr id="243" name="Shape 241"/>
          <p:cNvSpPr/>
          <p:nvPr/>
        </p:nvSpPr>
        <p:spPr>
          <a:xfrm>
            <a:off x="1280160" y="4754880"/>
            <a:ext cx="128016" cy="128016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244" name="Text 242"/>
          <p:cNvSpPr/>
          <p:nvPr/>
        </p:nvSpPr>
        <p:spPr>
          <a:xfrm>
            <a:off x="1444752" y="47365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— Initial</a:t>
            </a:r>
            <a:endParaRPr lang="en-US" sz="650" dirty="0"/>
          </a:p>
        </p:txBody>
      </p:sp>
      <p:sp>
        <p:nvSpPr>
          <p:cNvPr id="245" name="Shape 243"/>
          <p:cNvSpPr/>
          <p:nvPr/>
        </p:nvSpPr>
        <p:spPr>
          <a:xfrm>
            <a:off x="2633472" y="4754880"/>
            <a:ext cx="128016" cy="12801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46" name="Text 244"/>
          <p:cNvSpPr/>
          <p:nvPr/>
        </p:nvSpPr>
        <p:spPr>
          <a:xfrm>
            <a:off x="2798064" y="47365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— Managed</a:t>
            </a:r>
            <a:endParaRPr lang="en-US" sz="650" dirty="0"/>
          </a:p>
        </p:txBody>
      </p:sp>
      <p:sp>
        <p:nvSpPr>
          <p:cNvPr id="247" name="Shape 245"/>
          <p:cNvSpPr/>
          <p:nvPr/>
        </p:nvSpPr>
        <p:spPr>
          <a:xfrm>
            <a:off x="3986784" y="4754880"/>
            <a:ext cx="128016" cy="12801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248" name="Text 246"/>
          <p:cNvSpPr/>
          <p:nvPr/>
        </p:nvSpPr>
        <p:spPr>
          <a:xfrm>
            <a:off x="4151376" y="47365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— Defined</a:t>
            </a:r>
            <a:endParaRPr lang="en-US" sz="650" dirty="0"/>
          </a:p>
        </p:txBody>
      </p:sp>
      <p:sp>
        <p:nvSpPr>
          <p:cNvPr id="249" name="Shape 247"/>
          <p:cNvSpPr/>
          <p:nvPr/>
        </p:nvSpPr>
        <p:spPr>
          <a:xfrm>
            <a:off x="5340096" y="4754880"/>
            <a:ext cx="128016" cy="128016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250" name="Text 248"/>
          <p:cNvSpPr/>
          <p:nvPr/>
        </p:nvSpPr>
        <p:spPr>
          <a:xfrm>
            <a:off x="5504688" y="47365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— Quantitative</a:t>
            </a:r>
            <a:endParaRPr lang="en-US" sz="650" dirty="0"/>
          </a:p>
        </p:txBody>
      </p:sp>
      <p:sp>
        <p:nvSpPr>
          <p:cNvPr id="251" name="Shape 249"/>
          <p:cNvSpPr/>
          <p:nvPr/>
        </p:nvSpPr>
        <p:spPr>
          <a:xfrm>
            <a:off x="6693408" y="4754880"/>
            <a:ext cx="128016" cy="128016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252" name="Text 250"/>
          <p:cNvSpPr/>
          <p:nvPr/>
        </p:nvSpPr>
        <p:spPr>
          <a:xfrm>
            <a:off x="6858000" y="47365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— Optimizing</a:t>
            </a:r>
            <a:endParaRPr lang="en-US" sz="650" dirty="0"/>
          </a:p>
        </p:txBody>
      </p:sp>
      <p:sp>
        <p:nvSpPr>
          <p:cNvPr id="253" name="Shape 251"/>
          <p:cNvSpPr/>
          <p:nvPr/>
        </p:nvSpPr>
        <p:spPr>
          <a:xfrm>
            <a:off x="8046720" y="4754880"/>
            <a:ext cx="128016" cy="128016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54" name="Text 252"/>
          <p:cNvSpPr/>
          <p:nvPr/>
        </p:nvSpPr>
        <p:spPr>
          <a:xfrm>
            <a:off x="8211312" y="47365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Blocked</a:t>
            </a:r>
            <a:endParaRPr lang="en-US" sz="650" dirty="0"/>
          </a:p>
        </p:txBody>
      </p:sp>
      <p:sp>
        <p:nvSpPr>
          <p:cNvPr id="255" name="Text 253"/>
          <p:cNvSpPr/>
          <p:nvPr/>
        </p:nvSpPr>
        <p:spPr>
          <a:xfrm>
            <a:off x="365760" y="49194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0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bottom-to-top: Level 1 activities must be in place before Level 2 can be activated. Each level builds on the previous.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Maturity &amp; Delivery Pipeline</dc:title>
  <dc:subject>PptxGenJS Presentation</dc:subject>
  <dc:creator>Quality Engineering</dc:creator>
  <cp:lastModifiedBy>Quality Engineering</cp:lastModifiedBy>
  <cp:revision>1</cp:revision>
  <dcterms:created xsi:type="dcterms:W3CDTF">2026-04-15T21:41:01Z</dcterms:created>
  <dcterms:modified xsi:type="dcterms:W3CDTF">2026-04-15T21:41:01Z</dcterms:modified>
</cp:coreProperties>
</file>