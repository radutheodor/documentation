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91440"/>
            <a:ext cx="8503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Roadmap Phases × Maturity Levels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320040" y="384048"/>
            <a:ext cx="8503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9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phase delivers tasks that raise teams across maturity levels — tasks tagged by dimension (T = Testing · P = Performance · O = Observability · R = Production)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320040" y="640080"/>
            <a:ext cx="1417320" cy="384048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640080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↓ / Level →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783080" y="640080"/>
            <a:ext cx="1371600" cy="384048"/>
          </a:xfrm>
          <a:prstGeom prst="rect">
            <a:avLst/>
          </a:prstGeom>
          <a:solidFill>
            <a:srgbClr val="1C2126"/>
          </a:solidFill>
          <a:ln/>
        </p:spPr>
      </p:sp>
      <p:sp>
        <p:nvSpPr>
          <p:cNvPr id="7" name="Text 5"/>
          <p:cNvSpPr/>
          <p:nvPr/>
        </p:nvSpPr>
        <p:spPr>
          <a:xfrm>
            <a:off x="1783080" y="64008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L1 — Initial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200400" y="640080"/>
            <a:ext cx="1371600" cy="384048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9" name="Text 7"/>
          <p:cNvSpPr/>
          <p:nvPr/>
        </p:nvSpPr>
        <p:spPr>
          <a:xfrm>
            <a:off x="3200400" y="64008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L2 — Managed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617720" y="640080"/>
            <a:ext cx="1371600" cy="384048"/>
          </a:xfrm>
          <a:prstGeom prst="rect">
            <a:avLst/>
          </a:prstGeom>
          <a:solidFill>
            <a:srgbClr val="8B7355"/>
          </a:solidFill>
          <a:ln/>
        </p:spPr>
      </p:sp>
      <p:sp>
        <p:nvSpPr>
          <p:cNvPr id="11" name="Text 9"/>
          <p:cNvSpPr/>
          <p:nvPr/>
        </p:nvSpPr>
        <p:spPr>
          <a:xfrm>
            <a:off x="4617720" y="64008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L3 — Defined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035040" y="640080"/>
            <a:ext cx="1371600" cy="384048"/>
          </a:xfrm>
          <a:prstGeom prst="rect">
            <a:avLst/>
          </a:prstGeom>
          <a:solidFill>
            <a:srgbClr val="D4890B"/>
          </a:solidFill>
          <a:ln/>
        </p:spPr>
      </p:sp>
      <p:sp>
        <p:nvSpPr>
          <p:cNvPr id="13" name="Text 11"/>
          <p:cNvSpPr/>
          <p:nvPr/>
        </p:nvSpPr>
        <p:spPr>
          <a:xfrm>
            <a:off x="6035040" y="64008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L4 — Quantitative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7452360" y="640080"/>
            <a:ext cx="1371600" cy="384048"/>
          </a:xfrm>
          <a:prstGeom prst="rect">
            <a:avLst/>
          </a:prstGeom>
          <a:solidFill>
            <a:srgbClr val="5B8EA5"/>
          </a:solidFill>
          <a:ln/>
        </p:spPr>
      </p:sp>
      <p:sp>
        <p:nvSpPr>
          <p:cNvPr id="15" name="Text 13"/>
          <p:cNvSpPr/>
          <p:nvPr/>
        </p:nvSpPr>
        <p:spPr>
          <a:xfrm>
            <a:off x="7452360" y="64008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L5 — Optimizing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20040" y="1060704"/>
            <a:ext cx="1417320" cy="9144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Shape 15"/>
          <p:cNvSpPr/>
          <p:nvPr/>
        </p:nvSpPr>
        <p:spPr>
          <a:xfrm>
            <a:off x="320040" y="1060704"/>
            <a:ext cx="91440" cy="91440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18" name="Text 16"/>
          <p:cNvSpPr/>
          <p:nvPr/>
        </p:nvSpPr>
        <p:spPr>
          <a:xfrm>
            <a:off x="484632" y="1115568"/>
            <a:ext cx="119786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9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I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84632" y="1243584"/>
            <a:ext cx="11978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D6A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Deliver Patch to Production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4632" y="1664208"/>
            <a:ext cx="119786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C21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3–6 months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84632" y="1801368"/>
            <a:ext cx="11978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A09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Minimum viable pipeline from commit to PROD.</a:t>
            </a:r>
            <a:endParaRPr lang="en-US" sz="650" dirty="0"/>
          </a:p>
        </p:txBody>
      </p:sp>
      <p:sp>
        <p:nvSpPr>
          <p:cNvPr id="22" name="Shape 20"/>
          <p:cNvSpPr/>
          <p:nvPr/>
        </p:nvSpPr>
        <p:spPr>
          <a:xfrm>
            <a:off x="1783080" y="1060704"/>
            <a:ext cx="1371600" cy="914400"/>
          </a:xfrm>
          <a:prstGeom prst="rect">
            <a:avLst/>
          </a:prstGeom>
          <a:solidFill>
            <a:srgbClr val="E0E4EA"/>
          </a:solidFill>
          <a:ln/>
        </p:spPr>
      </p:sp>
      <p:sp>
        <p:nvSpPr>
          <p:cNvPr id="23" name="Shape 21"/>
          <p:cNvSpPr/>
          <p:nvPr/>
        </p:nvSpPr>
        <p:spPr>
          <a:xfrm>
            <a:off x="1783080" y="1060704"/>
            <a:ext cx="1371600" cy="36576"/>
          </a:xfrm>
          <a:prstGeom prst="rect">
            <a:avLst/>
          </a:prstGeom>
          <a:solidFill>
            <a:srgbClr val="1C2126"/>
          </a:solidFill>
          <a:ln/>
        </p:spPr>
      </p:sp>
      <p:sp>
        <p:nvSpPr>
          <p:cNvPr id="24" name="Shape 22"/>
          <p:cNvSpPr/>
          <p:nvPr/>
        </p:nvSpPr>
        <p:spPr>
          <a:xfrm>
            <a:off x="1828800" y="1115568"/>
            <a:ext cx="146304" cy="118872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25" name="Text 23"/>
          <p:cNvSpPr/>
          <p:nvPr/>
        </p:nvSpPr>
        <p:spPr>
          <a:xfrm>
            <a:off x="1828800" y="1115568"/>
            <a:ext cx="14630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2002536" y="1110996"/>
            <a:ext cx="109728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 tests in CI · Static analysis on commit · Test cases in qTest · SAST on every PR</a:t>
            </a:r>
            <a:endParaRPr lang="en-US" sz="550" dirty="0"/>
          </a:p>
        </p:txBody>
      </p:sp>
      <p:sp>
        <p:nvSpPr>
          <p:cNvPr id="27" name="Shape 25"/>
          <p:cNvSpPr/>
          <p:nvPr/>
        </p:nvSpPr>
        <p:spPr>
          <a:xfrm>
            <a:off x="1828800" y="1371600"/>
            <a:ext cx="146304" cy="118872"/>
          </a:xfrm>
          <a:prstGeom prst="rect">
            <a:avLst/>
          </a:prstGeom>
          <a:solidFill>
            <a:srgbClr val="8B7355"/>
          </a:solidFill>
          <a:ln/>
        </p:spPr>
      </p:sp>
      <p:sp>
        <p:nvSpPr>
          <p:cNvPr id="28" name="Text 26"/>
          <p:cNvSpPr/>
          <p:nvPr/>
        </p:nvSpPr>
        <p:spPr>
          <a:xfrm>
            <a:off x="1828800" y="1371600"/>
            <a:ext cx="14630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2002536" y="1367028"/>
            <a:ext cx="10972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 baseline</a:t>
            </a:r>
            <a:endParaRPr lang="en-US" sz="550" dirty="0"/>
          </a:p>
        </p:txBody>
      </p:sp>
      <p:sp>
        <p:nvSpPr>
          <p:cNvPr id="30" name="Shape 28"/>
          <p:cNvSpPr/>
          <p:nvPr/>
        </p:nvSpPr>
        <p:spPr>
          <a:xfrm>
            <a:off x="1828800" y="1513332"/>
            <a:ext cx="146304" cy="118872"/>
          </a:xfrm>
          <a:prstGeom prst="rect">
            <a:avLst/>
          </a:prstGeom>
          <a:solidFill>
            <a:srgbClr val="5B8EA5"/>
          </a:solidFill>
          <a:ln/>
        </p:spPr>
      </p:sp>
      <p:sp>
        <p:nvSpPr>
          <p:cNvPr id="31" name="Text 29"/>
          <p:cNvSpPr/>
          <p:nvPr/>
        </p:nvSpPr>
        <p:spPr>
          <a:xfrm>
            <a:off x="1828800" y="1513332"/>
            <a:ext cx="14630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2002536" y="1508760"/>
            <a:ext cx="109728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Structured JSON logs · Health endpoints · Central log aggregation</a:t>
            </a:r>
            <a:endParaRPr lang="en-US" sz="550" dirty="0"/>
          </a:p>
        </p:txBody>
      </p:sp>
      <p:sp>
        <p:nvSpPr>
          <p:cNvPr id="33" name="Shape 31"/>
          <p:cNvSpPr/>
          <p:nvPr/>
        </p:nvSpPr>
        <p:spPr>
          <a:xfrm>
            <a:off x="1828800" y="1769364"/>
            <a:ext cx="146304" cy="118872"/>
          </a:xfrm>
          <a:prstGeom prst="rect">
            <a:avLst/>
          </a:prstGeom>
          <a:solidFill>
            <a:srgbClr val="D4890B"/>
          </a:solidFill>
          <a:ln/>
        </p:spPr>
      </p:sp>
      <p:sp>
        <p:nvSpPr>
          <p:cNvPr id="34" name="Text 32"/>
          <p:cNvSpPr/>
          <p:nvPr/>
        </p:nvSpPr>
        <p:spPr>
          <a:xfrm>
            <a:off x="1828800" y="1769364"/>
            <a:ext cx="14630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2002536" y="1764792"/>
            <a:ext cx="10972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Incidents logged · P1/P2/P3 severity · PIR for P1s</a:t>
            </a:r>
            <a:endParaRPr lang="en-US" sz="550" dirty="0"/>
          </a:p>
        </p:txBody>
      </p:sp>
      <p:sp>
        <p:nvSpPr>
          <p:cNvPr id="36" name="Shape 34"/>
          <p:cNvSpPr/>
          <p:nvPr/>
        </p:nvSpPr>
        <p:spPr>
          <a:xfrm>
            <a:off x="3200400" y="1060704"/>
            <a:ext cx="1371600" cy="914400"/>
          </a:xfrm>
          <a:prstGeom prst="rect">
            <a:avLst/>
          </a:prstGeom>
          <a:solidFill>
            <a:srgbClr val="F2F2F0"/>
          </a:solidFill>
          <a:ln/>
        </p:spPr>
      </p:sp>
      <p:sp>
        <p:nvSpPr>
          <p:cNvPr id="37" name="Shape 35"/>
          <p:cNvSpPr/>
          <p:nvPr/>
        </p:nvSpPr>
        <p:spPr>
          <a:xfrm>
            <a:off x="3200400" y="1060704"/>
            <a:ext cx="1371600" cy="36576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38" name="Text 36"/>
          <p:cNvSpPr/>
          <p:nvPr/>
        </p:nvSpPr>
        <p:spPr>
          <a:xfrm>
            <a:off x="3200400" y="1060704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8C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4617720" y="1060704"/>
            <a:ext cx="1371600" cy="914400"/>
          </a:xfrm>
          <a:prstGeom prst="rect">
            <a:avLst/>
          </a:prstGeom>
          <a:solidFill>
            <a:srgbClr val="F2F2F0"/>
          </a:solidFill>
          <a:ln/>
        </p:spPr>
      </p:sp>
      <p:sp>
        <p:nvSpPr>
          <p:cNvPr id="40" name="Shape 38"/>
          <p:cNvSpPr/>
          <p:nvPr/>
        </p:nvSpPr>
        <p:spPr>
          <a:xfrm>
            <a:off x="4617720" y="1060704"/>
            <a:ext cx="1371600" cy="36576"/>
          </a:xfrm>
          <a:prstGeom prst="rect">
            <a:avLst/>
          </a:prstGeom>
          <a:solidFill>
            <a:srgbClr val="8B7355"/>
          </a:solidFill>
          <a:ln/>
        </p:spPr>
      </p:sp>
      <p:sp>
        <p:nvSpPr>
          <p:cNvPr id="41" name="Text 39"/>
          <p:cNvSpPr/>
          <p:nvPr/>
        </p:nvSpPr>
        <p:spPr>
          <a:xfrm>
            <a:off x="4617720" y="1060704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8C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6035040" y="1060704"/>
            <a:ext cx="1371600" cy="914400"/>
          </a:xfrm>
          <a:prstGeom prst="rect">
            <a:avLst/>
          </a:prstGeom>
          <a:solidFill>
            <a:srgbClr val="F2F2F0"/>
          </a:solidFill>
          <a:ln/>
        </p:spPr>
      </p:sp>
      <p:sp>
        <p:nvSpPr>
          <p:cNvPr id="43" name="Shape 41"/>
          <p:cNvSpPr/>
          <p:nvPr/>
        </p:nvSpPr>
        <p:spPr>
          <a:xfrm>
            <a:off x="6035040" y="1060704"/>
            <a:ext cx="1371600" cy="36576"/>
          </a:xfrm>
          <a:prstGeom prst="rect">
            <a:avLst/>
          </a:prstGeom>
          <a:solidFill>
            <a:srgbClr val="D4890B"/>
          </a:solidFill>
          <a:ln/>
        </p:spPr>
      </p:sp>
      <p:sp>
        <p:nvSpPr>
          <p:cNvPr id="44" name="Text 42"/>
          <p:cNvSpPr/>
          <p:nvPr/>
        </p:nvSpPr>
        <p:spPr>
          <a:xfrm>
            <a:off x="6035040" y="1060704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8C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400" dirty="0"/>
          </a:p>
        </p:txBody>
      </p:sp>
      <p:sp>
        <p:nvSpPr>
          <p:cNvPr id="45" name="Shape 43"/>
          <p:cNvSpPr/>
          <p:nvPr/>
        </p:nvSpPr>
        <p:spPr>
          <a:xfrm>
            <a:off x="7452360" y="1060704"/>
            <a:ext cx="1371600" cy="914400"/>
          </a:xfrm>
          <a:prstGeom prst="rect">
            <a:avLst/>
          </a:prstGeom>
          <a:solidFill>
            <a:srgbClr val="F2F2F0"/>
          </a:solidFill>
          <a:ln/>
        </p:spPr>
      </p:sp>
      <p:sp>
        <p:nvSpPr>
          <p:cNvPr id="46" name="Shape 44"/>
          <p:cNvSpPr/>
          <p:nvPr/>
        </p:nvSpPr>
        <p:spPr>
          <a:xfrm>
            <a:off x="7452360" y="1060704"/>
            <a:ext cx="1371600" cy="36576"/>
          </a:xfrm>
          <a:prstGeom prst="rect">
            <a:avLst/>
          </a:prstGeom>
          <a:solidFill>
            <a:srgbClr val="5B8EA5"/>
          </a:solidFill>
          <a:ln/>
        </p:spPr>
      </p:sp>
      <p:sp>
        <p:nvSpPr>
          <p:cNvPr id="47" name="Text 45"/>
          <p:cNvSpPr/>
          <p:nvPr/>
        </p:nvSpPr>
        <p:spPr>
          <a:xfrm>
            <a:off x="7452360" y="1060704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8C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400" dirty="0"/>
          </a:p>
        </p:txBody>
      </p:sp>
      <p:sp>
        <p:nvSpPr>
          <p:cNvPr id="48" name="Shape 46"/>
          <p:cNvSpPr/>
          <p:nvPr/>
        </p:nvSpPr>
        <p:spPr>
          <a:xfrm>
            <a:off x="320040" y="2002536"/>
            <a:ext cx="1417320" cy="9144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9" name="Shape 47"/>
          <p:cNvSpPr/>
          <p:nvPr/>
        </p:nvSpPr>
        <p:spPr>
          <a:xfrm>
            <a:off x="320040" y="2002536"/>
            <a:ext cx="91440" cy="914400"/>
          </a:xfrm>
          <a:prstGeom prst="rect">
            <a:avLst/>
          </a:prstGeom>
          <a:solidFill>
            <a:srgbClr val="5B8EA5"/>
          </a:solidFill>
          <a:ln/>
        </p:spPr>
      </p:sp>
      <p:sp>
        <p:nvSpPr>
          <p:cNvPr id="50" name="Text 48"/>
          <p:cNvSpPr/>
          <p:nvPr/>
        </p:nvSpPr>
        <p:spPr>
          <a:xfrm>
            <a:off x="484632" y="2057400"/>
            <a:ext cx="119786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9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II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484632" y="2185416"/>
            <a:ext cx="11978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5B8EA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Full Automation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484632" y="2606040"/>
            <a:ext cx="119786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C21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6–12 months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484632" y="2743200"/>
            <a:ext cx="11978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A09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 every quality gate. Eliminate manual handoffs.</a:t>
            </a:r>
            <a:endParaRPr lang="en-US" sz="650" dirty="0"/>
          </a:p>
        </p:txBody>
      </p:sp>
      <p:sp>
        <p:nvSpPr>
          <p:cNvPr id="54" name="Shape 52"/>
          <p:cNvSpPr/>
          <p:nvPr/>
        </p:nvSpPr>
        <p:spPr>
          <a:xfrm>
            <a:off x="1783080" y="2002536"/>
            <a:ext cx="1371600" cy="914400"/>
          </a:xfrm>
          <a:prstGeom prst="rect">
            <a:avLst/>
          </a:prstGeom>
          <a:solidFill>
            <a:srgbClr val="F2F2F0"/>
          </a:solidFill>
          <a:ln/>
        </p:spPr>
      </p:sp>
      <p:sp>
        <p:nvSpPr>
          <p:cNvPr id="55" name="Shape 53"/>
          <p:cNvSpPr/>
          <p:nvPr/>
        </p:nvSpPr>
        <p:spPr>
          <a:xfrm>
            <a:off x="1783080" y="2002536"/>
            <a:ext cx="1371600" cy="36576"/>
          </a:xfrm>
          <a:prstGeom prst="rect">
            <a:avLst/>
          </a:prstGeom>
          <a:solidFill>
            <a:srgbClr val="1C2126"/>
          </a:solidFill>
          <a:ln/>
        </p:spPr>
      </p:sp>
      <p:sp>
        <p:nvSpPr>
          <p:cNvPr id="56" name="Text 54"/>
          <p:cNvSpPr/>
          <p:nvPr/>
        </p:nvSpPr>
        <p:spPr>
          <a:xfrm>
            <a:off x="1783080" y="2002536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8C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400" dirty="0"/>
          </a:p>
        </p:txBody>
      </p:sp>
      <p:sp>
        <p:nvSpPr>
          <p:cNvPr id="57" name="Shape 55"/>
          <p:cNvSpPr/>
          <p:nvPr/>
        </p:nvSpPr>
        <p:spPr>
          <a:xfrm>
            <a:off x="3200400" y="2002536"/>
            <a:ext cx="1371600" cy="914400"/>
          </a:xfrm>
          <a:prstGeom prst="rect">
            <a:avLst/>
          </a:prstGeom>
          <a:solidFill>
            <a:srgbClr val="E8F0E8"/>
          </a:solidFill>
          <a:ln/>
        </p:spPr>
      </p:sp>
      <p:sp>
        <p:nvSpPr>
          <p:cNvPr id="58" name="Shape 56"/>
          <p:cNvSpPr/>
          <p:nvPr/>
        </p:nvSpPr>
        <p:spPr>
          <a:xfrm>
            <a:off x="3200400" y="2002536"/>
            <a:ext cx="1371600" cy="36576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59" name="Shape 57"/>
          <p:cNvSpPr/>
          <p:nvPr/>
        </p:nvSpPr>
        <p:spPr>
          <a:xfrm>
            <a:off x="3246120" y="2057400"/>
            <a:ext cx="146304" cy="118872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60" name="Text 58"/>
          <p:cNvSpPr/>
          <p:nvPr/>
        </p:nvSpPr>
        <p:spPr>
          <a:xfrm>
            <a:off x="3246120" y="2057400"/>
            <a:ext cx="14630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</a:t>
            </a:r>
            <a:endParaRPr lang="en-US" sz="700" dirty="0"/>
          </a:p>
        </p:txBody>
      </p:sp>
      <p:sp>
        <p:nvSpPr>
          <p:cNvPr id="61" name="Text 59"/>
          <p:cNvSpPr/>
          <p:nvPr/>
        </p:nvSpPr>
        <p:spPr>
          <a:xfrm>
            <a:off x="3419856" y="2052828"/>
            <a:ext cx="1097280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Component tests (mocked) · Coverage gate in CI · Pact + Schema contracts · App Integration in TEST · E2E top journeys · Smoke tiers 1/2/3</a:t>
            </a:r>
            <a:endParaRPr lang="en-US" sz="550" dirty="0"/>
          </a:p>
        </p:txBody>
      </p:sp>
      <p:sp>
        <p:nvSpPr>
          <p:cNvPr id="62" name="Shape 60"/>
          <p:cNvSpPr/>
          <p:nvPr/>
        </p:nvSpPr>
        <p:spPr>
          <a:xfrm>
            <a:off x="3246120" y="2468880"/>
            <a:ext cx="146304" cy="118872"/>
          </a:xfrm>
          <a:prstGeom prst="rect">
            <a:avLst/>
          </a:prstGeom>
          <a:solidFill>
            <a:srgbClr val="8B7355"/>
          </a:solidFill>
          <a:ln/>
        </p:spPr>
      </p:sp>
      <p:sp>
        <p:nvSpPr>
          <p:cNvPr id="63" name="Text 61"/>
          <p:cNvSpPr/>
          <p:nvPr/>
        </p:nvSpPr>
        <p:spPr>
          <a:xfrm>
            <a:off x="3246120" y="2468880"/>
            <a:ext cx="14630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</a:t>
            </a:r>
            <a:endParaRPr lang="en-US" sz="700" dirty="0"/>
          </a:p>
        </p:txBody>
      </p:sp>
      <p:sp>
        <p:nvSpPr>
          <p:cNvPr id="64" name="Text 62"/>
          <p:cNvSpPr/>
          <p:nvPr/>
        </p:nvSpPr>
        <p:spPr>
          <a:xfrm>
            <a:off x="3419856" y="2464308"/>
            <a:ext cx="10972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Scheduled load tests · DAST in TEST</a:t>
            </a:r>
            <a:endParaRPr lang="en-US" sz="550" dirty="0"/>
          </a:p>
        </p:txBody>
      </p:sp>
      <p:sp>
        <p:nvSpPr>
          <p:cNvPr id="65" name="Shape 63"/>
          <p:cNvSpPr/>
          <p:nvPr/>
        </p:nvSpPr>
        <p:spPr>
          <a:xfrm>
            <a:off x="3246120" y="2647188"/>
            <a:ext cx="146304" cy="118872"/>
          </a:xfrm>
          <a:prstGeom prst="rect">
            <a:avLst/>
          </a:prstGeom>
          <a:solidFill>
            <a:srgbClr val="5B8EA5"/>
          </a:solidFill>
          <a:ln/>
        </p:spPr>
      </p:sp>
      <p:sp>
        <p:nvSpPr>
          <p:cNvPr id="66" name="Text 64"/>
          <p:cNvSpPr/>
          <p:nvPr/>
        </p:nvSpPr>
        <p:spPr>
          <a:xfrm>
            <a:off x="3246120" y="2647188"/>
            <a:ext cx="14630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</a:t>
            </a:r>
            <a:endParaRPr lang="en-US" sz="700" dirty="0"/>
          </a:p>
        </p:txBody>
      </p:sp>
      <p:sp>
        <p:nvSpPr>
          <p:cNvPr id="67" name="Text 65"/>
          <p:cNvSpPr/>
          <p:nvPr/>
        </p:nvSpPr>
        <p:spPr>
          <a:xfrm>
            <a:off x="3419856" y="2642616"/>
            <a:ext cx="10972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Per-service dashboards · Error alerts to on-call</a:t>
            </a:r>
            <a:endParaRPr lang="en-US" sz="550" dirty="0"/>
          </a:p>
        </p:txBody>
      </p:sp>
      <p:sp>
        <p:nvSpPr>
          <p:cNvPr id="68" name="Shape 66"/>
          <p:cNvSpPr/>
          <p:nvPr/>
        </p:nvSpPr>
        <p:spPr>
          <a:xfrm>
            <a:off x="3246120" y="2825496"/>
            <a:ext cx="146304" cy="118872"/>
          </a:xfrm>
          <a:prstGeom prst="rect">
            <a:avLst/>
          </a:prstGeom>
          <a:solidFill>
            <a:srgbClr val="D4890B"/>
          </a:solidFill>
          <a:ln/>
        </p:spPr>
      </p:sp>
      <p:sp>
        <p:nvSpPr>
          <p:cNvPr id="69" name="Text 67"/>
          <p:cNvSpPr/>
          <p:nvPr/>
        </p:nvSpPr>
        <p:spPr>
          <a:xfrm>
            <a:off x="3246120" y="2825496"/>
            <a:ext cx="14630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</a:t>
            </a:r>
            <a:endParaRPr lang="en-US" sz="700" dirty="0"/>
          </a:p>
        </p:txBody>
      </p:sp>
      <p:sp>
        <p:nvSpPr>
          <p:cNvPr id="70" name="Text 68"/>
          <p:cNvSpPr/>
          <p:nvPr/>
        </p:nvSpPr>
        <p:spPr>
          <a:xfrm>
            <a:off x="3419856" y="2820924"/>
            <a:ext cx="10972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MTTR + CFR measured quarterly</a:t>
            </a:r>
            <a:endParaRPr lang="en-US" sz="550" dirty="0"/>
          </a:p>
        </p:txBody>
      </p:sp>
      <p:sp>
        <p:nvSpPr>
          <p:cNvPr id="71" name="Shape 69"/>
          <p:cNvSpPr/>
          <p:nvPr/>
        </p:nvSpPr>
        <p:spPr>
          <a:xfrm>
            <a:off x="4617720" y="2002536"/>
            <a:ext cx="1371600" cy="914400"/>
          </a:xfrm>
          <a:prstGeom prst="rect">
            <a:avLst/>
          </a:prstGeom>
          <a:solidFill>
            <a:srgbClr val="F2F2F0"/>
          </a:solidFill>
          <a:ln/>
        </p:spPr>
      </p:sp>
      <p:sp>
        <p:nvSpPr>
          <p:cNvPr id="72" name="Shape 70"/>
          <p:cNvSpPr/>
          <p:nvPr/>
        </p:nvSpPr>
        <p:spPr>
          <a:xfrm>
            <a:off x="4617720" y="2002536"/>
            <a:ext cx="1371600" cy="36576"/>
          </a:xfrm>
          <a:prstGeom prst="rect">
            <a:avLst/>
          </a:prstGeom>
          <a:solidFill>
            <a:srgbClr val="8B7355"/>
          </a:solidFill>
          <a:ln/>
        </p:spPr>
      </p:sp>
      <p:sp>
        <p:nvSpPr>
          <p:cNvPr id="73" name="Text 71"/>
          <p:cNvSpPr/>
          <p:nvPr/>
        </p:nvSpPr>
        <p:spPr>
          <a:xfrm>
            <a:off x="4617720" y="2002536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8C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400" dirty="0"/>
          </a:p>
        </p:txBody>
      </p:sp>
      <p:sp>
        <p:nvSpPr>
          <p:cNvPr id="74" name="Shape 72"/>
          <p:cNvSpPr/>
          <p:nvPr/>
        </p:nvSpPr>
        <p:spPr>
          <a:xfrm>
            <a:off x="6035040" y="2002536"/>
            <a:ext cx="1371600" cy="914400"/>
          </a:xfrm>
          <a:prstGeom prst="rect">
            <a:avLst/>
          </a:prstGeom>
          <a:solidFill>
            <a:srgbClr val="F2F2F0"/>
          </a:solidFill>
          <a:ln/>
        </p:spPr>
      </p:sp>
      <p:sp>
        <p:nvSpPr>
          <p:cNvPr id="75" name="Shape 73"/>
          <p:cNvSpPr/>
          <p:nvPr/>
        </p:nvSpPr>
        <p:spPr>
          <a:xfrm>
            <a:off x="6035040" y="2002536"/>
            <a:ext cx="1371600" cy="36576"/>
          </a:xfrm>
          <a:prstGeom prst="rect">
            <a:avLst/>
          </a:prstGeom>
          <a:solidFill>
            <a:srgbClr val="D4890B"/>
          </a:solidFill>
          <a:ln/>
        </p:spPr>
      </p:sp>
      <p:sp>
        <p:nvSpPr>
          <p:cNvPr id="76" name="Text 74"/>
          <p:cNvSpPr/>
          <p:nvPr/>
        </p:nvSpPr>
        <p:spPr>
          <a:xfrm>
            <a:off x="6035040" y="2002536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8C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400" dirty="0"/>
          </a:p>
        </p:txBody>
      </p:sp>
      <p:sp>
        <p:nvSpPr>
          <p:cNvPr id="77" name="Shape 75"/>
          <p:cNvSpPr/>
          <p:nvPr/>
        </p:nvSpPr>
        <p:spPr>
          <a:xfrm>
            <a:off x="7452360" y="2002536"/>
            <a:ext cx="1371600" cy="914400"/>
          </a:xfrm>
          <a:prstGeom prst="rect">
            <a:avLst/>
          </a:prstGeom>
          <a:solidFill>
            <a:srgbClr val="F2F2F0"/>
          </a:solidFill>
          <a:ln/>
        </p:spPr>
      </p:sp>
      <p:sp>
        <p:nvSpPr>
          <p:cNvPr id="78" name="Shape 76"/>
          <p:cNvSpPr/>
          <p:nvPr/>
        </p:nvSpPr>
        <p:spPr>
          <a:xfrm>
            <a:off x="7452360" y="2002536"/>
            <a:ext cx="1371600" cy="36576"/>
          </a:xfrm>
          <a:prstGeom prst="rect">
            <a:avLst/>
          </a:prstGeom>
          <a:solidFill>
            <a:srgbClr val="5B8EA5"/>
          </a:solidFill>
          <a:ln/>
        </p:spPr>
      </p:sp>
      <p:sp>
        <p:nvSpPr>
          <p:cNvPr id="79" name="Text 77"/>
          <p:cNvSpPr/>
          <p:nvPr/>
        </p:nvSpPr>
        <p:spPr>
          <a:xfrm>
            <a:off x="7452360" y="2002536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8C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400" dirty="0"/>
          </a:p>
        </p:txBody>
      </p:sp>
      <p:sp>
        <p:nvSpPr>
          <p:cNvPr id="80" name="Shape 78"/>
          <p:cNvSpPr/>
          <p:nvPr/>
        </p:nvSpPr>
        <p:spPr>
          <a:xfrm>
            <a:off x="320040" y="2944368"/>
            <a:ext cx="1417320" cy="9144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1" name="Shape 79"/>
          <p:cNvSpPr/>
          <p:nvPr/>
        </p:nvSpPr>
        <p:spPr>
          <a:xfrm>
            <a:off x="320040" y="2944368"/>
            <a:ext cx="91440" cy="914400"/>
          </a:xfrm>
          <a:prstGeom prst="rect">
            <a:avLst/>
          </a:prstGeom>
          <a:solidFill>
            <a:srgbClr val="D4890B"/>
          </a:solidFill>
          <a:ln/>
        </p:spPr>
      </p:sp>
      <p:sp>
        <p:nvSpPr>
          <p:cNvPr id="82" name="Text 80"/>
          <p:cNvSpPr/>
          <p:nvPr/>
        </p:nvSpPr>
        <p:spPr>
          <a:xfrm>
            <a:off x="484632" y="2999232"/>
            <a:ext cx="119786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9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III</a:t>
            </a:r>
            <a:endParaRPr lang="en-US" sz="850" dirty="0"/>
          </a:p>
        </p:txBody>
      </p:sp>
      <p:sp>
        <p:nvSpPr>
          <p:cNvPr id="83" name="Text 81"/>
          <p:cNvSpPr/>
          <p:nvPr/>
        </p:nvSpPr>
        <p:spPr>
          <a:xfrm>
            <a:off x="484632" y="3127248"/>
            <a:ext cx="11978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D489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Risk-Based Testing</a:t>
            </a:r>
            <a:endParaRPr lang="en-US" sz="1100" dirty="0"/>
          </a:p>
        </p:txBody>
      </p:sp>
      <p:sp>
        <p:nvSpPr>
          <p:cNvPr id="84" name="Text 82"/>
          <p:cNvSpPr/>
          <p:nvPr/>
        </p:nvSpPr>
        <p:spPr>
          <a:xfrm>
            <a:off x="484632" y="3547872"/>
            <a:ext cx="119786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C21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~12 months</a:t>
            </a:r>
            <a:endParaRPr lang="en-US" sz="800" dirty="0"/>
          </a:p>
        </p:txBody>
      </p:sp>
      <p:sp>
        <p:nvSpPr>
          <p:cNvPr id="85" name="Text 83"/>
          <p:cNvSpPr/>
          <p:nvPr/>
        </p:nvSpPr>
        <p:spPr>
          <a:xfrm>
            <a:off x="484632" y="3685032"/>
            <a:ext cx="11978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A09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Optimise effort by risk. DORA-driven decisions.</a:t>
            </a:r>
            <a:endParaRPr lang="en-US" sz="650" dirty="0"/>
          </a:p>
        </p:txBody>
      </p:sp>
      <p:sp>
        <p:nvSpPr>
          <p:cNvPr id="86" name="Shape 84"/>
          <p:cNvSpPr/>
          <p:nvPr/>
        </p:nvSpPr>
        <p:spPr>
          <a:xfrm>
            <a:off x="1783080" y="2944368"/>
            <a:ext cx="1371600" cy="914400"/>
          </a:xfrm>
          <a:prstGeom prst="rect">
            <a:avLst/>
          </a:prstGeom>
          <a:solidFill>
            <a:srgbClr val="F2F2F0"/>
          </a:solidFill>
          <a:ln/>
        </p:spPr>
      </p:sp>
      <p:sp>
        <p:nvSpPr>
          <p:cNvPr id="87" name="Shape 85"/>
          <p:cNvSpPr/>
          <p:nvPr/>
        </p:nvSpPr>
        <p:spPr>
          <a:xfrm>
            <a:off x="1783080" y="2944368"/>
            <a:ext cx="1371600" cy="36576"/>
          </a:xfrm>
          <a:prstGeom prst="rect">
            <a:avLst/>
          </a:prstGeom>
          <a:solidFill>
            <a:srgbClr val="1C2126"/>
          </a:solidFill>
          <a:ln/>
        </p:spPr>
      </p:sp>
      <p:sp>
        <p:nvSpPr>
          <p:cNvPr id="88" name="Text 86"/>
          <p:cNvSpPr/>
          <p:nvPr/>
        </p:nvSpPr>
        <p:spPr>
          <a:xfrm>
            <a:off x="1783080" y="2944368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8C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400" dirty="0"/>
          </a:p>
        </p:txBody>
      </p:sp>
      <p:sp>
        <p:nvSpPr>
          <p:cNvPr id="89" name="Shape 87"/>
          <p:cNvSpPr/>
          <p:nvPr/>
        </p:nvSpPr>
        <p:spPr>
          <a:xfrm>
            <a:off x="3200400" y="2944368"/>
            <a:ext cx="1371600" cy="914400"/>
          </a:xfrm>
          <a:prstGeom prst="rect">
            <a:avLst/>
          </a:prstGeom>
          <a:solidFill>
            <a:srgbClr val="F2F2F0"/>
          </a:solidFill>
          <a:ln/>
        </p:spPr>
      </p:sp>
      <p:sp>
        <p:nvSpPr>
          <p:cNvPr id="90" name="Shape 88"/>
          <p:cNvSpPr/>
          <p:nvPr/>
        </p:nvSpPr>
        <p:spPr>
          <a:xfrm>
            <a:off x="3200400" y="2944368"/>
            <a:ext cx="1371600" cy="36576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91" name="Text 89"/>
          <p:cNvSpPr/>
          <p:nvPr/>
        </p:nvSpPr>
        <p:spPr>
          <a:xfrm>
            <a:off x="3200400" y="2944368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8C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400" dirty="0"/>
          </a:p>
        </p:txBody>
      </p:sp>
      <p:sp>
        <p:nvSpPr>
          <p:cNvPr id="92" name="Shape 90"/>
          <p:cNvSpPr/>
          <p:nvPr/>
        </p:nvSpPr>
        <p:spPr>
          <a:xfrm>
            <a:off x="4617720" y="2944368"/>
            <a:ext cx="1371600" cy="914400"/>
          </a:xfrm>
          <a:prstGeom prst="rect">
            <a:avLst/>
          </a:prstGeom>
          <a:solidFill>
            <a:srgbClr val="F0EAE0"/>
          </a:solidFill>
          <a:ln/>
        </p:spPr>
      </p:sp>
      <p:sp>
        <p:nvSpPr>
          <p:cNvPr id="93" name="Shape 91"/>
          <p:cNvSpPr/>
          <p:nvPr/>
        </p:nvSpPr>
        <p:spPr>
          <a:xfrm>
            <a:off x="4617720" y="2944368"/>
            <a:ext cx="1371600" cy="36576"/>
          </a:xfrm>
          <a:prstGeom prst="rect">
            <a:avLst/>
          </a:prstGeom>
          <a:solidFill>
            <a:srgbClr val="8B7355"/>
          </a:solidFill>
          <a:ln/>
        </p:spPr>
      </p:sp>
      <p:sp>
        <p:nvSpPr>
          <p:cNvPr id="94" name="Shape 92"/>
          <p:cNvSpPr/>
          <p:nvPr/>
        </p:nvSpPr>
        <p:spPr>
          <a:xfrm>
            <a:off x="4663440" y="2999232"/>
            <a:ext cx="146304" cy="118872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95" name="Text 93"/>
          <p:cNvSpPr/>
          <p:nvPr/>
        </p:nvSpPr>
        <p:spPr>
          <a:xfrm>
            <a:off x="4663440" y="2999232"/>
            <a:ext cx="14630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</a:t>
            </a:r>
            <a:endParaRPr lang="en-US" sz="700" dirty="0"/>
          </a:p>
        </p:txBody>
      </p:sp>
      <p:sp>
        <p:nvSpPr>
          <p:cNvPr id="96" name="Text 94"/>
          <p:cNvSpPr/>
          <p:nvPr/>
        </p:nvSpPr>
        <p:spPr>
          <a:xfrm>
            <a:off x="4837176" y="2994660"/>
            <a:ext cx="10972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Release readiness scored · Visual + accessibility tests</a:t>
            </a:r>
            <a:endParaRPr lang="en-US" sz="550" dirty="0"/>
          </a:p>
        </p:txBody>
      </p:sp>
      <p:sp>
        <p:nvSpPr>
          <p:cNvPr id="97" name="Shape 95"/>
          <p:cNvSpPr/>
          <p:nvPr/>
        </p:nvSpPr>
        <p:spPr>
          <a:xfrm>
            <a:off x="4663440" y="3177540"/>
            <a:ext cx="146304" cy="118872"/>
          </a:xfrm>
          <a:prstGeom prst="rect">
            <a:avLst/>
          </a:prstGeom>
          <a:solidFill>
            <a:srgbClr val="8B7355"/>
          </a:solidFill>
          <a:ln/>
        </p:spPr>
      </p:sp>
      <p:sp>
        <p:nvSpPr>
          <p:cNvPr id="98" name="Text 96"/>
          <p:cNvSpPr/>
          <p:nvPr/>
        </p:nvSpPr>
        <p:spPr>
          <a:xfrm>
            <a:off x="4663440" y="3177540"/>
            <a:ext cx="14630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</a:t>
            </a:r>
            <a:endParaRPr lang="en-US" sz="700" dirty="0"/>
          </a:p>
        </p:txBody>
      </p:sp>
      <p:sp>
        <p:nvSpPr>
          <p:cNvPr id="99" name="Text 97"/>
          <p:cNvSpPr/>
          <p:nvPr/>
        </p:nvSpPr>
        <p:spPr>
          <a:xfrm>
            <a:off x="4837176" y="3172968"/>
            <a:ext cx="109728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+ soak tests · Performance gates in CT · Pen test before releases</a:t>
            </a:r>
            <a:endParaRPr lang="en-US" sz="550" dirty="0"/>
          </a:p>
        </p:txBody>
      </p:sp>
      <p:sp>
        <p:nvSpPr>
          <p:cNvPr id="100" name="Shape 98"/>
          <p:cNvSpPr/>
          <p:nvPr/>
        </p:nvSpPr>
        <p:spPr>
          <a:xfrm>
            <a:off x="4663440" y="3433572"/>
            <a:ext cx="146304" cy="118872"/>
          </a:xfrm>
          <a:prstGeom prst="rect">
            <a:avLst/>
          </a:prstGeom>
          <a:solidFill>
            <a:srgbClr val="5B8EA5"/>
          </a:solidFill>
          <a:ln/>
        </p:spPr>
      </p:sp>
      <p:sp>
        <p:nvSpPr>
          <p:cNvPr id="101" name="Text 99"/>
          <p:cNvSpPr/>
          <p:nvPr/>
        </p:nvSpPr>
        <p:spPr>
          <a:xfrm>
            <a:off x="4663440" y="3433572"/>
            <a:ext cx="14630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</a:t>
            </a:r>
            <a:endParaRPr lang="en-US" sz="700" dirty="0"/>
          </a:p>
        </p:txBody>
      </p:sp>
      <p:sp>
        <p:nvSpPr>
          <p:cNvPr id="102" name="Text 100"/>
          <p:cNvSpPr/>
          <p:nvPr/>
        </p:nvSpPr>
        <p:spPr>
          <a:xfrm>
            <a:off x="4837176" y="3429000"/>
            <a:ext cx="109728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Distributed tracing · SLOs with error budgets · Synthetic monitoring</a:t>
            </a:r>
            <a:endParaRPr lang="en-US" sz="550" dirty="0"/>
          </a:p>
        </p:txBody>
      </p:sp>
      <p:sp>
        <p:nvSpPr>
          <p:cNvPr id="103" name="Shape 101"/>
          <p:cNvSpPr/>
          <p:nvPr/>
        </p:nvSpPr>
        <p:spPr>
          <a:xfrm>
            <a:off x="4663440" y="3689604"/>
            <a:ext cx="146304" cy="118872"/>
          </a:xfrm>
          <a:prstGeom prst="rect">
            <a:avLst/>
          </a:prstGeom>
          <a:solidFill>
            <a:srgbClr val="D4890B"/>
          </a:solidFill>
          <a:ln/>
        </p:spPr>
      </p:sp>
      <p:sp>
        <p:nvSpPr>
          <p:cNvPr id="104" name="Text 102"/>
          <p:cNvSpPr/>
          <p:nvPr/>
        </p:nvSpPr>
        <p:spPr>
          <a:xfrm>
            <a:off x="4663440" y="3689604"/>
            <a:ext cx="14630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</a:t>
            </a:r>
            <a:endParaRPr lang="en-US" sz="700" dirty="0"/>
          </a:p>
        </p:txBody>
      </p:sp>
      <p:sp>
        <p:nvSpPr>
          <p:cNvPr id="105" name="Text 103"/>
          <p:cNvSpPr/>
          <p:nvPr/>
        </p:nvSpPr>
        <p:spPr>
          <a:xfrm>
            <a:off x="4837176" y="3685032"/>
            <a:ext cx="10972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DORA: High Performer · DER &lt; 10% · SLO-tied alerts</a:t>
            </a:r>
            <a:endParaRPr lang="en-US" sz="550" dirty="0"/>
          </a:p>
        </p:txBody>
      </p:sp>
      <p:sp>
        <p:nvSpPr>
          <p:cNvPr id="106" name="Shape 104"/>
          <p:cNvSpPr/>
          <p:nvPr/>
        </p:nvSpPr>
        <p:spPr>
          <a:xfrm>
            <a:off x="6035040" y="2944368"/>
            <a:ext cx="1371600" cy="914400"/>
          </a:xfrm>
          <a:prstGeom prst="rect">
            <a:avLst/>
          </a:prstGeom>
          <a:solidFill>
            <a:srgbClr val="FFF5E0"/>
          </a:solidFill>
          <a:ln/>
        </p:spPr>
      </p:sp>
      <p:sp>
        <p:nvSpPr>
          <p:cNvPr id="107" name="Shape 105"/>
          <p:cNvSpPr/>
          <p:nvPr/>
        </p:nvSpPr>
        <p:spPr>
          <a:xfrm>
            <a:off x="6035040" y="2944368"/>
            <a:ext cx="1371600" cy="36576"/>
          </a:xfrm>
          <a:prstGeom prst="rect">
            <a:avLst/>
          </a:prstGeom>
          <a:solidFill>
            <a:srgbClr val="D4890B"/>
          </a:solidFill>
          <a:ln/>
        </p:spPr>
      </p:sp>
      <p:sp>
        <p:nvSpPr>
          <p:cNvPr id="108" name="Shape 106"/>
          <p:cNvSpPr/>
          <p:nvPr/>
        </p:nvSpPr>
        <p:spPr>
          <a:xfrm>
            <a:off x="6080760" y="2999232"/>
            <a:ext cx="146304" cy="118872"/>
          </a:xfrm>
          <a:prstGeom prst="rect">
            <a:avLst/>
          </a:prstGeom>
          <a:solidFill>
            <a:srgbClr val="8B7355"/>
          </a:solidFill>
          <a:ln/>
        </p:spPr>
      </p:sp>
      <p:sp>
        <p:nvSpPr>
          <p:cNvPr id="109" name="Text 107"/>
          <p:cNvSpPr/>
          <p:nvPr/>
        </p:nvSpPr>
        <p:spPr>
          <a:xfrm>
            <a:off x="6080760" y="2999232"/>
            <a:ext cx="14630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</a:t>
            </a:r>
            <a:endParaRPr lang="en-US" sz="700" dirty="0"/>
          </a:p>
        </p:txBody>
      </p:sp>
      <p:sp>
        <p:nvSpPr>
          <p:cNvPr id="110" name="Text 108"/>
          <p:cNvSpPr/>
          <p:nvPr/>
        </p:nvSpPr>
        <p:spPr>
          <a:xfrm>
            <a:off x="6254496" y="2994660"/>
            <a:ext cx="10972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Continuous DAST + secret scanning</a:t>
            </a:r>
            <a:endParaRPr lang="en-US" sz="550" dirty="0"/>
          </a:p>
        </p:txBody>
      </p:sp>
      <p:sp>
        <p:nvSpPr>
          <p:cNvPr id="111" name="Shape 109"/>
          <p:cNvSpPr/>
          <p:nvPr/>
        </p:nvSpPr>
        <p:spPr>
          <a:xfrm>
            <a:off x="6080760" y="3177540"/>
            <a:ext cx="146304" cy="118872"/>
          </a:xfrm>
          <a:prstGeom prst="rect">
            <a:avLst/>
          </a:prstGeom>
          <a:solidFill>
            <a:srgbClr val="5B8EA5"/>
          </a:solidFill>
          <a:ln/>
        </p:spPr>
      </p:sp>
      <p:sp>
        <p:nvSpPr>
          <p:cNvPr id="112" name="Text 110"/>
          <p:cNvSpPr/>
          <p:nvPr/>
        </p:nvSpPr>
        <p:spPr>
          <a:xfrm>
            <a:off x="6080760" y="3177540"/>
            <a:ext cx="14630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</a:t>
            </a:r>
            <a:endParaRPr lang="en-US" sz="700" dirty="0"/>
          </a:p>
        </p:txBody>
      </p:sp>
      <p:sp>
        <p:nvSpPr>
          <p:cNvPr id="113" name="Text 111"/>
          <p:cNvSpPr/>
          <p:nvPr/>
        </p:nvSpPr>
        <p:spPr>
          <a:xfrm>
            <a:off x="6254496" y="3172968"/>
            <a:ext cx="10972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 telemetry → test gaps</a:t>
            </a:r>
            <a:endParaRPr lang="en-US" sz="550" dirty="0"/>
          </a:p>
        </p:txBody>
      </p:sp>
      <p:sp>
        <p:nvSpPr>
          <p:cNvPr id="114" name="Shape 112"/>
          <p:cNvSpPr/>
          <p:nvPr/>
        </p:nvSpPr>
        <p:spPr>
          <a:xfrm>
            <a:off x="7452360" y="2944368"/>
            <a:ext cx="1371600" cy="914400"/>
          </a:xfrm>
          <a:prstGeom prst="rect">
            <a:avLst/>
          </a:prstGeom>
          <a:solidFill>
            <a:srgbClr val="F2F2F0"/>
          </a:solidFill>
          <a:ln/>
        </p:spPr>
      </p:sp>
      <p:sp>
        <p:nvSpPr>
          <p:cNvPr id="115" name="Shape 113"/>
          <p:cNvSpPr/>
          <p:nvPr/>
        </p:nvSpPr>
        <p:spPr>
          <a:xfrm>
            <a:off x="7452360" y="2944368"/>
            <a:ext cx="1371600" cy="36576"/>
          </a:xfrm>
          <a:prstGeom prst="rect">
            <a:avLst/>
          </a:prstGeom>
          <a:solidFill>
            <a:srgbClr val="5B8EA5"/>
          </a:solidFill>
          <a:ln/>
        </p:spPr>
      </p:sp>
      <p:sp>
        <p:nvSpPr>
          <p:cNvPr id="116" name="Text 114"/>
          <p:cNvSpPr/>
          <p:nvPr/>
        </p:nvSpPr>
        <p:spPr>
          <a:xfrm>
            <a:off x="7452360" y="2944368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8C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400" dirty="0"/>
          </a:p>
        </p:txBody>
      </p:sp>
      <p:sp>
        <p:nvSpPr>
          <p:cNvPr id="117" name="Shape 115"/>
          <p:cNvSpPr/>
          <p:nvPr/>
        </p:nvSpPr>
        <p:spPr>
          <a:xfrm>
            <a:off x="320040" y="3886200"/>
            <a:ext cx="1417320" cy="9144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8" name="Shape 116"/>
          <p:cNvSpPr/>
          <p:nvPr/>
        </p:nvSpPr>
        <p:spPr>
          <a:xfrm>
            <a:off x="320040" y="3886200"/>
            <a:ext cx="91440" cy="91440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19" name="Text 117"/>
          <p:cNvSpPr/>
          <p:nvPr/>
        </p:nvSpPr>
        <p:spPr>
          <a:xfrm>
            <a:off x="484632" y="3941064"/>
            <a:ext cx="119786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9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IV</a:t>
            </a:r>
            <a:endParaRPr lang="en-US" sz="850" dirty="0"/>
          </a:p>
        </p:txBody>
      </p:sp>
      <p:sp>
        <p:nvSpPr>
          <p:cNvPr id="120" name="Text 118"/>
          <p:cNvSpPr/>
          <p:nvPr/>
        </p:nvSpPr>
        <p:spPr>
          <a:xfrm>
            <a:off x="484632" y="4069080"/>
            <a:ext cx="11978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8B5C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AI-Driven</a:t>
            </a:r>
            <a:endParaRPr lang="en-US" sz="1100" dirty="0"/>
          </a:p>
        </p:txBody>
      </p:sp>
      <p:sp>
        <p:nvSpPr>
          <p:cNvPr id="121" name="Text 119"/>
          <p:cNvSpPr/>
          <p:nvPr/>
        </p:nvSpPr>
        <p:spPr>
          <a:xfrm>
            <a:off x="484632" y="4489704"/>
            <a:ext cx="119786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C21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1–2 years</a:t>
            </a:r>
            <a:endParaRPr lang="en-US" sz="800" dirty="0"/>
          </a:p>
        </p:txBody>
      </p:sp>
      <p:sp>
        <p:nvSpPr>
          <p:cNvPr id="122" name="Text 120"/>
          <p:cNvSpPr/>
          <p:nvPr/>
        </p:nvSpPr>
        <p:spPr>
          <a:xfrm>
            <a:off x="484632" y="4626864"/>
            <a:ext cx="11978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A09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Predictive and self-healing. AI-assisted.</a:t>
            </a:r>
            <a:endParaRPr lang="en-US" sz="650" dirty="0"/>
          </a:p>
        </p:txBody>
      </p:sp>
      <p:sp>
        <p:nvSpPr>
          <p:cNvPr id="123" name="Shape 121"/>
          <p:cNvSpPr/>
          <p:nvPr/>
        </p:nvSpPr>
        <p:spPr>
          <a:xfrm>
            <a:off x="1783080" y="3886200"/>
            <a:ext cx="1371600" cy="914400"/>
          </a:xfrm>
          <a:prstGeom prst="rect">
            <a:avLst/>
          </a:prstGeom>
          <a:solidFill>
            <a:srgbClr val="F2F2F0"/>
          </a:solidFill>
          <a:ln/>
        </p:spPr>
      </p:sp>
      <p:sp>
        <p:nvSpPr>
          <p:cNvPr id="124" name="Shape 122"/>
          <p:cNvSpPr/>
          <p:nvPr/>
        </p:nvSpPr>
        <p:spPr>
          <a:xfrm>
            <a:off x="1783080" y="3886200"/>
            <a:ext cx="1371600" cy="36576"/>
          </a:xfrm>
          <a:prstGeom prst="rect">
            <a:avLst/>
          </a:prstGeom>
          <a:solidFill>
            <a:srgbClr val="1C2126"/>
          </a:solidFill>
          <a:ln/>
        </p:spPr>
      </p:sp>
      <p:sp>
        <p:nvSpPr>
          <p:cNvPr id="125" name="Text 123"/>
          <p:cNvSpPr/>
          <p:nvPr/>
        </p:nvSpPr>
        <p:spPr>
          <a:xfrm>
            <a:off x="1783080" y="388620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8C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400" dirty="0"/>
          </a:p>
        </p:txBody>
      </p:sp>
      <p:sp>
        <p:nvSpPr>
          <p:cNvPr id="126" name="Shape 124"/>
          <p:cNvSpPr/>
          <p:nvPr/>
        </p:nvSpPr>
        <p:spPr>
          <a:xfrm>
            <a:off x="3200400" y="3886200"/>
            <a:ext cx="1371600" cy="914400"/>
          </a:xfrm>
          <a:prstGeom prst="rect">
            <a:avLst/>
          </a:prstGeom>
          <a:solidFill>
            <a:srgbClr val="F2F2F0"/>
          </a:solidFill>
          <a:ln/>
        </p:spPr>
      </p:sp>
      <p:sp>
        <p:nvSpPr>
          <p:cNvPr id="127" name="Shape 125"/>
          <p:cNvSpPr/>
          <p:nvPr/>
        </p:nvSpPr>
        <p:spPr>
          <a:xfrm>
            <a:off x="3200400" y="3886200"/>
            <a:ext cx="1371600" cy="36576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128" name="Text 126"/>
          <p:cNvSpPr/>
          <p:nvPr/>
        </p:nvSpPr>
        <p:spPr>
          <a:xfrm>
            <a:off x="3200400" y="388620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8C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400" dirty="0"/>
          </a:p>
        </p:txBody>
      </p:sp>
      <p:sp>
        <p:nvSpPr>
          <p:cNvPr id="129" name="Shape 127"/>
          <p:cNvSpPr/>
          <p:nvPr/>
        </p:nvSpPr>
        <p:spPr>
          <a:xfrm>
            <a:off x="4617720" y="3886200"/>
            <a:ext cx="1371600" cy="914400"/>
          </a:xfrm>
          <a:prstGeom prst="rect">
            <a:avLst/>
          </a:prstGeom>
          <a:solidFill>
            <a:srgbClr val="F2F2F0"/>
          </a:solidFill>
          <a:ln/>
        </p:spPr>
      </p:sp>
      <p:sp>
        <p:nvSpPr>
          <p:cNvPr id="130" name="Shape 128"/>
          <p:cNvSpPr/>
          <p:nvPr/>
        </p:nvSpPr>
        <p:spPr>
          <a:xfrm>
            <a:off x="4617720" y="3886200"/>
            <a:ext cx="1371600" cy="36576"/>
          </a:xfrm>
          <a:prstGeom prst="rect">
            <a:avLst/>
          </a:prstGeom>
          <a:solidFill>
            <a:srgbClr val="8B7355"/>
          </a:solidFill>
          <a:ln/>
        </p:spPr>
      </p:sp>
      <p:sp>
        <p:nvSpPr>
          <p:cNvPr id="131" name="Text 129"/>
          <p:cNvSpPr/>
          <p:nvPr/>
        </p:nvSpPr>
        <p:spPr>
          <a:xfrm>
            <a:off x="4617720" y="388620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8C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400" dirty="0"/>
          </a:p>
        </p:txBody>
      </p:sp>
      <p:sp>
        <p:nvSpPr>
          <p:cNvPr id="132" name="Shape 130"/>
          <p:cNvSpPr/>
          <p:nvPr/>
        </p:nvSpPr>
        <p:spPr>
          <a:xfrm>
            <a:off x="6035040" y="3886200"/>
            <a:ext cx="1371600" cy="914400"/>
          </a:xfrm>
          <a:prstGeom prst="rect">
            <a:avLst/>
          </a:prstGeom>
          <a:solidFill>
            <a:srgbClr val="FFF5E0"/>
          </a:solidFill>
          <a:ln/>
        </p:spPr>
      </p:sp>
      <p:sp>
        <p:nvSpPr>
          <p:cNvPr id="133" name="Shape 131"/>
          <p:cNvSpPr/>
          <p:nvPr/>
        </p:nvSpPr>
        <p:spPr>
          <a:xfrm>
            <a:off x="6035040" y="3886200"/>
            <a:ext cx="1371600" cy="36576"/>
          </a:xfrm>
          <a:prstGeom prst="rect">
            <a:avLst/>
          </a:prstGeom>
          <a:solidFill>
            <a:srgbClr val="D4890B"/>
          </a:solidFill>
          <a:ln/>
        </p:spPr>
      </p:sp>
      <p:sp>
        <p:nvSpPr>
          <p:cNvPr id="134" name="Shape 132"/>
          <p:cNvSpPr/>
          <p:nvPr/>
        </p:nvSpPr>
        <p:spPr>
          <a:xfrm>
            <a:off x="6080760" y="3941064"/>
            <a:ext cx="146304" cy="118872"/>
          </a:xfrm>
          <a:prstGeom prst="rect">
            <a:avLst/>
          </a:prstGeom>
          <a:solidFill>
            <a:srgbClr val="5B8EA5"/>
          </a:solidFill>
          <a:ln/>
        </p:spPr>
      </p:sp>
      <p:sp>
        <p:nvSpPr>
          <p:cNvPr id="135" name="Text 133"/>
          <p:cNvSpPr/>
          <p:nvPr/>
        </p:nvSpPr>
        <p:spPr>
          <a:xfrm>
            <a:off x="6080760" y="3941064"/>
            <a:ext cx="14630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</a:t>
            </a:r>
            <a:endParaRPr lang="en-US" sz="700" dirty="0"/>
          </a:p>
        </p:txBody>
      </p:sp>
      <p:sp>
        <p:nvSpPr>
          <p:cNvPr id="136" name="Text 134"/>
          <p:cNvSpPr/>
          <p:nvPr/>
        </p:nvSpPr>
        <p:spPr>
          <a:xfrm>
            <a:off x="6254496" y="3936492"/>
            <a:ext cx="10972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Anomaly detection on metrics</a:t>
            </a:r>
            <a:endParaRPr lang="en-US" sz="550" dirty="0"/>
          </a:p>
        </p:txBody>
      </p:sp>
      <p:sp>
        <p:nvSpPr>
          <p:cNvPr id="137" name="Shape 135"/>
          <p:cNvSpPr/>
          <p:nvPr/>
        </p:nvSpPr>
        <p:spPr>
          <a:xfrm>
            <a:off x="7452360" y="3886200"/>
            <a:ext cx="1371600" cy="914400"/>
          </a:xfrm>
          <a:prstGeom prst="rect">
            <a:avLst/>
          </a:prstGeom>
          <a:solidFill>
            <a:srgbClr val="E8F0F5"/>
          </a:solidFill>
          <a:ln/>
        </p:spPr>
      </p:sp>
      <p:sp>
        <p:nvSpPr>
          <p:cNvPr id="138" name="Shape 136"/>
          <p:cNvSpPr/>
          <p:nvPr/>
        </p:nvSpPr>
        <p:spPr>
          <a:xfrm>
            <a:off x="7452360" y="3886200"/>
            <a:ext cx="1371600" cy="36576"/>
          </a:xfrm>
          <a:prstGeom prst="rect">
            <a:avLst/>
          </a:prstGeom>
          <a:solidFill>
            <a:srgbClr val="5B8EA5"/>
          </a:solidFill>
          <a:ln/>
        </p:spPr>
      </p:sp>
      <p:sp>
        <p:nvSpPr>
          <p:cNvPr id="139" name="Shape 137"/>
          <p:cNvSpPr/>
          <p:nvPr/>
        </p:nvSpPr>
        <p:spPr>
          <a:xfrm>
            <a:off x="7498080" y="3941064"/>
            <a:ext cx="146304" cy="118872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140" name="Text 138"/>
          <p:cNvSpPr/>
          <p:nvPr/>
        </p:nvSpPr>
        <p:spPr>
          <a:xfrm>
            <a:off x="7498080" y="3941064"/>
            <a:ext cx="14630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</a:t>
            </a:r>
            <a:endParaRPr lang="en-US" sz="700" dirty="0"/>
          </a:p>
        </p:txBody>
      </p:sp>
      <p:sp>
        <p:nvSpPr>
          <p:cNvPr id="141" name="Text 139"/>
          <p:cNvSpPr/>
          <p:nvPr/>
        </p:nvSpPr>
        <p:spPr>
          <a:xfrm>
            <a:off x="7671816" y="3936492"/>
            <a:ext cx="10972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test selection · Self-healing selectors</a:t>
            </a:r>
            <a:endParaRPr lang="en-US" sz="550" dirty="0"/>
          </a:p>
        </p:txBody>
      </p:sp>
      <p:sp>
        <p:nvSpPr>
          <p:cNvPr id="142" name="Shape 140"/>
          <p:cNvSpPr/>
          <p:nvPr/>
        </p:nvSpPr>
        <p:spPr>
          <a:xfrm>
            <a:off x="7498080" y="4119372"/>
            <a:ext cx="146304" cy="118872"/>
          </a:xfrm>
          <a:prstGeom prst="rect">
            <a:avLst/>
          </a:prstGeom>
          <a:solidFill>
            <a:srgbClr val="8B7355"/>
          </a:solidFill>
          <a:ln/>
        </p:spPr>
      </p:sp>
      <p:sp>
        <p:nvSpPr>
          <p:cNvPr id="143" name="Text 141"/>
          <p:cNvSpPr/>
          <p:nvPr/>
        </p:nvSpPr>
        <p:spPr>
          <a:xfrm>
            <a:off x="7498080" y="4119372"/>
            <a:ext cx="14630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</a:t>
            </a:r>
            <a:endParaRPr lang="en-US" sz="700" dirty="0"/>
          </a:p>
        </p:txBody>
      </p:sp>
      <p:sp>
        <p:nvSpPr>
          <p:cNvPr id="144" name="Text 142"/>
          <p:cNvSpPr/>
          <p:nvPr/>
        </p:nvSpPr>
        <p:spPr>
          <a:xfrm>
            <a:off x="7671816" y="4114800"/>
            <a:ext cx="10972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Chaos engineering · Runtime self-protection (RASP)</a:t>
            </a:r>
            <a:endParaRPr lang="en-US" sz="550" dirty="0"/>
          </a:p>
        </p:txBody>
      </p:sp>
      <p:sp>
        <p:nvSpPr>
          <p:cNvPr id="145" name="Shape 143"/>
          <p:cNvSpPr/>
          <p:nvPr/>
        </p:nvSpPr>
        <p:spPr>
          <a:xfrm>
            <a:off x="7498080" y="4297680"/>
            <a:ext cx="146304" cy="118872"/>
          </a:xfrm>
          <a:prstGeom prst="rect">
            <a:avLst/>
          </a:prstGeom>
          <a:solidFill>
            <a:srgbClr val="5B8EA5"/>
          </a:solidFill>
          <a:ln/>
        </p:spPr>
      </p:sp>
      <p:sp>
        <p:nvSpPr>
          <p:cNvPr id="146" name="Text 144"/>
          <p:cNvSpPr/>
          <p:nvPr/>
        </p:nvSpPr>
        <p:spPr>
          <a:xfrm>
            <a:off x="7498080" y="4297680"/>
            <a:ext cx="14630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</a:t>
            </a:r>
            <a:endParaRPr lang="en-US" sz="700" dirty="0"/>
          </a:p>
        </p:txBody>
      </p:sp>
      <p:sp>
        <p:nvSpPr>
          <p:cNvPr id="147" name="Text 145"/>
          <p:cNvSpPr/>
          <p:nvPr/>
        </p:nvSpPr>
        <p:spPr>
          <a:xfrm>
            <a:off x="7671816" y="4293108"/>
            <a:ext cx="10972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Telemetry → auto-generated tests · Canary + auto-rollback</a:t>
            </a:r>
            <a:endParaRPr lang="en-US" sz="550" dirty="0"/>
          </a:p>
        </p:txBody>
      </p:sp>
      <p:sp>
        <p:nvSpPr>
          <p:cNvPr id="148" name="Shape 146"/>
          <p:cNvSpPr/>
          <p:nvPr/>
        </p:nvSpPr>
        <p:spPr>
          <a:xfrm>
            <a:off x="7498080" y="4475988"/>
            <a:ext cx="146304" cy="118872"/>
          </a:xfrm>
          <a:prstGeom prst="rect">
            <a:avLst/>
          </a:prstGeom>
          <a:solidFill>
            <a:srgbClr val="D4890B"/>
          </a:solidFill>
          <a:ln/>
        </p:spPr>
      </p:sp>
      <p:sp>
        <p:nvSpPr>
          <p:cNvPr id="149" name="Text 147"/>
          <p:cNvSpPr/>
          <p:nvPr/>
        </p:nvSpPr>
        <p:spPr>
          <a:xfrm>
            <a:off x="7498080" y="4475988"/>
            <a:ext cx="14630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</a:t>
            </a:r>
            <a:endParaRPr lang="en-US" sz="700" dirty="0"/>
          </a:p>
        </p:txBody>
      </p:sp>
      <p:sp>
        <p:nvSpPr>
          <p:cNvPr id="150" name="Text 148"/>
          <p:cNvSpPr/>
          <p:nvPr/>
        </p:nvSpPr>
        <p:spPr>
          <a:xfrm>
            <a:off x="7671816" y="4471416"/>
            <a:ext cx="10972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5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DORA: Elite tier · Predictive detection · Auto-rollback on SLO</a:t>
            </a:r>
            <a:endParaRPr lang="en-US" sz="550" dirty="0"/>
          </a:p>
        </p:txBody>
      </p:sp>
      <p:sp>
        <p:nvSpPr>
          <p:cNvPr id="151" name="Shape 149"/>
          <p:cNvSpPr/>
          <p:nvPr/>
        </p:nvSpPr>
        <p:spPr>
          <a:xfrm>
            <a:off x="365760" y="4873752"/>
            <a:ext cx="201168" cy="164592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152" name="Text 150"/>
          <p:cNvSpPr/>
          <p:nvPr/>
        </p:nvSpPr>
        <p:spPr>
          <a:xfrm>
            <a:off x="365760" y="4873752"/>
            <a:ext cx="201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</a:t>
            </a:r>
            <a:endParaRPr lang="en-US" sz="900" dirty="0"/>
          </a:p>
        </p:txBody>
      </p:sp>
      <p:sp>
        <p:nvSpPr>
          <p:cNvPr id="153" name="Text 151"/>
          <p:cNvSpPr/>
          <p:nvPr/>
        </p:nvSpPr>
        <p:spPr>
          <a:xfrm>
            <a:off x="603504" y="4873752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Testing</a:t>
            </a:r>
            <a:endParaRPr lang="en-US" sz="800" dirty="0"/>
          </a:p>
        </p:txBody>
      </p:sp>
      <p:sp>
        <p:nvSpPr>
          <p:cNvPr id="154" name="Shape 152"/>
          <p:cNvSpPr/>
          <p:nvPr/>
        </p:nvSpPr>
        <p:spPr>
          <a:xfrm>
            <a:off x="1828800" y="4873752"/>
            <a:ext cx="201168" cy="164592"/>
          </a:xfrm>
          <a:prstGeom prst="rect">
            <a:avLst/>
          </a:prstGeom>
          <a:solidFill>
            <a:srgbClr val="8B7355"/>
          </a:solidFill>
          <a:ln/>
        </p:spPr>
      </p:sp>
      <p:sp>
        <p:nvSpPr>
          <p:cNvPr id="155" name="Text 153"/>
          <p:cNvSpPr/>
          <p:nvPr/>
        </p:nvSpPr>
        <p:spPr>
          <a:xfrm>
            <a:off x="1828800" y="4873752"/>
            <a:ext cx="201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</a:t>
            </a:r>
            <a:endParaRPr lang="en-US" sz="900" dirty="0"/>
          </a:p>
        </p:txBody>
      </p:sp>
      <p:sp>
        <p:nvSpPr>
          <p:cNvPr id="156" name="Text 154"/>
          <p:cNvSpPr/>
          <p:nvPr/>
        </p:nvSpPr>
        <p:spPr>
          <a:xfrm>
            <a:off x="2066544" y="4873752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</a:t>
            </a:r>
            <a:endParaRPr lang="en-US" sz="800" dirty="0"/>
          </a:p>
        </p:txBody>
      </p:sp>
      <p:sp>
        <p:nvSpPr>
          <p:cNvPr id="157" name="Shape 155"/>
          <p:cNvSpPr/>
          <p:nvPr/>
        </p:nvSpPr>
        <p:spPr>
          <a:xfrm>
            <a:off x="3291840" y="4873752"/>
            <a:ext cx="201168" cy="164592"/>
          </a:xfrm>
          <a:prstGeom prst="rect">
            <a:avLst/>
          </a:prstGeom>
          <a:solidFill>
            <a:srgbClr val="5B8EA5"/>
          </a:solidFill>
          <a:ln/>
        </p:spPr>
      </p:sp>
      <p:sp>
        <p:nvSpPr>
          <p:cNvPr id="158" name="Text 156"/>
          <p:cNvSpPr/>
          <p:nvPr/>
        </p:nvSpPr>
        <p:spPr>
          <a:xfrm>
            <a:off x="3291840" y="4873752"/>
            <a:ext cx="201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</a:t>
            </a:r>
            <a:endParaRPr lang="en-US" sz="900" dirty="0"/>
          </a:p>
        </p:txBody>
      </p:sp>
      <p:sp>
        <p:nvSpPr>
          <p:cNvPr id="159" name="Text 157"/>
          <p:cNvSpPr/>
          <p:nvPr/>
        </p:nvSpPr>
        <p:spPr>
          <a:xfrm>
            <a:off x="3529584" y="4873752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Observability</a:t>
            </a:r>
            <a:endParaRPr lang="en-US" sz="800" dirty="0"/>
          </a:p>
        </p:txBody>
      </p:sp>
      <p:sp>
        <p:nvSpPr>
          <p:cNvPr id="160" name="Shape 158"/>
          <p:cNvSpPr/>
          <p:nvPr/>
        </p:nvSpPr>
        <p:spPr>
          <a:xfrm>
            <a:off x="4754880" y="4873752"/>
            <a:ext cx="201168" cy="164592"/>
          </a:xfrm>
          <a:prstGeom prst="rect">
            <a:avLst/>
          </a:prstGeom>
          <a:solidFill>
            <a:srgbClr val="D4890B"/>
          </a:solidFill>
          <a:ln/>
        </p:spPr>
      </p:sp>
      <p:sp>
        <p:nvSpPr>
          <p:cNvPr id="161" name="Text 159"/>
          <p:cNvSpPr/>
          <p:nvPr/>
        </p:nvSpPr>
        <p:spPr>
          <a:xfrm>
            <a:off x="4754880" y="4873752"/>
            <a:ext cx="201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</a:t>
            </a:r>
            <a:endParaRPr lang="en-US" sz="900" dirty="0"/>
          </a:p>
        </p:txBody>
      </p:sp>
      <p:sp>
        <p:nvSpPr>
          <p:cNvPr id="162" name="Text 160"/>
          <p:cNvSpPr/>
          <p:nvPr/>
        </p:nvSpPr>
        <p:spPr>
          <a:xfrm>
            <a:off x="4992624" y="4873752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</a:t>
            </a:r>
            <a:endParaRPr lang="en-US" sz="800" dirty="0"/>
          </a:p>
        </p:txBody>
      </p:sp>
      <p:sp>
        <p:nvSpPr>
          <p:cNvPr id="163" name="Text 161"/>
          <p:cNvSpPr/>
          <p:nvPr/>
        </p:nvSpPr>
        <p:spPr>
          <a:xfrm>
            <a:off x="6400800" y="4873752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09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Empty cell = phase does not deliver at this level (sparse pattern is informative)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Roadmap Phases × Maturity Levels</dc:title>
  <dc:subject>PptxGenJS Presentation</dc:subject>
  <dc:creator>Quality Engineering</dc:creator>
  <cp:lastModifiedBy>Quality Engineering</cp:lastModifiedBy>
  <cp:revision>1</cp:revision>
  <dcterms:created xsi:type="dcterms:W3CDTF">2026-06-29T05:31:46Z</dcterms:created>
  <dcterms:modified xsi:type="dcterms:W3CDTF">2026-06-29T05:31:46Z</dcterms:modified>
</cp:coreProperties>
</file>