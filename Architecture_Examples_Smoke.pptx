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Test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Component, Contract, Application &amp; System test boundaries mapped to CI / CD / 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5120640" cy="3840480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96002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47472" y="69494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BOUNDARY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84048" y="877824"/>
            <a:ext cx="2331720" cy="347472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002C4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38912" y="905256"/>
            <a:ext cx="2221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 — Data Ingestion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852928" y="877824"/>
            <a:ext cx="2331720" cy="347472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566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907792" y="905256"/>
            <a:ext cx="2221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 — Data Serving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21208" y="1115568"/>
            <a:ext cx="2057400" cy="384048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9576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3816" y="11521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6072" y="1353312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Kafka producer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21208" y="1517904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 — ADO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521208" y="1700784"/>
            <a:ext cx="2057400" cy="384048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64792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3816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76072" y="1938528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consumer → processor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521208" y="210312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 — ADO</a:t>
            </a:r>
            <a:endParaRPr lang="en-US" sz="550" dirty="0"/>
          </a:p>
        </p:txBody>
      </p:sp>
      <p:sp>
        <p:nvSpPr>
          <p:cNvPr id="21" name="Shape 17"/>
          <p:cNvSpPr/>
          <p:nvPr/>
        </p:nvSpPr>
        <p:spPr>
          <a:xfrm>
            <a:off x="521208" y="2286000"/>
            <a:ext cx="640080" cy="32004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2" name="Text 18"/>
          <p:cNvSpPr/>
          <p:nvPr/>
        </p:nvSpPr>
        <p:spPr>
          <a:xfrm>
            <a:off x="521208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1234440" y="2286000"/>
            <a:ext cx="640080" cy="32004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4" name="Text 20"/>
          <p:cNvSpPr/>
          <p:nvPr/>
        </p:nvSpPr>
        <p:spPr>
          <a:xfrm>
            <a:off x="1234440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2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1947672" y="2286000"/>
            <a:ext cx="640080" cy="32004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6" name="Text 22"/>
          <p:cNvSpPr/>
          <p:nvPr/>
        </p:nvSpPr>
        <p:spPr>
          <a:xfrm>
            <a:off x="1947672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3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521208" y="223113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▲</a:t>
            </a:r>
            <a:endParaRPr lang="en-US" sz="550" dirty="0"/>
          </a:p>
        </p:txBody>
      </p:sp>
      <p:sp>
        <p:nvSpPr>
          <p:cNvPr id="28" name="Shape 24"/>
          <p:cNvSpPr/>
          <p:nvPr/>
        </p:nvSpPr>
        <p:spPr>
          <a:xfrm>
            <a:off x="2578608" y="2249424"/>
            <a:ext cx="384048" cy="685800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2304288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578608" y="25420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2578608" y="1307592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2" name="Text 27"/>
          <p:cNvSpPr/>
          <p:nvPr/>
        </p:nvSpPr>
        <p:spPr>
          <a:xfrm>
            <a:off x="2606040" y="102412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500" dirty="0"/>
          </a:p>
        </p:txBody>
      </p:sp>
      <p:sp>
        <p:nvSpPr>
          <p:cNvPr id="33" name="Shape 28"/>
          <p:cNvSpPr/>
          <p:nvPr/>
        </p:nvSpPr>
        <p:spPr>
          <a:xfrm>
            <a:off x="2962656" y="2569464"/>
            <a:ext cx="3657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4" name="Text 29"/>
          <p:cNvSpPr/>
          <p:nvPr/>
        </p:nvSpPr>
        <p:spPr>
          <a:xfrm>
            <a:off x="2980944" y="241401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500" dirty="0"/>
          </a:p>
        </p:txBody>
      </p:sp>
      <p:sp>
        <p:nvSpPr>
          <p:cNvPr id="35" name="Shape 30"/>
          <p:cNvSpPr/>
          <p:nvPr/>
        </p:nvSpPr>
        <p:spPr>
          <a:xfrm>
            <a:off x="2990088" y="1243584"/>
            <a:ext cx="2057400" cy="384048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307592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282696" y="12801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3044952" y="1481328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Mongo → serves Angular</a:t>
            </a:r>
            <a:endParaRPr lang="en-US" sz="600" dirty="0"/>
          </a:p>
        </p:txBody>
      </p:sp>
      <p:sp>
        <p:nvSpPr>
          <p:cNvPr id="39" name="Text 33"/>
          <p:cNvSpPr/>
          <p:nvPr/>
        </p:nvSpPr>
        <p:spPr>
          <a:xfrm>
            <a:off x="2990088" y="164592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 — ADO</a:t>
            </a:r>
            <a:endParaRPr lang="en-US" sz="550" dirty="0"/>
          </a:p>
        </p:txBody>
      </p:sp>
      <p:sp>
        <p:nvSpPr>
          <p:cNvPr id="40" name="Shape 34"/>
          <p:cNvSpPr/>
          <p:nvPr/>
        </p:nvSpPr>
        <p:spPr>
          <a:xfrm>
            <a:off x="2990088" y="1828800"/>
            <a:ext cx="2057400" cy="384048"/>
          </a:xfrm>
          <a:prstGeom prst="rect">
            <a:avLst/>
          </a:prstGeom>
          <a:solidFill>
            <a:srgbClr val="5A8BA5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1892808"/>
            <a:ext cx="182880" cy="18288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282696" y="18653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Frontend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3044952" y="2066544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Assessment</a:t>
            </a:r>
            <a:endParaRPr lang="en-US" sz="600" dirty="0"/>
          </a:p>
        </p:txBody>
      </p:sp>
      <p:sp>
        <p:nvSpPr>
          <p:cNvPr id="44" name="Text 37"/>
          <p:cNvSpPr/>
          <p:nvPr/>
        </p:nvSpPr>
        <p:spPr>
          <a:xfrm>
            <a:off x="2990088" y="22311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— CI — ADO</a:t>
            </a:r>
            <a:endParaRPr lang="en-US" sz="550" dirty="0"/>
          </a:p>
        </p:txBody>
      </p:sp>
      <p:sp>
        <p:nvSpPr>
          <p:cNvPr id="45" name="Shape 38"/>
          <p:cNvSpPr/>
          <p:nvPr/>
        </p:nvSpPr>
        <p:spPr>
          <a:xfrm>
            <a:off x="438912" y="4059936"/>
            <a:ext cx="2221992" cy="20116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46" name="Text 39"/>
          <p:cNvSpPr/>
          <p:nvPr/>
        </p:nvSpPr>
        <p:spPr>
          <a:xfrm>
            <a:off x="438912" y="405993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— CT — ADO + Tekton</a:t>
            </a:r>
            <a:endParaRPr lang="en-US" sz="650" dirty="0"/>
          </a:p>
        </p:txBody>
      </p:sp>
      <p:sp>
        <p:nvSpPr>
          <p:cNvPr id="47" name="Shape 40"/>
          <p:cNvSpPr/>
          <p:nvPr/>
        </p:nvSpPr>
        <p:spPr>
          <a:xfrm>
            <a:off x="2907792" y="4059936"/>
            <a:ext cx="2221992" cy="20116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48" name="Text 41"/>
          <p:cNvSpPr/>
          <p:nvPr/>
        </p:nvSpPr>
        <p:spPr>
          <a:xfrm>
            <a:off x="2907792" y="405993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— CT — ADO + Tekton</a:t>
            </a:r>
            <a:endParaRPr lang="en-US" sz="650" dirty="0"/>
          </a:p>
        </p:txBody>
      </p:sp>
      <p:sp>
        <p:nvSpPr>
          <p:cNvPr id="49" name="Shape 42"/>
          <p:cNvSpPr/>
          <p:nvPr/>
        </p:nvSpPr>
        <p:spPr>
          <a:xfrm>
            <a:off x="329184" y="4334256"/>
            <a:ext cx="5010912" cy="201168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50" name="Text 43"/>
          <p:cNvSpPr/>
          <p:nvPr/>
        </p:nvSpPr>
        <p:spPr>
          <a:xfrm>
            <a:off x="329184" y="43342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 — CT (TEST/UAT only) — ADO + Tekton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5623560" y="676656"/>
            <a:ext cx="3337560" cy="17373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2" name="Text 45"/>
          <p:cNvSpPr/>
          <p:nvPr/>
        </p:nvSpPr>
        <p:spPr>
          <a:xfrm>
            <a:off x="5696712" y="676656"/>
            <a:ext cx="3191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Tests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5623560" y="868680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47"/>
          <p:cNvSpPr/>
          <p:nvPr/>
        </p:nvSpPr>
        <p:spPr>
          <a:xfrm>
            <a:off x="5678424" y="87782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5678424" y="99669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→ mocked Mongo</a:t>
            </a:r>
            <a:endParaRPr lang="en-US" sz="600" dirty="0"/>
          </a:p>
        </p:txBody>
      </p:sp>
      <p:sp>
        <p:nvSpPr>
          <p:cNvPr id="56" name="Shape 49"/>
          <p:cNvSpPr/>
          <p:nvPr/>
        </p:nvSpPr>
        <p:spPr>
          <a:xfrm>
            <a:off x="7772400" y="896112"/>
            <a:ext cx="228600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7" name="Text 50"/>
          <p:cNvSpPr/>
          <p:nvPr/>
        </p:nvSpPr>
        <p:spPr>
          <a:xfrm>
            <a:off x="7772400" y="8961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50" dirty="0"/>
          </a:p>
        </p:txBody>
      </p:sp>
      <p:sp>
        <p:nvSpPr>
          <p:cNvPr id="58" name="Text 51"/>
          <p:cNvSpPr/>
          <p:nvPr/>
        </p:nvSpPr>
        <p:spPr>
          <a:xfrm>
            <a:off x="8046720" y="89611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59" name="Text 52"/>
          <p:cNvSpPr/>
          <p:nvPr/>
        </p:nvSpPr>
        <p:spPr>
          <a:xfrm>
            <a:off x="8046720" y="101498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500" dirty="0"/>
          </a:p>
        </p:txBody>
      </p:sp>
      <p:sp>
        <p:nvSpPr>
          <p:cNvPr id="60" name="Shape 53"/>
          <p:cNvSpPr/>
          <p:nvPr/>
        </p:nvSpPr>
        <p:spPr>
          <a:xfrm>
            <a:off x="5623560" y="1124712"/>
            <a:ext cx="3337560" cy="237744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61" name="Text 54"/>
          <p:cNvSpPr/>
          <p:nvPr/>
        </p:nvSpPr>
        <p:spPr>
          <a:xfrm>
            <a:off x="5678424" y="113385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</a:t>
            </a:r>
            <a:endParaRPr lang="en-US" sz="750" dirty="0"/>
          </a:p>
        </p:txBody>
      </p:sp>
      <p:sp>
        <p:nvSpPr>
          <p:cNvPr id="62" name="Text 55"/>
          <p:cNvSpPr/>
          <p:nvPr/>
        </p:nvSpPr>
        <p:spPr>
          <a:xfrm>
            <a:off x="5678424" y="125272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Kafka → mocked Mongo</a:t>
            </a:r>
            <a:endParaRPr lang="en-US" sz="600" dirty="0"/>
          </a:p>
        </p:txBody>
      </p:sp>
      <p:sp>
        <p:nvSpPr>
          <p:cNvPr id="63" name="Shape 56"/>
          <p:cNvSpPr/>
          <p:nvPr/>
        </p:nvSpPr>
        <p:spPr>
          <a:xfrm>
            <a:off x="7772400" y="1152144"/>
            <a:ext cx="228600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4" name="Text 57"/>
          <p:cNvSpPr/>
          <p:nvPr/>
        </p:nvSpPr>
        <p:spPr>
          <a:xfrm>
            <a:off x="7772400" y="11521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50" dirty="0"/>
          </a:p>
        </p:txBody>
      </p:sp>
      <p:sp>
        <p:nvSpPr>
          <p:cNvPr id="65" name="Text 58"/>
          <p:cNvSpPr/>
          <p:nvPr/>
        </p:nvSpPr>
        <p:spPr>
          <a:xfrm>
            <a:off x="8046720" y="11521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66" name="Text 59"/>
          <p:cNvSpPr/>
          <p:nvPr/>
        </p:nvSpPr>
        <p:spPr>
          <a:xfrm>
            <a:off x="8046720" y="1271016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500" dirty="0"/>
          </a:p>
        </p:txBody>
      </p:sp>
      <p:sp>
        <p:nvSpPr>
          <p:cNvPr id="67" name="Shape 60"/>
          <p:cNvSpPr/>
          <p:nvPr/>
        </p:nvSpPr>
        <p:spPr>
          <a:xfrm>
            <a:off x="5623560" y="1380744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1"/>
          <p:cNvSpPr/>
          <p:nvPr/>
        </p:nvSpPr>
        <p:spPr>
          <a:xfrm>
            <a:off x="5678424" y="138988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</a:t>
            </a:r>
            <a:endParaRPr lang="en-US" sz="750" dirty="0"/>
          </a:p>
        </p:txBody>
      </p:sp>
      <p:sp>
        <p:nvSpPr>
          <p:cNvPr id="69" name="Text 62"/>
          <p:cNvSpPr/>
          <p:nvPr/>
        </p:nvSpPr>
        <p:spPr>
          <a:xfrm>
            <a:off x="5678424" y="150876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Mongo → verify REST</a:t>
            </a:r>
            <a:endParaRPr lang="en-US" sz="600" dirty="0"/>
          </a:p>
        </p:txBody>
      </p:sp>
      <p:sp>
        <p:nvSpPr>
          <p:cNvPr id="70" name="Shape 63"/>
          <p:cNvSpPr/>
          <p:nvPr/>
        </p:nvSpPr>
        <p:spPr>
          <a:xfrm>
            <a:off x="7772400" y="1408176"/>
            <a:ext cx="228600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71" name="Text 64"/>
          <p:cNvSpPr/>
          <p:nvPr/>
        </p:nvSpPr>
        <p:spPr>
          <a:xfrm>
            <a:off x="7772400" y="14081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50" dirty="0"/>
          </a:p>
        </p:txBody>
      </p:sp>
      <p:sp>
        <p:nvSpPr>
          <p:cNvPr id="72" name="Text 65"/>
          <p:cNvSpPr/>
          <p:nvPr/>
        </p:nvSpPr>
        <p:spPr>
          <a:xfrm>
            <a:off x="8046720" y="140817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73" name="Text 66"/>
          <p:cNvSpPr/>
          <p:nvPr/>
        </p:nvSpPr>
        <p:spPr>
          <a:xfrm>
            <a:off x="8046720" y="152704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500" dirty="0"/>
          </a:p>
        </p:txBody>
      </p:sp>
      <p:sp>
        <p:nvSpPr>
          <p:cNvPr id="74" name="Shape 67"/>
          <p:cNvSpPr/>
          <p:nvPr/>
        </p:nvSpPr>
        <p:spPr>
          <a:xfrm>
            <a:off x="5623560" y="1636776"/>
            <a:ext cx="3337560" cy="237744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75" name="Text 68"/>
          <p:cNvSpPr/>
          <p:nvPr/>
        </p:nvSpPr>
        <p:spPr>
          <a:xfrm>
            <a:off x="5678424" y="164592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FE</a:t>
            </a:r>
            <a:endParaRPr lang="en-US" sz="750" dirty="0"/>
          </a:p>
        </p:txBody>
      </p:sp>
      <p:sp>
        <p:nvSpPr>
          <p:cNvPr id="76" name="Text 69"/>
          <p:cNvSpPr/>
          <p:nvPr/>
        </p:nvSpPr>
        <p:spPr>
          <a:xfrm>
            <a:off x="5678424" y="176479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Mocked BFF (MSW) → UI</a:t>
            </a:r>
            <a:endParaRPr lang="en-US" sz="600" dirty="0"/>
          </a:p>
        </p:txBody>
      </p:sp>
      <p:sp>
        <p:nvSpPr>
          <p:cNvPr id="77" name="Shape 70"/>
          <p:cNvSpPr/>
          <p:nvPr/>
        </p:nvSpPr>
        <p:spPr>
          <a:xfrm>
            <a:off x="7772400" y="1664208"/>
            <a:ext cx="228600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78" name="Text 71"/>
          <p:cNvSpPr/>
          <p:nvPr/>
        </p:nvSpPr>
        <p:spPr>
          <a:xfrm>
            <a:off x="7772400" y="16642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50" dirty="0"/>
          </a:p>
        </p:txBody>
      </p:sp>
      <p:sp>
        <p:nvSpPr>
          <p:cNvPr id="79" name="Text 72"/>
          <p:cNvSpPr/>
          <p:nvPr/>
        </p:nvSpPr>
        <p:spPr>
          <a:xfrm>
            <a:off x="8046720" y="166420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80" name="Text 73"/>
          <p:cNvSpPr/>
          <p:nvPr/>
        </p:nvSpPr>
        <p:spPr>
          <a:xfrm>
            <a:off x="8046720" y="178308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500" dirty="0"/>
          </a:p>
        </p:txBody>
      </p:sp>
      <p:sp>
        <p:nvSpPr>
          <p:cNvPr id="81" name="Shape 74"/>
          <p:cNvSpPr/>
          <p:nvPr/>
        </p:nvSpPr>
        <p:spPr>
          <a:xfrm>
            <a:off x="5623560" y="1929384"/>
            <a:ext cx="3337560" cy="1737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2" name="Text 75"/>
          <p:cNvSpPr/>
          <p:nvPr/>
        </p:nvSpPr>
        <p:spPr>
          <a:xfrm>
            <a:off x="5696712" y="1929384"/>
            <a:ext cx="3191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Tests (Pact)</a:t>
            </a:r>
            <a:endParaRPr lang="en-US" sz="850" dirty="0"/>
          </a:p>
        </p:txBody>
      </p:sp>
      <p:sp>
        <p:nvSpPr>
          <p:cNvPr id="83" name="Shape 76"/>
          <p:cNvSpPr/>
          <p:nvPr/>
        </p:nvSpPr>
        <p:spPr>
          <a:xfrm>
            <a:off x="5623560" y="2121408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77"/>
          <p:cNvSpPr/>
          <p:nvPr/>
        </p:nvSpPr>
        <p:spPr>
          <a:xfrm>
            <a:off x="5678424" y="21305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tests</a:t>
            </a:r>
            <a:endParaRPr lang="en-US" sz="750" dirty="0"/>
          </a:p>
        </p:txBody>
      </p:sp>
      <p:sp>
        <p:nvSpPr>
          <p:cNvPr id="85" name="Text 78"/>
          <p:cNvSpPr/>
          <p:nvPr/>
        </p:nvSpPr>
        <p:spPr>
          <a:xfrm>
            <a:off x="5678424" y="224942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/ BFF define expected APIs</a:t>
            </a:r>
            <a:endParaRPr lang="en-US" sz="600" dirty="0"/>
          </a:p>
        </p:txBody>
      </p:sp>
      <p:sp>
        <p:nvSpPr>
          <p:cNvPr id="86" name="Shape 79"/>
          <p:cNvSpPr/>
          <p:nvPr/>
        </p:nvSpPr>
        <p:spPr>
          <a:xfrm>
            <a:off x="7772400" y="2148840"/>
            <a:ext cx="228600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87" name="Text 80"/>
          <p:cNvSpPr/>
          <p:nvPr/>
        </p:nvSpPr>
        <p:spPr>
          <a:xfrm>
            <a:off x="7772400" y="214884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50" dirty="0"/>
          </a:p>
        </p:txBody>
      </p:sp>
      <p:sp>
        <p:nvSpPr>
          <p:cNvPr id="88" name="Text 81"/>
          <p:cNvSpPr/>
          <p:nvPr/>
        </p:nvSpPr>
        <p:spPr>
          <a:xfrm>
            <a:off x="8046720" y="21488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89" name="Text 82"/>
          <p:cNvSpPr/>
          <p:nvPr/>
        </p:nvSpPr>
        <p:spPr>
          <a:xfrm>
            <a:off x="8046720" y="2267712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500" dirty="0"/>
          </a:p>
        </p:txBody>
      </p:sp>
      <p:sp>
        <p:nvSpPr>
          <p:cNvPr id="90" name="Shape 83"/>
          <p:cNvSpPr/>
          <p:nvPr/>
        </p:nvSpPr>
        <p:spPr>
          <a:xfrm>
            <a:off x="5623560" y="2377440"/>
            <a:ext cx="3337560" cy="237744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91" name="Text 84"/>
          <p:cNvSpPr/>
          <p:nvPr/>
        </p:nvSpPr>
        <p:spPr>
          <a:xfrm>
            <a:off x="5678424" y="238658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verif.</a:t>
            </a:r>
            <a:endParaRPr lang="en-US" sz="750" dirty="0"/>
          </a:p>
        </p:txBody>
      </p:sp>
      <p:sp>
        <p:nvSpPr>
          <p:cNvPr id="92" name="Text 85"/>
          <p:cNvSpPr/>
          <p:nvPr/>
        </p:nvSpPr>
        <p:spPr>
          <a:xfrm>
            <a:off x="5678424" y="250545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 / BFF verify contracts</a:t>
            </a:r>
            <a:endParaRPr lang="en-US" sz="600" dirty="0"/>
          </a:p>
        </p:txBody>
      </p:sp>
      <p:sp>
        <p:nvSpPr>
          <p:cNvPr id="93" name="Shape 86"/>
          <p:cNvSpPr/>
          <p:nvPr/>
        </p:nvSpPr>
        <p:spPr>
          <a:xfrm>
            <a:off x="7772400" y="2404872"/>
            <a:ext cx="228600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94" name="Text 87"/>
          <p:cNvSpPr/>
          <p:nvPr/>
        </p:nvSpPr>
        <p:spPr>
          <a:xfrm>
            <a:off x="7772400" y="240487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50" dirty="0"/>
          </a:p>
        </p:txBody>
      </p:sp>
      <p:sp>
        <p:nvSpPr>
          <p:cNvPr id="95" name="Text 88"/>
          <p:cNvSpPr/>
          <p:nvPr/>
        </p:nvSpPr>
        <p:spPr>
          <a:xfrm>
            <a:off x="8046720" y="240487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TEST env</a:t>
            </a:r>
            <a:endParaRPr lang="en-US" sz="550" dirty="0"/>
          </a:p>
        </p:txBody>
      </p:sp>
      <p:sp>
        <p:nvSpPr>
          <p:cNvPr id="96" name="Text 89"/>
          <p:cNvSpPr/>
          <p:nvPr/>
        </p:nvSpPr>
        <p:spPr>
          <a:xfrm>
            <a:off x="8046720" y="252374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500" dirty="0"/>
          </a:p>
        </p:txBody>
      </p:sp>
      <p:sp>
        <p:nvSpPr>
          <p:cNvPr id="97" name="Shape 90"/>
          <p:cNvSpPr/>
          <p:nvPr/>
        </p:nvSpPr>
        <p:spPr>
          <a:xfrm>
            <a:off x="5623560" y="2633472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1"/>
          <p:cNvSpPr/>
          <p:nvPr/>
        </p:nvSpPr>
        <p:spPr>
          <a:xfrm>
            <a:off x="5678424" y="264261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750" dirty="0"/>
          </a:p>
        </p:txBody>
      </p:sp>
      <p:sp>
        <p:nvSpPr>
          <p:cNvPr id="99" name="Text 92"/>
          <p:cNvSpPr/>
          <p:nvPr/>
        </p:nvSpPr>
        <p:spPr>
          <a:xfrm>
            <a:off x="5678424" y="276148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compatibility check before promote</a:t>
            </a:r>
            <a:endParaRPr lang="en-US" sz="600" dirty="0"/>
          </a:p>
        </p:txBody>
      </p:sp>
      <p:sp>
        <p:nvSpPr>
          <p:cNvPr id="100" name="Shape 93"/>
          <p:cNvSpPr/>
          <p:nvPr/>
        </p:nvSpPr>
        <p:spPr>
          <a:xfrm>
            <a:off x="7772400" y="2660904"/>
            <a:ext cx="228600" cy="10972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01" name="Text 94"/>
          <p:cNvSpPr/>
          <p:nvPr/>
        </p:nvSpPr>
        <p:spPr>
          <a:xfrm>
            <a:off x="7772400" y="26609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50" dirty="0"/>
          </a:p>
        </p:txBody>
      </p:sp>
      <p:sp>
        <p:nvSpPr>
          <p:cNvPr id="102" name="Text 95"/>
          <p:cNvSpPr/>
          <p:nvPr/>
        </p:nvSpPr>
        <p:spPr>
          <a:xfrm>
            <a:off x="8046720" y="266090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promote</a:t>
            </a:r>
            <a:endParaRPr lang="en-US" sz="550" dirty="0"/>
          </a:p>
        </p:txBody>
      </p:sp>
      <p:sp>
        <p:nvSpPr>
          <p:cNvPr id="103" name="Text 96"/>
          <p:cNvSpPr/>
          <p:nvPr/>
        </p:nvSpPr>
        <p:spPr>
          <a:xfrm>
            <a:off x="8046720" y="2779776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(gate)</a:t>
            </a:r>
            <a:endParaRPr lang="en-US" sz="500" dirty="0"/>
          </a:p>
        </p:txBody>
      </p:sp>
      <p:sp>
        <p:nvSpPr>
          <p:cNvPr id="104" name="Shape 97"/>
          <p:cNvSpPr/>
          <p:nvPr/>
        </p:nvSpPr>
        <p:spPr>
          <a:xfrm>
            <a:off x="5623560" y="2926080"/>
            <a:ext cx="3337560" cy="17373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05" name="Text 98"/>
          <p:cNvSpPr/>
          <p:nvPr/>
        </p:nvSpPr>
        <p:spPr>
          <a:xfrm>
            <a:off x="5696712" y="2926080"/>
            <a:ext cx="3191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Integration Tests</a:t>
            </a:r>
            <a:endParaRPr lang="en-US" sz="850" dirty="0"/>
          </a:p>
        </p:txBody>
      </p:sp>
      <p:sp>
        <p:nvSpPr>
          <p:cNvPr id="106" name="Shape 99"/>
          <p:cNvSpPr/>
          <p:nvPr/>
        </p:nvSpPr>
        <p:spPr>
          <a:xfrm>
            <a:off x="5623560" y="3118104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0"/>
          <p:cNvSpPr/>
          <p:nvPr/>
        </p:nvSpPr>
        <p:spPr>
          <a:xfrm>
            <a:off x="5678424" y="31272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Path (A)</a:t>
            </a:r>
            <a:endParaRPr lang="en-US" sz="750" dirty="0"/>
          </a:p>
        </p:txBody>
      </p:sp>
      <p:sp>
        <p:nvSpPr>
          <p:cNvPr id="108" name="Text 101"/>
          <p:cNvSpPr/>
          <p:nvPr/>
        </p:nvSpPr>
        <p:spPr>
          <a:xfrm>
            <a:off x="5678424" y="324612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REST/Kafka → real Mongo</a:t>
            </a:r>
            <a:endParaRPr lang="en-US" sz="600" dirty="0"/>
          </a:p>
        </p:txBody>
      </p:sp>
      <p:sp>
        <p:nvSpPr>
          <p:cNvPr id="109" name="Shape 102"/>
          <p:cNvSpPr/>
          <p:nvPr/>
        </p:nvSpPr>
        <p:spPr>
          <a:xfrm>
            <a:off x="7772400" y="3145536"/>
            <a:ext cx="228600" cy="10972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10" name="Text 103"/>
          <p:cNvSpPr/>
          <p:nvPr/>
        </p:nvSpPr>
        <p:spPr>
          <a:xfrm>
            <a:off x="7772400" y="31455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50" dirty="0"/>
          </a:p>
        </p:txBody>
      </p:sp>
      <p:sp>
        <p:nvSpPr>
          <p:cNvPr id="111" name="Text 104"/>
          <p:cNvSpPr/>
          <p:nvPr/>
        </p:nvSpPr>
        <p:spPr>
          <a:xfrm>
            <a:off x="8046720" y="314553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12" name="Text 105"/>
          <p:cNvSpPr/>
          <p:nvPr/>
        </p:nvSpPr>
        <p:spPr>
          <a:xfrm>
            <a:off x="8046720" y="326440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500" dirty="0"/>
          </a:p>
        </p:txBody>
      </p:sp>
      <p:sp>
        <p:nvSpPr>
          <p:cNvPr id="113" name="Shape 106"/>
          <p:cNvSpPr/>
          <p:nvPr/>
        </p:nvSpPr>
        <p:spPr>
          <a:xfrm>
            <a:off x="5623560" y="3374136"/>
            <a:ext cx="3337560" cy="237744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14" name="Text 107"/>
          <p:cNvSpPr/>
          <p:nvPr/>
        </p:nvSpPr>
        <p:spPr>
          <a:xfrm>
            <a:off x="5678424" y="338328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Path (B)</a:t>
            </a:r>
            <a:endParaRPr lang="en-US" sz="750" dirty="0"/>
          </a:p>
        </p:txBody>
      </p:sp>
      <p:sp>
        <p:nvSpPr>
          <p:cNvPr id="115" name="Text 108"/>
          <p:cNvSpPr/>
          <p:nvPr/>
        </p:nvSpPr>
        <p:spPr>
          <a:xfrm>
            <a:off x="5678424" y="350215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 → BFF → Angular</a:t>
            </a:r>
            <a:endParaRPr lang="en-US" sz="600" dirty="0"/>
          </a:p>
        </p:txBody>
      </p:sp>
      <p:sp>
        <p:nvSpPr>
          <p:cNvPr id="116" name="Shape 109"/>
          <p:cNvSpPr/>
          <p:nvPr/>
        </p:nvSpPr>
        <p:spPr>
          <a:xfrm>
            <a:off x="7772400" y="3401568"/>
            <a:ext cx="228600" cy="10972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17" name="Text 110"/>
          <p:cNvSpPr/>
          <p:nvPr/>
        </p:nvSpPr>
        <p:spPr>
          <a:xfrm>
            <a:off x="7772400" y="34015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50" dirty="0"/>
          </a:p>
        </p:txBody>
      </p:sp>
      <p:sp>
        <p:nvSpPr>
          <p:cNvPr id="118" name="Text 111"/>
          <p:cNvSpPr/>
          <p:nvPr/>
        </p:nvSpPr>
        <p:spPr>
          <a:xfrm>
            <a:off x="8046720" y="340156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19" name="Text 112"/>
          <p:cNvSpPr/>
          <p:nvPr/>
        </p:nvSpPr>
        <p:spPr>
          <a:xfrm>
            <a:off x="8046720" y="352044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500" dirty="0"/>
          </a:p>
        </p:txBody>
      </p:sp>
      <p:sp>
        <p:nvSpPr>
          <p:cNvPr id="120" name="Shape 113"/>
          <p:cNvSpPr/>
          <p:nvPr/>
        </p:nvSpPr>
        <p:spPr>
          <a:xfrm>
            <a:off x="5623560" y="3666744"/>
            <a:ext cx="3337560" cy="17373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21" name="Text 114"/>
          <p:cNvSpPr/>
          <p:nvPr/>
        </p:nvSpPr>
        <p:spPr>
          <a:xfrm>
            <a:off x="5696712" y="3666744"/>
            <a:ext cx="3191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Tests (E2E)</a:t>
            </a:r>
            <a:endParaRPr lang="en-US" sz="850" dirty="0"/>
          </a:p>
        </p:txBody>
      </p:sp>
      <p:sp>
        <p:nvSpPr>
          <p:cNvPr id="122" name="Shape 115"/>
          <p:cNvSpPr/>
          <p:nvPr/>
        </p:nvSpPr>
        <p:spPr>
          <a:xfrm>
            <a:off x="5623560" y="3858768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16"/>
          <p:cNvSpPr/>
          <p:nvPr/>
        </p:nvSpPr>
        <p:spPr>
          <a:xfrm>
            <a:off x="5678424" y="38679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 E2E</a:t>
            </a:r>
            <a:endParaRPr lang="en-US" sz="750" dirty="0"/>
          </a:p>
        </p:txBody>
      </p:sp>
      <p:sp>
        <p:nvSpPr>
          <p:cNvPr id="124" name="Text 117"/>
          <p:cNvSpPr/>
          <p:nvPr/>
        </p:nvSpPr>
        <p:spPr>
          <a:xfrm>
            <a:off x="5678424" y="398678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REST/Kafka → Mongo → BFF → Angular</a:t>
            </a:r>
            <a:endParaRPr lang="en-US" sz="600" dirty="0"/>
          </a:p>
        </p:txBody>
      </p:sp>
      <p:sp>
        <p:nvSpPr>
          <p:cNvPr id="125" name="Shape 118"/>
          <p:cNvSpPr/>
          <p:nvPr/>
        </p:nvSpPr>
        <p:spPr>
          <a:xfrm>
            <a:off x="7772400" y="3886200"/>
            <a:ext cx="228600" cy="10972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26" name="Text 119"/>
          <p:cNvSpPr/>
          <p:nvPr/>
        </p:nvSpPr>
        <p:spPr>
          <a:xfrm>
            <a:off x="7772400" y="38862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50" dirty="0"/>
          </a:p>
        </p:txBody>
      </p:sp>
      <p:sp>
        <p:nvSpPr>
          <p:cNvPr id="127" name="Text 120"/>
          <p:cNvSpPr/>
          <p:nvPr/>
        </p:nvSpPr>
        <p:spPr>
          <a:xfrm>
            <a:off x="8046720" y="388620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28" name="Text 121"/>
          <p:cNvSpPr/>
          <p:nvPr/>
        </p:nvSpPr>
        <p:spPr>
          <a:xfrm>
            <a:off x="8046720" y="4005072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500" dirty="0"/>
          </a:p>
        </p:txBody>
      </p:sp>
      <p:sp>
        <p:nvSpPr>
          <p:cNvPr id="129" name="Shape 122"/>
          <p:cNvSpPr/>
          <p:nvPr/>
        </p:nvSpPr>
        <p:spPr>
          <a:xfrm>
            <a:off x="5623560" y="4151376"/>
            <a:ext cx="3337560" cy="17373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30" name="Text 123"/>
          <p:cNvSpPr/>
          <p:nvPr/>
        </p:nvSpPr>
        <p:spPr>
          <a:xfrm>
            <a:off x="5696712" y="4151376"/>
            <a:ext cx="3191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 Smoke Tests (Post-Deploy)</a:t>
            </a:r>
            <a:endParaRPr lang="en-US" sz="850" dirty="0"/>
          </a:p>
        </p:txBody>
      </p:sp>
      <p:sp>
        <p:nvSpPr>
          <p:cNvPr id="131" name="Shape 124"/>
          <p:cNvSpPr/>
          <p:nvPr/>
        </p:nvSpPr>
        <p:spPr>
          <a:xfrm>
            <a:off x="5623560" y="4343400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25"/>
          <p:cNvSpPr/>
          <p:nvPr/>
        </p:nvSpPr>
        <p:spPr>
          <a:xfrm>
            <a:off x="5678424" y="43525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Universal</a:t>
            </a:r>
            <a:endParaRPr lang="en-US" sz="750" dirty="0"/>
          </a:p>
        </p:txBody>
      </p:sp>
      <p:sp>
        <p:nvSpPr>
          <p:cNvPr id="133" name="Text 126"/>
          <p:cNvSpPr/>
          <p:nvPr/>
        </p:nvSpPr>
        <p:spPr>
          <a:xfrm>
            <a:off x="5678424" y="447141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Health, version, read-only API</a:t>
            </a:r>
            <a:endParaRPr lang="en-US" sz="600" dirty="0"/>
          </a:p>
        </p:txBody>
      </p:sp>
      <p:sp>
        <p:nvSpPr>
          <p:cNvPr id="134" name="Shape 127"/>
          <p:cNvSpPr/>
          <p:nvPr/>
        </p:nvSpPr>
        <p:spPr>
          <a:xfrm>
            <a:off x="7772400" y="4370832"/>
            <a:ext cx="228600" cy="10972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35" name="Text 128"/>
          <p:cNvSpPr/>
          <p:nvPr/>
        </p:nvSpPr>
        <p:spPr>
          <a:xfrm>
            <a:off x="7772400" y="437083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50" dirty="0"/>
          </a:p>
        </p:txBody>
      </p:sp>
      <p:sp>
        <p:nvSpPr>
          <p:cNvPr id="136" name="Text 129"/>
          <p:cNvSpPr/>
          <p:nvPr/>
        </p:nvSpPr>
        <p:spPr>
          <a:xfrm>
            <a:off x="8046720" y="437083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(incl. PROD)</a:t>
            </a:r>
            <a:endParaRPr lang="en-US" sz="550" dirty="0"/>
          </a:p>
        </p:txBody>
      </p:sp>
      <p:sp>
        <p:nvSpPr>
          <p:cNvPr id="137" name="Text 130"/>
          <p:cNvSpPr/>
          <p:nvPr/>
        </p:nvSpPr>
        <p:spPr>
          <a:xfrm>
            <a:off x="8046720" y="448970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500" dirty="0"/>
          </a:p>
        </p:txBody>
      </p:sp>
      <p:sp>
        <p:nvSpPr>
          <p:cNvPr id="138" name="Shape 131"/>
          <p:cNvSpPr/>
          <p:nvPr/>
        </p:nvSpPr>
        <p:spPr>
          <a:xfrm>
            <a:off x="5623560" y="4599432"/>
            <a:ext cx="3337560" cy="237744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39" name="Text 132"/>
          <p:cNvSpPr/>
          <p:nvPr/>
        </p:nvSpPr>
        <p:spPr>
          <a:xfrm>
            <a:off x="5678424" y="460857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Write</a:t>
            </a:r>
            <a:endParaRPr lang="en-US" sz="750" dirty="0"/>
          </a:p>
        </p:txBody>
      </p:sp>
      <p:sp>
        <p:nvSpPr>
          <p:cNvPr id="140" name="Text 133"/>
          <p:cNvSpPr/>
          <p:nvPr/>
        </p:nvSpPr>
        <p:spPr>
          <a:xfrm>
            <a:off x="5678424" y="472744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→ verify → cleanup</a:t>
            </a:r>
            <a:endParaRPr lang="en-US" sz="600" dirty="0"/>
          </a:p>
        </p:txBody>
      </p:sp>
      <p:sp>
        <p:nvSpPr>
          <p:cNvPr id="141" name="Shape 134"/>
          <p:cNvSpPr/>
          <p:nvPr/>
        </p:nvSpPr>
        <p:spPr>
          <a:xfrm>
            <a:off x="7772400" y="4626864"/>
            <a:ext cx="228600" cy="10972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42" name="Text 135"/>
          <p:cNvSpPr/>
          <p:nvPr/>
        </p:nvSpPr>
        <p:spPr>
          <a:xfrm>
            <a:off x="7772400" y="462686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50" dirty="0"/>
          </a:p>
        </p:txBody>
      </p:sp>
      <p:sp>
        <p:nvSpPr>
          <p:cNvPr id="143" name="Text 136"/>
          <p:cNvSpPr/>
          <p:nvPr/>
        </p:nvSpPr>
        <p:spPr>
          <a:xfrm>
            <a:off x="8046720" y="462686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UAT only</a:t>
            </a:r>
            <a:endParaRPr lang="en-US" sz="550" dirty="0"/>
          </a:p>
        </p:txBody>
      </p:sp>
      <p:sp>
        <p:nvSpPr>
          <p:cNvPr id="144" name="Text 137"/>
          <p:cNvSpPr/>
          <p:nvPr/>
        </p:nvSpPr>
        <p:spPr>
          <a:xfrm>
            <a:off x="8046720" y="4745736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500" dirty="0"/>
          </a:p>
        </p:txBody>
      </p:sp>
      <p:sp>
        <p:nvSpPr>
          <p:cNvPr id="145" name="Shape 138"/>
          <p:cNvSpPr/>
          <p:nvPr/>
        </p:nvSpPr>
        <p:spPr>
          <a:xfrm>
            <a:off x="5623560" y="4855464"/>
            <a:ext cx="33375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Text 139"/>
          <p:cNvSpPr/>
          <p:nvPr/>
        </p:nvSpPr>
        <p:spPr>
          <a:xfrm>
            <a:off x="5678424" y="48646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Infra</a:t>
            </a:r>
            <a:endParaRPr lang="en-US" sz="750" dirty="0"/>
          </a:p>
        </p:txBody>
      </p:sp>
      <p:sp>
        <p:nvSpPr>
          <p:cNvPr id="147" name="Text 140"/>
          <p:cNvSpPr/>
          <p:nvPr/>
        </p:nvSpPr>
        <p:spPr>
          <a:xfrm>
            <a:off x="5678424" y="498348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E2E produce → consume</a:t>
            </a:r>
            <a:endParaRPr lang="en-US" sz="600" dirty="0"/>
          </a:p>
        </p:txBody>
      </p:sp>
      <p:sp>
        <p:nvSpPr>
          <p:cNvPr id="148" name="Shape 141"/>
          <p:cNvSpPr/>
          <p:nvPr/>
        </p:nvSpPr>
        <p:spPr>
          <a:xfrm>
            <a:off x="7772400" y="4882896"/>
            <a:ext cx="228600" cy="10972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49" name="Text 142"/>
          <p:cNvSpPr/>
          <p:nvPr/>
        </p:nvSpPr>
        <p:spPr>
          <a:xfrm>
            <a:off x="7772400" y="48828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50" dirty="0"/>
          </a:p>
        </p:txBody>
      </p:sp>
      <p:sp>
        <p:nvSpPr>
          <p:cNvPr id="150" name="Text 143"/>
          <p:cNvSpPr/>
          <p:nvPr/>
        </p:nvSpPr>
        <p:spPr>
          <a:xfrm>
            <a:off x="8046720" y="488289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only</a:t>
            </a:r>
            <a:endParaRPr lang="en-US" sz="550" dirty="0"/>
          </a:p>
        </p:txBody>
      </p:sp>
      <p:sp>
        <p:nvSpPr>
          <p:cNvPr id="151" name="Text 144"/>
          <p:cNvSpPr/>
          <p:nvPr/>
        </p:nvSpPr>
        <p:spPr>
          <a:xfrm>
            <a:off x="8046720" y="500176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500" dirty="0"/>
          </a:p>
        </p:txBody>
      </p:sp>
      <p:sp>
        <p:nvSpPr>
          <p:cNvPr id="152" name="Shape 145"/>
          <p:cNvSpPr/>
          <p:nvPr/>
        </p:nvSpPr>
        <p:spPr>
          <a:xfrm>
            <a:off x="365760" y="4937760"/>
            <a:ext cx="109728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53" name="Text 146"/>
          <p:cNvSpPr/>
          <p:nvPr/>
        </p:nvSpPr>
        <p:spPr>
          <a:xfrm>
            <a:off x="530352" y="492861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Azure DevOps (PR)</a:t>
            </a:r>
            <a:endParaRPr lang="en-US" sz="700" dirty="0"/>
          </a:p>
        </p:txBody>
      </p:sp>
      <p:sp>
        <p:nvSpPr>
          <p:cNvPr id="154" name="Shape 147"/>
          <p:cNvSpPr/>
          <p:nvPr/>
        </p:nvSpPr>
        <p:spPr>
          <a:xfrm>
            <a:off x="2606040" y="4937760"/>
            <a:ext cx="109728" cy="10972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55" name="Text 148"/>
          <p:cNvSpPr/>
          <p:nvPr/>
        </p:nvSpPr>
        <p:spPr>
          <a:xfrm>
            <a:off x="2770632" y="492861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= Tekton (ServiceNow)</a:t>
            </a:r>
            <a:endParaRPr lang="en-US" sz="700" dirty="0"/>
          </a:p>
        </p:txBody>
      </p:sp>
      <p:sp>
        <p:nvSpPr>
          <p:cNvPr id="156" name="Shape 149"/>
          <p:cNvSpPr/>
          <p:nvPr/>
        </p:nvSpPr>
        <p:spPr>
          <a:xfrm>
            <a:off x="4846320" y="4937760"/>
            <a:ext cx="109728" cy="10972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57" name="Text 150"/>
          <p:cNvSpPr/>
          <p:nvPr/>
        </p:nvSpPr>
        <p:spPr>
          <a:xfrm>
            <a:off x="5010912" y="492861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= ADO + Tekton</a:t>
            </a:r>
            <a:endParaRPr lang="en-US" sz="700" dirty="0"/>
          </a:p>
        </p:txBody>
      </p:sp>
      <p:sp>
        <p:nvSpPr>
          <p:cNvPr id="158" name="Shape 151"/>
          <p:cNvSpPr/>
          <p:nvPr/>
        </p:nvSpPr>
        <p:spPr>
          <a:xfrm>
            <a:off x="7086600" y="4937760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9" name="Text 152"/>
          <p:cNvSpPr/>
          <p:nvPr/>
        </p:nvSpPr>
        <p:spPr>
          <a:xfrm>
            <a:off x="7251192" y="492861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= Pact Broker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These Tests Actually Look Like?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examples of Component, Contract, Application Integration, and System tests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20116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583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— Single deployable, all externals mocked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58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 |  PR / Commit  |  Azure DevOps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96112"/>
            <a:ext cx="36576" cy="74980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93268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15568"/>
            <a:ext cx="100584" cy="1005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6072" y="10972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starts for real, receives REST/Kafka, writes to in-memory MongoDB (Testcontainers).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76072" y="13350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logic, validation, error handling, shape of DB writes.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517904"/>
            <a:ext cx="100584" cy="100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" y="1499616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needed: </a:t>
            </a:r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Kafka, real MongoDB, real consumers.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4626864" y="896112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896112"/>
            <a:ext cx="36576" cy="74980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8" name="Text 14"/>
          <p:cNvSpPr/>
          <p:nvPr/>
        </p:nvSpPr>
        <p:spPr>
          <a:xfrm>
            <a:off x="4736592" y="93268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 / Angular FE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115568"/>
            <a:ext cx="100584" cy="1005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82896" y="10972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reads pre-seeded Mongo. Angular runs against mocked BFF (MSW/json-server).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4882896" y="13350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responses, pagination, UI rendering, routing, state management.</a:t>
            </a:r>
            <a:endParaRPr lang="en-US" sz="6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517904"/>
            <a:ext cx="100584" cy="1005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82896" y="1499616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needed: </a:t>
            </a:r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upstream APIs, real database, real backend.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320040" y="1700784"/>
            <a:ext cx="85039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19"/>
          <p:cNvSpPr/>
          <p:nvPr/>
        </p:nvSpPr>
        <p:spPr>
          <a:xfrm>
            <a:off x="411480" y="1700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 — API boundaries verified via Pact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029200" y="1700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+ CD  |  PR + Before promote  |  ADO + Tekton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320040" y="1938528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" y="1938528"/>
            <a:ext cx="36576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3"/>
          <p:cNvSpPr/>
          <p:nvPr/>
        </p:nvSpPr>
        <p:spPr>
          <a:xfrm>
            <a:off x="429768" y="197510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Tests (CI)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157984"/>
            <a:ext cx="100584" cy="1005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76072" y="21396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/ BFF write Pact contracts defining expected request/response. Tests run against a mock provider — no real service needed. Generates a Pact file published to the Broker.</a:t>
            </a:r>
            <a:endParaRPr lang="en-US" sz="650" dirty="0"/>
          </a:p>
        </p:txBody>
      </p:sp>
      <p:sp>
        <p:nvSpPr>
          <p:cNvPr id="32" name="Text 25"/>
          <p:cNvSpPr/>
          <p:nvPr/>
        </p:nvSpPr>
        <p:spPr>
          <a:xfrm>
            <a:off x="576072" y="24323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API shape, status codes, data types, error responses.</a:t>
            </a:r>
            <a:endParaRPr lang="en-US" sz="650" dirty="0"/>
          </a:p>
        </p:txBody>
      </p:sp>
      <p:sp>
        <p:nvSpPr>
          <p:cNvPr id="33" name="Shape 26"/>
          <p:cNvSpPr/>
          <p:nvPr/>
        </p:nvSpPr>
        <p:spPr>
          <a:xfrm>
            <a:off x="4626864" y="1938528"/>
            <a:ext cx="41605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26864" y="1938528"/>
            <a:ext cx="36576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28"/>
          <p:cNvSpPr/>
          <p:nvPr/>
        </p:nvSpPr>
        <p:spPr>
          <a:xfrm>
            <a:off x="4736592" y="197510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Verification + can-i-deploy</a:t>
            </a:r>
            <a:endParaRPr lang="en-US" sz="9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2157984"/>
            <a:ext cx="100584" cy="1005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882896" y="21396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 / BFF replays consumer contracts against the real running service. can-i-deploy queries Broker before every environment promotion.</a:t>
            </a:r>
            <a:endParaRPr lang="en-US" sz="650" dirty="0"/>
          </a:p>
        </p:txBody>
      </p:sp>
      <p:sp>
        <p:nvSpPr>
          <p:cNvPr id="38" name="Text 30"/>
          <p:cNvSpPr/>
          <p:nvPr/>
        </p:nvSpPr>
        <p:spPr>
          <a:xfrm>
            <a:off x="4882896" y="24323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service satisfies all consumer expectations. Safe to deploy.</a:t>
            </a:r>
            <a:endParaRPr lang="en-US" sz="650" dirty="0"/>
          </a:p>
        </p:txBody>
      </p:sp>
      <p:sp>
        <p:nvSpPr>
          <p:cNvPr id="39" name="Shape 31"/>
          <p:cNvSpPr/>
          <p:nvPr/>
        </p:nvSpPr>
        <p:spPr>
          <a:xfrm>
            <a:off x="320040" y="2743200"/>
            <a:ext cx="8503920" cy="20116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40" name="Text 32"/>
          <p:cNvSpPr/>
          <p:nvPr/>
        </p:nvSpPr>
        <p:spPr>
          <a:xfrm>
            <a:off x="411480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Integration — Real shared infrastructure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02920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 |  Post-CD  |  ADO + Tekton  |  TEST, UAT</a:t>
            </a:r>
            <a:endParaRPr lang="en-US" sz="700" dirty="0"/>
          </a:p>
        </p:txBody>
      </p:sp>
      <p:sp>
        <p:nvSpPr>
          <p:cNvPr id="42" name="Shape 34"/>
          <p:cNvSpPr/>
          <p:nvPr/>
        </p:nvSpPr>
        <p:spPr>
          <a:xfrm>
            <a:off x="320040" y="298094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320040" y="2980944"/>
            <a:ext cx="36576" cy="65836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44" name="Text 36"/>
          <p:cNvSpPr/>
          <p:nvPr/>
        </p:nvSpPr>
        <p:spPr>
          <a:xfrm>
            <a:off x="429768" y="301752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 — Write Path</a:t>
            </a:r>
            <a:endParaRPr lang="en-US" sz="9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200400"/>
            <a:ext cx="100584" cy="1005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76072" y="3182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REST call → Public API → real MongoDB. Real Kafka event → Integration API → same real MongoDB. MongoDB is real and shared.</a:t>
            </a:r>
            <a:endParaRPr lang="en-US" sz="650" dirty="0"/>
          </a:p>
        </p:txBody>
      </p:sp>
      <p:sp>
        <p:nvSpPr>
          <p:cNvPr id="47" name="Text 38"/>
          <p:cNvSpPr/>
          <p:nvPr/>
        </p:nvSpPr>
        <p:spPr>
          <a:xfrm>
            <a:off x="576072" y="347472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schema, transformations, concurrent writes, error handling.</a:t>
            </a:r>
            <a:endParaRPr lang="en-US" sz="650" dirty="0"/>
          </a:p>
        </p:txBody>
      </p:sp>
      <p:sp>
        <p:nvSpPr>
          <p:cNvPr id="48" name="Shape 39"/>
          <p:cNvSpPr/>
          <p:nvPr/>
        </p:nvSpPr>
        <p:spPr>
          <a:xfrm>
            <a:off x="4626864" y="298094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626864" y="2980944"/>
            <a:ext cx="36576" cy="65836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50" name="Text 41"/>
          <p:cNvSpPr/>
          <p:nvPr/>
        </p:nvSpPr>
        <p:spPr>
          <a:xfrm>
            <a:off x="4736592" y="301752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 — Read Path</a:t>
            </a:r>
            <a:endParaRPr lang="en-US" sz="9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3200400"/>
            <a:ext cx="100584" cy="10058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882896" y="3182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Pre-seeded MongoDB → BFF reads and transforms → Angular renders dashboard. Full read chain: Mongo → BFF → Angular.</a:t>
            </a:r>
            <a:endParaRPr lang="en-US" sz="650" dirty="0"/>
          </a:p>
        </p:txBody>
      </p:sp>
      <p:sp>
        <p:nvSpPr>
          <p:cNvPr id="53" name="Text 43"/>
          <p:cNvSpPr/>
          <p:nvPr/>
        </p:nvSpPr>
        <p:spPr>
          <a:xfrm>
            <a:off x="4882896" y="347472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aggregation logic, Angular renders correctly, data matches DB.</a:t>
            </a:r>
            <a:endParaRPr lang="en-US" sz="650" dirty="0"/>
          </a:p>
        </p:txBody>
      </p:sp>
      <p:sp>
        <p:nvSpPr>
          <p:cNvPr id="54" name="Shape 44"/>
          <p:cNvSpPr/>
          <p:nvPr/>
        </p:nvSpPr>
        <p:spPr>
          <a:xfrm>
            <a:off x="320040" y="3694176"/>
            <a:ext cx="8503920" cy="201168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55" name="Text 45"/>
          <p:cNvSpPr/>
          <p:nvPr/>
        </p:nvSpPr>
        <p:spPr>
          <a:xfrm>
            <a:off x="411480" y="36941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— Full E2E across all applications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5029200" y="3694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 |  Post-CD  |  TEST, UAT only</a:t>
            </a:r>
            <a:endParaRPr lang="en-US" sz="700" dirty="0"/>
          </a:p>
        </p:txBody>
      </p:sp>
      <p:sp>
        <p:nvSpPr>
          <p:cNvPr id="57" name="Shape 47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320040" y="3931920"/>
            <a:ext cx="36576" cy="45720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59" name="Text 49"/>
          <p:cNvSpPr/>
          <p:nvPr/>
        </p:nvSpPr>
        <p:spPr>
          <a:xfrm>
            <a:off x="457200" y="395935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Chain: REST / Kafka → Public API + Integration API → MongoDB → BFF API → Angular</a:t>
            </a:r>
            <a:endParaRPr lang="en-US" sz="850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33088"/>
            <a:ext cx="100584" cy="100584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603504" y="4114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real. A user action flows through the entire product. You verify cross-app data consistency, full user journeys (create → display → status update), and that what App A writes is exactly what App B reads.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Smoke Tests?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automated go / no-go gate that runs post-deployment to verify a release is healthy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8503920" cy="640080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59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22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 answer one question: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this deployment healthy and can it serve traffic?"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41148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828800"/>
            <a:ext cx="36576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1920240"/>
            <a:ext cx="274320" cy="2743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476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2688" y="18836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&amp; non-destructive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32688" y="2084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requests only (Tier 1). No data mutations in PROD. Safe for every environment.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800600" y="1828800"/>
            <a:ext cx="41148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1828800"/>
            <a:ext cx="36576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4"/>
          <p:cNvSpPr/>
          <p:nvPr/>
        </p:nvSpPr>
        <p:spPr>
          <a:xfrm>
            <a:off x="4910328" y="1920240"/>
            <a:ext cx="274320" cy="274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4767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76088" y="18836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— under 2 minutes total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276088" y="2084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checks, version match, critical API shape verification. Not a full regression suite.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57200" y="2450592"/>
            <a:ext cx="41148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2450592"/>
            <a:ext cx="36576" cy="530352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24" name="Shape 19"/>
          <p:cNvSpPr/>
          <p:nvPr/>
        </p:nvSpPr>
        <p:spPr>
          <a:xfrm>
            <a:off x="566928" y="2542032"/>
            <a:ext cx="274320" cy="274320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6946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" y="25054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&amp; blocking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32688" y="2706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 ServiceNow post-deployment via Tekton. Failure = automatic rollback. No human in the loop.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800600" y="2450592"/>
            <a:ext cx="41148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00600" y="2450592"/>
            <a:ext cx="36576" cy="53035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30" name="Shape 24"/>
          <p:cNvSpPr/>
          <p:nvPr/>
        </p:nvSpPr>
        <p:spPr>
          <a:xfrm>
            <a:off x="4910328" y="2542032"/>
            <a:ext cx="274320" cy="274320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6946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76088" y="25054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signal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276088" y="2706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suite (Tier 1) is identical across TEST, UAT, PROD — so "CD passed" means the same everywhere.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457200" y="31638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 — Differentiated by Environment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320040" y="3456432"/>
            <a:ext cx="270662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20040" y="3456432"/>
            <a:ext cx="2706624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0"/>
          <p:cNvSpPr/>
          <p:nvPr/>
        </p:nvSpPr>
        <p:spPr>
          <a:xfrm>
            <a:off x="429768" y="3547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914400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29768" y="3785616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0" name="Text 33"/>
          <p:cNvSpPr/>
          <p:nvPr/>
        </p:nvSpPr>
        <p:spPr>
          <a:xfrm>
            <a:off x="429768" y="378561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environments (incl. PROD)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429768" y="402336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 → 200, GET /version → matches Helm chart, GET /api/resource → expected structure, Kafka consumer group connected</a:t>
            </a:r>
            <a:endParaRPr lang="en-US" sz="700" dirty="0"/>
          </a:p>
        </p:txBody>
      </p:sp>
      <p:sp>
        <p:nvSpPr>
          <p:cNvPr id="42" name="Shape 35"/>
          <p:cNvSpPr/>
          <p:nvPr/>
        </p:nvSpPr>
        <p:spPr>
          <a:xfrm>
            <a:off x="429768" y="4718304"/>
            <a:ext cx="2487168" cy="201168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3" name="Text 36"/>
          <p:cNvSpPr/>
          <p:nvPr/>
        </p:nvSpPr>
        <p:spPr>
          <a:xfrm>
            <a:off x="429768" y="47183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tests  |  &lt; 30 seconds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3172968" y="3456432"/>
            <a:ext cx="270662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172968" y="3456432"/>
            <a:ext cx="2706624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39"/>
          <p:cNvSpPr/>
          <p:nvPr/>
        </p:nvSpPr>
        <p:spPr>
          <a:xfrm>
            <a:off x="3282696" y="3547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3767328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Verification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282696" y="3785616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9" name="Text 42"/>
          <p:cNvSpPr/>
          <p:nvPr/>
        </p:nvSpPr>
        <p:spPr>
          <a:xfrm>
            <a:off x="3282696" y="378561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UAT only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3282696" y="402336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test entity (with _test marker) → verify in DB via GET → DELETE/cleanup. One write-read-cleanup cycle per major write endpoint. Must be idempotent.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3282696" y="4718304"/>
            <a:ext cx="2487168" cy="201168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52" name="Text 45"/>
          <p:cNvSpPr/>
          <p:nvPr/>
        </p:nvSpPr>
        <p:spPr>
          <a:xfrm>
            <a:off x="3282696" y="47183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tests  |  &lt; 90 seconds</a:t>
            </a:r>
            <a:endParaRPr lang="en-US" sz="750" dirty="0"/>
          </a:p>
        </p:txBody>
      </p:sp>
      <p:sp>
        <p:nvSpPr>
          <p:cNvPr id="53" name="Shape 46"/>
          <p:cNvSpPr/>
          <p:nvPr/>
        </p:nvSpPr>
        <p:spPr>
          <a:xfrm>
            <a:off x="6025896" y="3456432"/>
            <a:ext cx="270662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6025896" y="3456432"/>
            <a:ext cx="2706624" cy="36576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55" name="Text 48"/>
          <p:cNvSpPr/>
          <p:nvPr/>
        </p:nvSpPr>
        <p:spPr>
          <a:xfrm>
            <a:off x="6135624" y="3547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6620256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Verification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6135624" y="3785616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58" name="Text 51"/>
          <p:cNvSpPr/>
          <p:nvPr/>
        </p:nvSpPr>
        <p:spPr>
          <a:xfrm>
            <a:off x="6135624" y="378561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only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6135624" y="402336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Kafka test event → Integration API consumes → verify in MongoDB → verify via BFF GET. Full infrastructure chain validation.</a:t>
            </a:r>
            <a:endParaRPr lang="en-US" sz="700" dirty="0"/>
          </a:p>
        </p:txBody>
      </p:sp>
      <p:sp>
        <p:nvSpPr>
          <p:cNvPr id="60" name="Shape 53"/>
          <p:cNvSpPr/>
          <p:nvPr/>
        </p:nvSpPr>
        <p:spPr>
          <a:xfrm>
            <a:off x="6135624" y="4718304"/>
            <a:ext cx="2487168" cy="201168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61" name="Text 54"/>
          <p:cNvSpPr/>
          <p:nvPr/>
        </p:nvSpPr>
        <p:spPr>
          <a:xfrm>
            <a:off x="6135624" y="47183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tests  |  &lt; 2 minutes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Architecture, Test Examples &amp; Smoke Tests</dc:title>
  <dc:subject>PptxGenJS Presentation</dc:subject>
  <dc:creator>Quality Engineering</dc:creator>
  <cp:lastModifiedBy>Quality Engineering</cp:lastModifiedBy>
  <cp:revision>1</cp:revision>
  <dcterms:created xsi:type="dcterms:W3CDTF">2026-03-10T16:54:57Z</dcterms:created>
  <dcterms:modified xsi:type="dcterms:W3CDTF">2026-03-10T16:54:57Z</dcterms:modified>
</cp:coreProperties>
</file>