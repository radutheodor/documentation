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422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HOTFIX PIPELINE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Factory Vision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Developer Commit to Production in Hours — With Confidence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 |  Platform Engineering  |  Architecture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Test Factory?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manual, error-prone hotfix delivery into an automated quality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886200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Manual &amp; Fragmented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test coverage across 40+ teams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smoke tests delay deployments by hours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decisions are reactive and slow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quality gates between environments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an afterthought, not a pipeline stage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 discovered by end users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417320"/>
            <a:ext cx="388620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Automated Test Factory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74920" y="20574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automated quality gates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execute in seconds post-deploy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on failure — no human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test types per environment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tests run in CI before any deployment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closes the feedback loop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0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24528" y="267004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77977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~2h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4572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Prod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6517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265176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846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&lt;60s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84632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408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04088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from developer commit to production — each with automated quality gates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987552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459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32588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0876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08760" y="1463040"/>
            <a:ext cx="987552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64592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50876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release/x.y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51460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9748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697480" y="1463040"/>
            <a:ext cx="987552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6459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9748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69748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70332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88620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886200" y="1463040"/>
            <a:ext cx="987552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64592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8620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88620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Smoke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89204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7492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74920" y="1463040"/>
            <a:ext cx="987552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645920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7492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7492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608076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6364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3640" y="1463040"/>
            <a:ext cx="987552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1645920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26364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26364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Sign-off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7269480" y="20574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452360" y="1463040"/>
            <a:ext cx="987552" cy="1188720"/>
          </a:xfrm>
          <a:prstGeom prst="rect">
            <a:avLst/>
          </a:prstGeom>
          <a:solidFill>
            <a:srgbClr val="14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452360" y="1463040"/>
            <a:ext cx="987552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645920"/>
            <a:ext cx="310896" cy="31089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452360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7452360" y="226771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+ Monitor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320040" y="2971800"/>
            <a:ext cx="3200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38"/>
          <p:cNvSpPr/>
          <p:nvPr/>
        </p:nvSpPr>
        <p:spPr>
          <a:xfrm>
            <a:off x="3200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/ Build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320040" y="3383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32004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SAST, Contract Tests,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Scan, Publish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3246120" y="2971800"/>
            <a:ext cx="3383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1" name="Text 42"/>
          <p:cNvSpPr/>
          <p:nvPr/>
        </p:nvSpPr>
        <p:spPr>
          <a:xfrm>
            <a:off x="324612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Deployments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3246120" y="33832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4–6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324612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Tests, Integration Tests,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DAST, Perf, Sign-off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6355080" y="2971800"/>
            <a:ext cx="2468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46"/>
          <p:cNvSpPr/>
          <p:nvPr/>
        </p:nvSpPr>
        <p:spPr>
          <a:xfrm>
            <a:off x="63550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56" name="Text 47"/>
          <p:cNvSpPr/>
          <p:nvPr/>
        </p:nvSpPr>
        <p:spPr>
          <a:xfrm>
            <a:off x="6355080" y="3383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6355080" y="3611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Deploy, Health Checks,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Monitoring, Alerting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59" name="Text 50"/>
          <p:cNvSpPr/>
          <p:nvPr/>
        </p:nvSpPr>
        <p:spPr>
          <a:xfrm>
            <a:off x="640080" y="4498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TIMELINE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91440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91440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(hotfix)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237744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min</a:t>
            </a:r>
            <a:endParaRPr lang="en-US" sz="1100" dirty="0"/>
          </a:p>
        </p:txBody>
      </p:sp>
      <p:sp>
        <p:nvSpPr>
          <p:cNvPr id="63" name="Text 54"/>
          <p:cNvSpPr/>
          <p:nvPr/>
        </p:nvSpPr>
        <p:spPr>
          <a:xfrm>
            <a:off x="237744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(release)</a:t>
            </a:r>
            <a:endParaRPr lang="en-US" sz="800" dirty="0"/>
          </a:p>
        </p:txBody>
      </p:sp>
      <p:sp>
        <p:nvSpPr>
          <p:cNvPr id="64" name="Text 55"/>
          <p:cNvSpPr/>
          <p:nvPr/>
        </p:nvSpPr>
        <p:spPr>
          <a:xfrm>
            <a:off x="374904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</a:t>
            </a:r>
            <a:endParaRPr lang="en-US" sz="1100" dirty="0"/>
          </a:p>
        </p:txBody>
      </p:sp>
      <p:sp>
        <p:nvSpPr>
          <p:cNvPr id="65" name="Text 56"/>
          <p:cNvSpPr/>
          <p:nvPr/>
        </p:nvSpPr>
        <p:spPr>
          <a:xfrm>
            <a:off x="374904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00" dirty="0"/>
          </a:p>
        </p:txBody>
      </p:sp>
      <p:sp>
        <p:nvSpPr>
          <p:cNvPr id="66" name="Text 57"/>
          <p:cNvSpPr/>
          <p:nvPr/>
        </p:nvSpPr>
        <p:spPr>
          <a:xfrm>
            <a:off x="502920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min</a:t>
            </a:r>
            <a:endParaRPr lang="en-US" sz="1100" dirty="0"/>
          </a:p>
        </p:txBody>
      </p:sp>
      <p:sp>
        <p:nvSpPr>
          <p:cNvPr id="67" name="Text 58"/>
          <p:cNvSpPr/>
          <p:nvPr/>
        </p:nvSpPr>
        <p:spPr>
          <a:xfrm>
            <a:off x="502920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68" name="Text 59"/>
          <p:cNvSpPr/>
          <p:nvPr/>
        </p:nvSpPr>
        <p:spPr>
          <a:xfrm>
            <a:off x="640080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1100" dirty="0"/>
          </a:p>
        </p:txBody>
      </p:sp>
      <p:sp>
        <p:nvSpPr>
          <p:cNvPr id="69" name="Text 60"/>
          <p:cNvSpPr/>
          <p:nvPr/>
        </p:nvSpPr>
        <p:spPr>
          <a:xfrm>
            <a:off x="640080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+ sign-off</a:t>
            </a:r>
            <a:endParaRPr lang="en-US" sz="800" dirty="0"/>
          </a:p>
        </p:txBody>
      </p:sp>
      <p:sp>
        <p:nvSpPr>
          <p:cNvPr id="70" name="Text 61"/>
          <p:cNvSpPr/>
          <p:nvPr/>
        </p:nvSpPr>
        <p:spPr>
          <a:xfrm>
            <a:off x="777240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1100" dirty="0"/>
          </a:p>
        </p:txBody>
      </p:sp>
      <p:sp>
        <p:nvSpPr>
          <p:cNvPr id="71" name="Text 62"/>
          <p:cNvSpPr/>
          <p:nvPr/>
        </p:nvSpPr>
        <p:spPr>
          <a:xfrm>
            <a:off x="7772400" y="47914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Factory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testing architecture aligned to the test automation pyramid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384048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29260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CONTRACT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201168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46304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1752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17320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45336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/ Regression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77840" y="17099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Cypress, Playwright, Selenium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in: TEST, UAT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219456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2194560"/>
            <a:ext cx="64008" cy="65836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22576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778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/ API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57784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Assured, Postman/Newman, pytest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in: CI, TEST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0" y="297180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846320" y="2971800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099816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57784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/ Contract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577840" y="3264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Pact, Spring Cloud Contract, Testcontainers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in: CI, TEST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46320" y="374904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846320" y="37490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877056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7784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577840" y="4041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JUnit, Jest, pytest, Mockito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in: CI (every PR)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4480560"/>
            <a:ext cx="8321040" cy="50292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" y="4480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  SAST  ·  DAST  ·  SCA  ·  Container Scan  ·  SBOM  ·  Performance  ·  Chaos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Execution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tests run where — mapped across every pipeline stage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777240"/>
                <a:gridCol w="868680"/>
                <a:gridCol w="777240"/>
                <a:gridCol w="777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(hotfix)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(release)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DEV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UAT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 / Linting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(Full Suite)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Coverage Gate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Security Scan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Tests (Consumer)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Tests (Provider)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Tests (Mocked)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Tests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/ Helm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Smoke Tests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API Smoke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Tests (Live)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Suite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Security Scan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Sign-off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Transactions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/ Anomaly Monitor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Post-Deployment Smoke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smoke suite runs in every environment — containerized, parameterized by target URL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Endpoint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→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 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(DB, Cache, MQ)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10s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280160"/>
            <a:ext cx="260604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630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Check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794760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42900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/info matches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release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Helm chart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2900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5s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2801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12801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API #1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629400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SMOKE-03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26364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call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schema + latency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26364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30s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7200" y="31089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7200" y="310896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9184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01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API #2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60120" y="3493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SMOKE-04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9436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code 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status + body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9436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30s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91840" y="31089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91840" y="310896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9184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9476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Validation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794760" y="3493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SMOKE-05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342900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ERROR/FATAL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60 seconds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markers present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342900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60s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26480" y="3108960"/>
            <a:ext cx="2606040" cy="1600200"/>
          </a:xfrm>
          <a:prstGeom prst="rect">
            <a:avLst/>
          </a:prstGeom>
          <a:solidFill>
            <a:srgbClr val="14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126480" y="3108960"/>
            <a:ext cx="260604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9184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6294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Check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6629400" y="3493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SMOKE-06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26364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 returns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anomalous values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6263640" y="4343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≤ 10s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smoke tests are packaged as a container image. Exit 0 = pass, non-zero = rollback triggered. JUnit XML output for reporting.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Rollback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response model — automated by default, human-assisted when needed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1: AUTOMATIC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 post-deploy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crash / CrashLoopBackOff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smoke test 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spike &gt; 3x baseline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executes in &lt; 60 seconds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approval required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auto-created in ServiceNow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251960"/>
            <a:ext cx="2423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51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·  TEST  ·  UAT  ·  PROD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34440"/>
            <a:ext cx="269748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34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2: ASSISTED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 min post-deploy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2148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regression &gt; 15%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anomalies detected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service alerts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deviation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08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 paged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Pre-staged 1-click rollback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SLA: 5 minutes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4251960"/>
            <a:ext cx="2423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251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only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234440"/>
            <a:ext cx="269748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234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3: MANUAL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15819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post-deploy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2148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breach during stabilization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 received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anomalies persist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detected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01752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108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+ Engineering Lead decision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rollback via ServiceNow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scheduled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4251960"/>
            <a:ext cx="2423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251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Monitoring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Shift-right testing — production is the final and most important test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691640"/>
          </a:xfrm>
          <a:prstGeom prst="rect">
            <a:avLst/>
          </a:prstGeom>
          <a:solidFill>
            <a:srgbClr val="14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44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Metrics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(5xx) vs. pre-deploy baseline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latency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throughput and saturation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(CPU, memory, pods)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3977640" cy="1691640"/>
          </a:xfrm>
          <a:prstGeom prst="rect">
            <a:avLst/>
          </a:prstGeom>
          <a:solidFill>
            <a:srgbClr val="14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234440"/>
            <a:ext cx="54864" cy="1691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344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Intelligence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73736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 with correlation IDs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for new ERROR patterns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marker validation post-deploy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 ELK / Datadog Logs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3977640" cy="1691640"/>
          </a:xfrm>
          <a:prstGeom prst="rect">
            <a:avLst/>
          </a:prstGeom>
          <a:solidFill>
            <a:srgbClr val="14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118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tracing (Jaeger/Datadog)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dependency health visibility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breakdown per service hop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Auto-correlation with deployment events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108960"/>
            <a:ext cx="3977640" cy="1691640"/>
          </a:xfrm>
          <a:prstGeom prst="rect">
            <a:avLst/>
          </a:prstGeom>
          <a:solidFill>
            <a:srgbClr val="14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3108960"/>
            <a:ext cx="54864" cy="1691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Monitoring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6118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synthetic transactions in PROD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user journeys every 1–5 minutes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SLI/SLO compliance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analysis with auto-rollback trigger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Production insights → auto-generate test cases → enrich regression suite → prevent recurrence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Product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maturity criteria to select 3–5 pilot teams for initial rollout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Code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on every PR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in CI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≥ 40%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scanning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automated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Practices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399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61848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exist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in qTest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 ≥ 20% automated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defined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(if micro-svc)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Infra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40156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exist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environments active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/health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rollback experience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parity (TEST ≈ PROD)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34640"/>
            <a:ext cx="4114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Team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criteria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340156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/ dashboards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configured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champion on team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motivation to pilot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frequency ≥ 2/6mo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workflows active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6344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626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PILOT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36–44 / 44 pts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4663440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880360" y="4626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CANDIDATE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8036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28–35 / 44 pts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466344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4626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READY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18–27 / 44 pts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4663440"/>
            <a:ext cx="7315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4626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5236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 / 44 pts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07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8016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Assessment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1097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product teams against the 22-criterion checklist. Select 3–5 pilots representing diverse product types, criticality, and team maturity.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28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28016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Scaffolding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840480" y="2103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CI/CD pipeline templates (GitHub Actions workflows, Helm chart patterns, smoke test container). Configure ServiceNow integration for automated promotion.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186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5–8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28016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Implementation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84048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pilot teams. Implement smoke test suites, configure quality gates per environment, set up monitoring dashboards, and run first automated hotfix through the full pipeline.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23" name="Shape 18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2452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28016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&amp; Scale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840480" y="4114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on pilot results. Refine rollback thresholds, tune test suites, document patterns. Begin onboarding the next wave of product teams.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663440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First automated hotfix through the full pipeline within 8 weeks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Hotfix Pipeline - Test Factory Vision</dc:title>
  <dc:subject>PptxGenJS Presentation</dc:subject>
  <dc:creator>Quality Engineering</dc:creator>
  <cp:lastModifiedBy>Quality Engineering</cp:lastModifiedBy>
  <cp:revision>1</cp:revision>
  <dcterms:created xsi:type="dcterms:W3CDTF">2026-02-15T12:38:09Z</dcterms:created>
  <dcterms:modified xsi:type="dcterms:W3CDTF">2026-02-15T12:38:09Z</dcterms:modified>
</cp:coreProperties>
</file>