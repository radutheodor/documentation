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Strategy by Environment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types × execution strategy × environment — from local commit to production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 ↓ / Env →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19072" y="658368"/>
            <a:ext cx="1005840" cy="384048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7" name="Text 5"/>
          <p:cNvSpPr/>
          <p:nvPr/>
        </p:nvSpPr>
        <p:spPr>
          <a:xfrm>
            <a:off x="1719072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workstation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752344" y="658368"/>
            <a:ext cx="1005840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0" name="Text 8"/>
          <p:cNvSpPr/>
          <p:nvPr/>
        </p:nvSpPr>
        <p:spPr>
          <a:xfrm>
            <a:off x="2752344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52344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 (PR/Commit)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785616" y="658368"/>
            <a:ext cx="1005840" cy="384048"/>
          </a:xfrm>
          <a:prstGeom prst="rect">
            <a:avLst/>
          </a:prstGeom>
          <a:solidFill>
            <a:srgbClr val="A09070"/>
          </a:solidFill>
          <a:ln/>
        </p:spPr>
      </p:sp>
      <p:sp>
        <p:nvSpPr>
          <p:cNvPr id="13" name="Text 11"/>
          <p:cNvSpPr/>
          <p:nvPr/>
        </p:nvSpPr>
        <p:spPr>
          <a:xfrm>
            <a:off x="3785616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85616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/ disposable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818888" y="658368"/>
            <a:ext cx="1005840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18888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deployed env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852160" y="658368"/>
            <a:ext cx="100584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validation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885432" y="658368"/>
            <a:ext cx="1005840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2" name="Text 20"/>
          <p:cNvSpPr/>
          <p:nvPr/>
        </p:nvSpPr>
        <p:spPr>
          <a:xfrm>
            <a:off x="6885432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85432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validation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918704" y="658368"/>
            <a:ext cx="1005840" cy="38404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18704" y="685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18704" y="859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20040" y="1060704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1060704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107899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120700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+ linters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719072" y="106070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32" name="Text 30"/>
          <p:cNvSpPr/>
          <p:nvPr/>
        </p:nvSpPr>
        <p:spPr>
          <a:xfrm>
            <a:off x="1755648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56816" y="1078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752344" y="106070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88920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90088" y="107899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785616" y="106070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822192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18888" y="106070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52160" y="106070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88736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85432" y="106070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22008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18704" y="106070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0" y="107899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1362456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1362456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1380744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1480" y="150876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Jest, JUnit, pytest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1719072" y="1362456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52" name="Text 50"/>
          <p:cNvSpPr/>
          <p:nvPr/>
        </p:nvSpPr>
        <p:spPr>
          <a:xfrm>
            <a:off x="1755648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956816" y="13807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752344" y="1362456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55" name="Text 53"/>
          <p:cNvSpPr/>
          <p:nvPr/>
        </p:nvSpPr>
        <p:spPr>
          <a:xfrm>
            <a:off x="2788920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990088" y="138074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785616" y="136245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3822192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18888" y="136245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855464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52160" y="136245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888736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85432" y="136245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922008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18704" y="136245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7955280" y="138074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1664208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320040" y="1664208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9" name="Text 67"/>
          <p:cNvSpPr/>
          <p:nvPr/>
        </p:nvSpPr>
        <p:spPr>
          <a:xfrm>
            <a:off x="411480" y="168249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11480" y="181051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+ Schema + Msg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1719072" y="1664208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2" name="Text 70"/>
          <p:cNvSpPr/>
          <p:nvPr/>
        </p:nvSpPr>
        <p:spPr>
          <a:xfrm>
            <a:off x="1755648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752344" y="1664208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4" name="Text 72"/>
          <p:cNvSpPr/>
          <p:nvPr/>
        </p:nvSpPr>
        <p:spPr>
          <a:xfrm>
            <a:off x="2788920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990088" y="1682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785616" y="166420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3822192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818888" y="1664208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79" name="Text 77"/>
          <p:cNvSpPr/>
          <p:nvPr/>
        </p:nvSpPr>
        <p:spPr>
          <a:xfrm>
            <a:off x="4855464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056632" y="1682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852160" y="1664208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2" name="Text 80"/>
          <p:cNvSpPr/>
          <p:nvPr/>
        </p:nvSpPr>
        <p:spPr>
          <a:xfrm>
            <a:off x="5888736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089904" y="1682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6885432" y="1664208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5" name="Text 83"/>
          <p:cNvSpPr/>
          <p:nvPr/>
        </p:nvSpPr>
        <p:spPr>
          <a:xfrm>
            <a:off x="6922008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123176" y="1682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918704" y="1664208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88" name="Text 86"/>
          <p:cNvSpPr/>
          <p:nvPr/>
        </p:nvSpPr>
        <p:spPr>
          <a:xfrm>
            <a:off x="7955280" y="168249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156448" y="1682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320040" y="1965960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320040" y="1965960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2" name="Text 90"/>
          <p:cNvSpPr/>
          <p:nvPr/>
        </p:nvSpPr>
        <p:spPr>
          <a:xfrm>
            <a:off x="411480" y="1984248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11480" y="211226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Mocked dependencies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1719072" y="1965960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95" name="Text 93"/>
          <p:cNvSpPr/>
          <p:nvPr/>
        </p:nvSpPr>
        <p:spPr>
          <a:xfrm>
            <a:off x="1755648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2752344" y="1965960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97" name="Text 95"/>
          <p:cNvSpPr/>
          <p:nvPr/>
        </p:nvSpPr>
        <p:spPr>
          <a:xfrm>
            <a:off x="2788920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990088" y="19842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3785616" y="196596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3822192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818888" y="196596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4855464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852160" y="196596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5888736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885432" y="196596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6922008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918704" y="196596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7955280" y="198424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20040" y="2267712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20040" y="2267712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1" name="Text 109"/>
          <p:cNvSpPr/>
          <p:nvPr/>
        </p:nvSpPr>
        <p:spPr>
          <a:xfrm>
            <a:off x="411480" y="2286000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1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411480" y="241401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read-only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1719072" y="2267712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1755648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2752344" y="2267712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2788920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3785616" y="2267712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3822192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4818888" y="226771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0" name="Text 118"/>
          <p:cNvSpPr/>
          <p:nvPr/>
        </p:nvSpPr>
        <p:spPr>
          <a:xfrm>
            <a:off x="4855464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5056632" y="22860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5852160" y="226771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3" name="Text 121"/>
          <p:cNvSpPr/>
          <p:nvPr/>
        </p:nvSpPr>
        <p:spPr>
          <a:xfrm>
            <a:off x="5888736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6089904" y="22860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6885432" y="226771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6" name="Text 124"/>
          <p:cNvSpPr/>
          <p:nvPr/>
        </p:nvSpPr>
        <p:spPr>
          <a:xfrm>
            <a:off x="6922008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7123176" y="22860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7918704" y="226771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9" name="Text 127"/>
          <p:cNvSpPr/>
          <p:nvPr/>
        </p:nvSpPr>
        <p:spPr>
          <a:xfrm>
            <a:off x="7955280" y="228600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8156448" y="22860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320040" y="2569464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20040" y="2569464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3" name="Text 131"/>
          <p:cNvSpPr/>
          <p:nvPr/>
        </p:nvSpPr>
        <p:spPr>
          <a:xfrm>
            <a:off x="411480" y="258775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2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411480" y="271576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verify → cleanup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1719072" y="256946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34"/>
          <p:cNvSpPr/>
          <p:nvPr/>
        </p:nvSpPr>
        <p:spPr>
          <a:xfrm>
            <a:off x="1755648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2752344" y="256946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6"/>
          <p:cNvSpPr/>
          <p:nvPr/>
        </p:nvSpPr>
        <p:spPr>
          <a:xfrm>
            <a:off x="2788920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85616" y="256946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8"/>
          <p:cNvSpPr/>
          <p:nvPr/>
        </p:nvSpPr>
        <p:spPr>
          <a:xfrm>
            <a:off x="3822192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818888" y="256946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2" name="Text 140"/>
          <p:cNvSpPr/>
          <p:nvPr/>
        </p:nvSpPr>
        <p:spPr>
          <a:xfrm>
            <a:off x="4855464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5056632" y="2587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5852160" y="256946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5" name="Text 143"/>
          <p:cNvSpPr/>
          <p:nvPr/>
        </p:nvSpPr>
        <p:spPr>
          <a:xfrm>
            <a:off x="5888736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6089904" y="2587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6885432" y="256946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8" name="Text 146"/>
          <p:cNvSpPr/>
          <p:nvPr/>
        </p:nvSpPr>
        <p:spPr>
          <a:xfrm>
            <a:off x="6922008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7123176" y="2587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7918704" y="2569464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51" name="Text 149"/>
          <p:cNvSpPr/>
          <p:nvPr/>
        </p:nvSpPr>
        <p:spPr>
          <a:xfrm>
            <a:off x="7955280" y="258775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8156448" y="2587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320040" y="2871216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20040" y="2871216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5" name="Text 153"/>
          <p:cNvSpPr/>
          <p:nvPr/>
        </p:nvSpPr>
        <p:spPr>
          <a:xfrm>
            <a:off x="411480" y="2889504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3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411480" y="301752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→ Mongo → notify → BFF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1719072" y="287121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8" name="Text 156"/>
          <p:cNvSpPr/>
          <p:nvPr/>
        </p:nvSpPr>
        <p:spPr>
          <a:xfrm>
            <a:off x="1755648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2752344" y="287121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8"/>
          <p:cNvSpPr/>
          <p:nvPr/>
        </p:nvSpPr>
        <p:spPr>
          <a:xfrm>
            <a:off x="2788920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3785616" y="287121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60"/>
          <p:cNvSpPr/>
          <p:nvPr/>
        </p:nvSpPr>
        <p:spPr>
          <a:xfrm>
            <a:off x="3822192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4818888" y="2871216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64" name="Text 162"/>
          <p:cNvSpPr/>
          <p:nvPr/>
        </p:nvSpPr>
        <p:spPr>
          <a:xfrm>
            <a:off x="4855464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5056632" y="28895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5852160" y="2871216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67" name="Text 165"/>
          <p:cNvSpPr/>
          <p:nvPr/>
        </p:nvSpPr>
        <p:spPr>
          <a:xfrm>
            <a:off x="5888736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8" name="Text 166"/>
          <p:cNvSpPr/>
          <p:nvPr/>
        </p:nvSpPr>
        <p:spPr>
          <a:xfrm>
            <a:off x="6089904" y="28895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6885432" y="2871216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70" name="Text 168"/>
          <p:cNvSpPr/>
          <p:nvPr/>
        </p:nvSpPr>
        <p:spPr>
          <a:xfrm>
            <a:off x="6922008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7123176" y="28895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7918704" y="2871216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73" name="Text 171"/>
          <p:cNvSpPr/>
          <p:nvPr/>
        </p:nvSpPr>
        <p:spPr>
          <a:xfrm>
            <a:off x="7955280" y="288950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8156448" y="28895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320040" y="3172968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6" name="Shape 174"/>
          <p:cNvSpPr/>
          <p:nvPr/>
        </p:nvSpPr>
        <p:spPr>
          <a:xfrm>
            <a:off x="320040" y="3172968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7" name="Text 175"/>
          <p:cNvSpPr/>
          <p:nvPr/>
        </p:nvSpPr>
        <p:spPr>
          <a:xfrm>
            <a:off x="411480" y="319125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</a:t>
            </a:r>
            <a:endParaRPr lang="en-US" sz="800" dirty="0"/>
          </a:p>
        </p:txBody>
      </p:sp>
      <p:sp>
        <p:nvSpPr>
          <p:cNvPr id="178" name="Text 176"/>
          <p:cNvSpPr/>
          <p:nvPr/>
        </p:nvSpPr>
        <p:spPr>
          <a:xfrm>
            <a:off x="411480" y="331927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shared infra</a:t>
            </a:r>
            <a:endParaRPr lang="en-US" sz="600" dirty="0"/>
          </a:p>
        </p:txBody>
      </p:sp>
      <p:sp>
        <p:nvSpPr>
          <p:cNvPr id="179" name="Shape 177"/>
          <p:cNvSpPr/>
          <p:nvPr/>
        </p:nvSpPr>
        <p:spPr>
          <a:xfrm>
            <a:off x="1719072" y="317296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0" name="Text 178"/>
          <p:cNvSpPr/>
          <p:nvPr/>
        </p:nvSpPr>
        <p:spPr>
          <a:xfrm>
            <a:off x="1755648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81" name="Shape 179"/>
          <p:cNvSpPr/>
          <p:nvPr/>
        </p:nvSpPr>
        <p:spPr>
          <a:xfrm>
            <a:off x="2752344" y="317296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2" name="Text 180"/>
          <p:cNvSpPr/>
          <p:nvPr/>
        </p:nvSpPr>
        <p:spPr>
          <a:xfrm>
            <a:off x="2788920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3785616" y="317296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4" name="Text 182"/>
          <p:cNvSpPr/>
          <p:nvPr/>
        </p:nvSpPr>
        <p:spPr>
          <a:xfrm>
            <a:off x="3822192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4818888" y="3172968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86" name="Text 184"/>
          <p:cNvSpPr/>
          <p:nvPr/>
        </p:nvSpPr>
        <p:spPr>
          <a:xfrm>
            <a:off x="4855464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5056632" y="3191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manual/sched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5852160" y="3172968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89" name="Text 187"/>
          <p:cNvSpPr/>
          <p:nvPr/>
        </p:nvSpPr>
        <p:spPr>
          <a:xfrm>
            <a:off x="5888736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0" name="Text 188"/>
          <p:cNvSpPr/>
          <p:nvPr/>
        </p:nvSpPr>
        <p:spPr>
          <a:xfrm>
            <a:off x="6089904" y="3191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6885432" y="3172968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92" name="Text 190"/>
          <p:cNvSpPr/>
          <p:nvPr/>
        </p:nvSpPr>
        <p:spPr>
          <a:xfrm>
            <a:off x="6922008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93" name="Text 191"/>
          <p:cNvSpPr/>
          <p:nvPr/>
        </p:nvSpPr>
        <p:spPr>
          <a:xfrm>
            <a:off x="7123176" y="3191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subset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7918704" y="3172968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955280" y="319125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96" name="Text 194"/>
          <p:cNvSpPr/>
          <p:nvPr/>
        </p:nvSpPr>
        <p:spPr>
          <a:xfrm>
            <a:off x="8156448" y="31912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320040" y="3474720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8" name="Shape 196"/>
          <p:cNvSpPr/>
          <p:nvPr/>
        </p:nvSpPr>
        <p:spPr>
          <a:xfrm>
            <a:off x="320040" y="3474720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9" name="Text 197"/>
          <p:cNvSpPr/>
          <p:nvPr/>
        </p:nvSpPr>
        <p:spPr>
          <a:xfrm>
            <a:off x="411480" y="3493008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(E2E)</a:t>
            </a:r>
            <a:endParaRPr lang="en-US" sz="800" dirty="0"/>
          </a:p>
        </p:txBody>
      </p:sp>
      <p:sp>
        <p:nvSpPr>
          <p:cNvPr id="200" name="Text 198"/>
          <p:cNvSpPr/>
          <p:nvPr/>
        </p:nvSpPr>
        <p:spPr>
          <a:xfrm>
            <a:off x="411480" y="362102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 across apps</a:t>
            </a:r>
            <a:endParaRPr lang="en-US" sz="600" dirty="0"/>
          </a:p>
        </p:txBody>
      </p:sp>
      <p:sp>
        <p:nvSpPr>
          <p:cNvPr id="201" name="Shape 199"/>
          <p:cNvSpPr/>
          <p:nvPr/>
        </p:nvSpPr>
        <p:spPr>
          <a:xfrm>
            <a:off x="1719072" y="347472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2" name="Text 200"/>
          <p:cNvSpPr/>
          <p:nvPr/>
        </p:nvSpPr>
        <p:spPr>
          <a:xfrm>
            <a:off x="1755648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2752344" y="3474720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4" name="Text 202"/>
          <p:cNvSpPr/>
          <p:nvPr/>
        </p:nvSpPr>
        <p:spPr>
          <a:xfrm>
            <a:off x="2788920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05" name="Shape 203"/>
          <p:cNvSpPr/>
          <p:nvPr/>
        </p:nvSpPr>
        <p:spPr>
          <a:xfrm>
            <a:off x="3785616" y="3474720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06" name="Text 204"/>
          <p:cNvSpPr/>
          <p:nvPr/>
        </p:nvSpPr>
        <p:spPr>
          <a:xfrm>
            <a:off x="3822192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07" name="Text 205"/>
          <p:cNvSpPr/>
          <p:nvPr/>
        </p:nvSpPr>
        <p:spPr>
          <a:xfrm>
            <a:off x="4023360" y="3493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650" dirty="0"/>
          </a:p>
        </p:txBody>
      </p:sp>
      <p:sp>
        <p:nvSpPr>
          <p:cNvPr id="208" name="Shape 206"/>
          <p:cNvSpPr/>
          <p:nvPr/>
        </p:nvSpPr>
        <p:spPr>
          <a:xfrm>
            <a:off x="4818888" y="3474720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09" name="Text 207"/>
          <p:cNvSpPr/>
          <p:nvPr/>
        </p:nvSpPr>
        <p:spPr>
          <a:xfrm>
            <a:off x="4855464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0" name="Text 208"/>
          <p:cNvSpPr/>
          <p:nvPr/>
        </p:nvSpPr>
        <p:spPr>
          <a:xfrm>
            <a:off x="5056632" y="3493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manual/sched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5852160" y="3474720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12" name="Text 210"/>
          <p:cNvSpPr/>
          <p:nvPr/>
        </p:nvSpPr>
        <p:spPr>
          <a:xfrm>
            <a:off x="5888736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3" name="Text 211"/>
          <p:cNvSpPr/>
          <p:nvPr/>
        </p:nvSpPr>
        <p:spPr>
          <a:xfrm>
            <a:off x="6089904" y="3493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6885432" y="3474720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15" name="Text 213"/>
          <p:cNvSpPr/>
          <p:nvPr/>
        </p:nvSpPr>
        <p:spPr>
          <a:xfrm>
            <a:off x="6922008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16" name="Text 214"/>
          <p:cNvSpPr/>
          <p:nvPr/>
        </p:nvSpPr>
        <p:spPr>
          <a:xfrm>
            <a:off x="7123176" y="3493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read-mostly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7918704" y="3474720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18" name="Text 216"/>
          <p:cNvSpPr/>
          <p:nvPr/>
        </p:nvSpPr>
        <p:spPr>
          <a:xfrm>
            <a:off x="7955280" y="3493008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19" name="Text 217"/>
          <p:cNvSpPr/>
          <p:nvPr/>
        </p:nvSpPr>
        <p:spPr>
          <a:xfrm>
            <a:off x="8156448" y="34930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320040" y="3776472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1" name="Shape 219"/>
          <p:cNvSpPr/>
          <p:nvPr/>
        </p:nvSpPr>
        <p:spPr>
          <a:xfrm>
            <a:off x="320040" y="3776472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2" name="Text 220"/>
          <p:cNvSpPr/>
          <p:nvPr/>
        </p:nvSpPr>
        <p:spPr>
          <a:xfrm>
            <a:off x="411480" y="3794760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Tests</a:t>
            </a:r>
            <a:endParaRPr lang="en-US" sz="800" dirty="0"/>
          </a:p>
        </p:txBody>
      </p:sp>
      <p:sp>
        <p:nvSpPr>
          <p:cNvPr id="223" name="Text 221"/>
          <p:cNvSpPr/>
          <p:nvPr/>
        </p:nvSpPr>
        <p:spPr>
          <a:xfrm>
            <a:off x="411480" y="392277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stress, soak</a:t>
            </a:r>
            <a:endParaRPr lang="en-US" sz="600" dirty="0"/>
          </a:p>
        </p:txBody>
      </p:sp>
      <p:sp>
        <p:nvSpPr>
          <p:cNvPr id="224" name="Shape 222"/>
          <p:cNvSpPr/>
          <p:nvPr/>
        </p:nvSpPr>
        <p:spPr>
          <a:xfrm>
            <a:off x="1719072" y="3776472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5" name="Text 223"/>
          <p:cNvSpPr/>
          <p:nvPr/>
        </p:nvSpPr>
        <p:spPr>
          <a:xfrm>
            <a:off x="1755648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2752344" y="3776472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7" name="Text 225"/>
          <p:cNvSpPr/>
          <p:nvPr/>
        </p:nvSpPr>
        <p:spPr>
          <a:xfrm>
            <a:off x="2788920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3785616" y="3776472"/>
            <a:ext cx="1005840" cy="283464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29" name="Text 227"/>
          <p:cNvSpPr/>
          <p:nvPr/>
        </p:nvSpPr>
        <p:spPr>
          <a:xfrm>
            <a:off x="3822192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0" name="Text 228"/>
          <p:cNvSpPr/>
          <p:nvPr/>
        </p:nvSpPr>
        <p:spPr>
          <a:xfrm>
            <a:off x="4023360" y="3794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</a:t>
            </a:r>
            <a:endParaRPr lang="en-US" sz="650" dirty="0"/>
          </a:p>
        </p:txBody>
      </p:sp>
      <p:sp>
        <p:nvSpPr>
          <p:cNvPr id="231" name="Shape 229"/>
          <p:cNvSpPr/>
          <p:nvPr/>
        </p:nvSpPr>
        <p:spPr>
          <a:xfrm>
            <a:off x="4818888" y="377647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32" name="Text 230"/>
          <p:cNvSpPr/>
          <p:nvPr/>
        </p:nvSpPr>
        <p:spPr>
          <a:xfrm>
            <a:off x="4855464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3" name="Text 231"/>
          <p:cNvSpPr/>
          <p:nvPr/>
        </p:nvSpPr>
        <p:spPr>
          <a:xfrm>
            <a:off x="5056632" y="3794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650" dirty="0"/>
          </a:p>
        </p:txBody>
      </p:sp>
      <p:sp>
        <p:nvSpPr>
          <p:cNvPr id="234" name="Shape 232"/>
          <p:cNvSpPr/>
          <p:nvPr/>
        </p:nvSpPr>
        <p:spPr>
          <a:xfrm>
            <a:off x="5852160" y="3776472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35" name="Text 233"/>
          <p:cNvSpPr/>
          <p:nvPr/>
        </p:nvSpPr>
        <p:spPr>
          <a:xfrm>
            <a:off x="5888736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6" name="Text 234"/>
          <p:cNvSpPr/>
          <p:nvPr/>
        </p:nvSpPr>
        <p:spPr>
          <a:xfrm>
            <a:off x="6089904" y="3794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650" dirty="0"/>
          </a:p>
        </p:txBody>
      </p:sp>
      <p:sp>
        <p:nvSpPr>
          <p:cNvPr id="237" name="Shape 235"/>
          <p:cNvSpPr/>
          <p:nvPr/>
        </p:nvSpPr>
        <p:spPr>
          <a:xfrm>
            <a:off x="6885432" y="3776472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238" name="Text 236"/>
          <p:cNvSpPr/>
          <p:nvPr/>
        </p:nvSpPr>
        <p:spPr>
          <a:xfrm>
            <a:off x="6922008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39" name="Text 237"/>
          <p:cNvSpPr/>
          <p:nvPr/>
        </p:nvSpPr>
        <p:spPr>
          <a:xfrm>
            <a:off x="7123176" y="3794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7918704" y="3776472"/>
            <a:ext cx="1005840" cy="283464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241" name="Text 239"/>
          <p:cNvSpPr/>
          <p:nvPr/>
        </p:nvSpPr>
        <p:spPr>
          <a:xfrm>
            <a:off x="7955280" y="3794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42" name="Text 240"/>
          <p:cNvSpPr/>
          <p:nvPr/>
        </p:nvSpPr>
        <p:spPr>
          <a:xfrm>
            <a:off x="8156448" y="379476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320040" y="4078224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4" name="Shape 242"/>
          <p:cNvSpPr/>
          <p:nvPr/>
        </p:nvSpPr>
        <p:spPr>
          <a:xfrm>
            <a:off x="320040" y="4078224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5" name="Text 243"/>
          <p:cNvSpPr/>
          <p:nvPr/>
        </p:nvSpPr>
        <p:spPr>
          <a:xfrm>
            <a:off x="411480" y="4096512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SAST</a:t>
            </a:r>
            <a:endParaRPr lang="en-US" sz="800" dirty="0"/>
          </a:p>
        </p:txBody>
      </p:sp>
      <p:sp>
        <p:nvSpPr>
          <p:cNvPr id="246" name="Text 244"/>
          <p:cNvSpPr/>
          <p:nvPr/>
        </p:nvSpPr>
        <p:spPr>
          <a:xfrm>
            <a:off x="411480" y="422452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source code</a:t>
            </a:r>
            <a:endParaRPr lang="en-US" sz="600" dirty="0"/>
          </a:p>
        </p:txBody>
      </p:sp>
      <p:sp>
        <p:nvSpPr>
          <p:cNvPr id="247" name="Shape 245"/>
          <p:cNvSpPr/>
          <p:nvPr/>
        </p:nvSpPr>
        <p:spPr>
          <a:xfrm>
            <a:off x="1719072" y="407822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48" name="Text 246"/>
          <p:cNvSpPr/>
          <p:nvPr/>
        </p:nvSpPr>
        <p:spPr>
          <a:xfrm>
            <a:off x="1755648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9" name="Shape 247"/>
          <p:cNvSpPr/>
          <p:nvPr/>
        </p:nvSpPr>
        <p:spPr>
          <a:xfrm>
            <a:off x="2752344" y="4078224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50" name="Text 248"/>
          <p:cNvSpPr/>
          <p:nvPr/>
        </p:nvSpPr>
        <p:spPr>
          <a:xfrm>
            <a:off x="2788920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1" name="Text 249"/>
          <p:cNvSpPr/>
          <p:nvPr/>
        </p:nvSpPr>
        <p:spPr>
          <a:xfrm>
            <a:off x="2990088" y="409651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50" dirty="0"/>
          </a:p>
        </p:txBody>
      </p:sp>
      <p:sp>
        <p:nvSpPr>
          <p:cNvPr id="252" name="Shape 250"/>
          <p:cNvSpPr/>
          <p:nvPr/>
        </p:nvSpPr>
        <p:spPr>
          <a:xfrm>
            <a:off x="3785616" y="407822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3" name="Text 251"/>
          <p:cNvSpPr/>
          <p:nvPr/>
        </p:nvSpPr>
        <p:spPr>
          <a:xfrm>
            <a:off x="3822192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4818888" y="407822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5" name="Text 253"/>
          <p:cNvSpPr/>
          <p:nvPr/>
        </p:nvSpPr>
        <p:spPr>
          <a:xfrm>
            <a:off x="4855464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56" name="Shape 254"/>
          <p:cNvSpPr/>
          <p:nvPr/>
        </p:nvSpPr>
        <p:spPr>
          <a:xfrm>
            <a:off x="5852160" y="407822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Text 255"/>
          <p:cNvSpPr/>
          <p:nvPr/>
        </p:nvSpPr>
        <p:spPr>
          <a:xfrm>
            <a:off x="5888736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58" name="Shape 256"/>
          <p:cNvSpPr/>
          <p:nvPr/>
        </p:nvSpPr>
        <p:spPr>
          <a:xfrm>
            <a:off x="6885432" y="407822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9" name="Text 257"/>
          <p:cNvSpPr/>
          <p:nvPr/>
        </p:nvSpPr>
        <p:spPr>
          <a:xfrm>
            <a:off x="6922008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60" name="Shape 258"/>
          <p:cNvSpPr/>
          <p:nvPr/>
        </p:nvSpPr>
        <p:spPr>
          <a:xfrm>
            <a:off x="7918704" y="4078224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1" name="Text 259"/>
          <p:cNvSpPr/>
          <p:nvPr/>
        </p:nvSpPr>
        <p:spPr>
          <a:xfrm>
            <a:off x="7955280" y="4096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320040" y="4379976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3" name="Shape 261"/>
          <p:cNvSpPr/>
          <p:nvPr/>
        </p:nvSpPr>
        <p:spPr>
          <a:xfrm>
            <a:off x="320040" y="4379976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4" name="Text 262"/>
          <p:cNvSpPr/>
          <p:nvPr/>
        </p:nvSpPr>
        <p:spPr>
          <a:xfrm>
            <a:off x="411480" y="4398264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DAST</a:t>
            </a:r>
            <a:endParaRPr lang="en-US" sz="800" dirty="0"/>
          </a:p>
        </p:txBody>
      </p:sp>
      <p:sp>
        <p:nvSpPr>
          <p:cNvPr id="265" name="Text 263"/>
          <p:cNvSpPr/>
          <p:nvPr/>
        </p:nvSpPr>
        <p:spPr>
          <a:xfrm>
            <a:off x="411480" y="452628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running env</a:t>
            </a:r>
            <a:endParaRPr lang="en-US" sz="600" dirty="0"/>
          </a:p>
        </p:txBody>
      </p:sp>
      <p:sp>
        <p:nvSpPr>
          <p:cNvPr id="266" name="Shape 264"/>
          <p:cNvSpPr/>
          <p:nvPr/>
        </p:nvSpPr>
        <p:spPr>
          <a:xfrm>
            <a:off x="1719072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7" name="Text 265"/>
          <p:cNvSpPr/>
          <p:nvPr/>
        </p:nvSpPr>
        <p:spPr>
          <a:xfrm>
            <a:off x="1755648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68" name="Shape 266"/>
          <p:cNvSpPr/>
          <p:nvPr/>
        </p:nvSpPr>
        <p:spPr>
          <a:xfrm>
            <a:off x="2752344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9" name="Text 267"/>
          <p:cNvSpPr/>
          <p:nvPr/>
        </p:nvSpPr>
        <p:spPr>
          <a:xfrm>
            <a:off x="2788920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70" name="Shape 268"/>
          <p:cNvSpPr/>
          <p:nvPr/>
        </p:nvSpPr>
        <p:spPr>
          <a:xfrm>
            <a:off x="3785616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1" name="Text 269"/>
          <p:cNvSpPr/>
          <p:nvPr/>
        </p:nvSpPr>
        <p:spPr>
          <a:xfrm>
            <a:off x="3822192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72" name="Shape 270"/>
          <p:cNvSpPr/>
          <p:nvPr/>
        </p:nvSpPr>
        <p:spPr>
          <a:xfrm>
            <a:off x="4818888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3" name="Text 271"/>
          <p:cNvSpPr/>
          <p:nvPr/>
        </p:nvSpPr>
        <p:spPr>
          <a:xfrm>
            <a:off x="4855464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74" name="Shape 272"/>
          <p:cNvSpPr/>
          <p:nvPr/>
        </p:nvSpPr>
        <p:spPr>
          <a:xfrm>
            <a:off x="5852160" y="4379976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75" name="Text 273"/>
          <p:cNvSpPr/>
          <p:nvPr/>
        </p:nvSpPr>
        <p:spPr>
          <a:xfrm>
            <a:off x="5888736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6" name="Text 274"/>
          <p:cNvSpPr/>
          <p:nvPr/>
        </p:nvSpPr>
        <p:spPr>
          <a:xfrm>
            <a:off x="6089904" y="439826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6885432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8" name="Text 276"/>
          <p:cNvSpPr/>
          <p:nvPr/>
        </p:nvSpPr>
        <p:spPr>
          <a:xfrm>
            <a:off x="6922008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7918704" y="4379976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0" name="Text 278"/>
          <p:cNvSpPr/>
          <p:nvPr/>
        </p:nvSpPr>
        <p:spPr>
          <a:xfrm>
            <a:off x="7955280" y="4398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320040" y="4681728"/>
            <a:ext cx="137160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2" name="Shape 280"/>
          <p:cNvSpPr/>
          <p:nvPr/>
        </p:nvSpPr>
        <p:spPr>
          <a:xfrm>
            <a:off x="320040" y="4681728"/>
            <a:ext cx="45720" cy="2834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83" name="Text 281"/>
          <p:cNvSpPr/>
          <p:nvPr/>
        </p:nvSpPr>
        <p:spPr>
          <a:xfrm>
            <a:off x="411480" y="470001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Monitoring</a:t>
            </a:r>
            <a:endParaRPr lang="en-US" sz="800" dirty="0"/>
          </a:p>
        </p:txBody>
      </p:sp>
      <p:sp>
        <p:nvSpPr>
          <p:cNvPr id="284" name="Text 282"/>
          <p:cNvSpPr/>
          <p:nvPr/>
        </p:nvSpPr>
        <p:spPr>
          <a:xfrm>
            <a:off x="411480" y="482803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read-only</a:t>
            </a:r>
            <a:endParaRPr lang="en-US" sz="600" dirty="0"/>
          </a:p>
        </p:txBody>
      </p:sp>
      <p:sp>
        <p:nvSpPr>
          <p:cNvPr id="285" name="Shape 283"/>
          <p:cNvSpPr/>
          <p:nvPr/>
        </p:nvSpPr>
        <p:spPr>
          <a:xfrm>
            <a:off x="1719072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6" name="Text 284"/>
          <p:cNvSpPr/>
          <p:nvPr/>
        </p:nvSpPr>
        <p:spPr>
          <a:xfrm>
            <a:off x="1755648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2752344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8" name="Text 286"/>
          <p:cNvSpPr/>
          <p:nvPr/>
        </p:nvSpPr>
        <p:spPr>
          <a:xfrm>
            <a:off x="2788920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89" name="Shape 287"/>
          <p:cNvSpPr/>
          <p:nvPr/>
        </p:nvSpPr>
        <p:spPr>
          <a:xfrm>
            <a:off x="3785616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0" name="Text 288"/>
          <p:cNvSpPr/>
          <p:nvPr/>
        </p:nvSpPr>
        <p:spPr>
          <a:xfrm>
            <a:off x="3822192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4818888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2" name="Text 290"/>
          <p:cNvSpPr/>
          <p:nvPr/>
        </p:nvSpPr>
        <p:spPr>
          <a:xfrm>
            <a:off x="4855464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3" name="Shape 291"/>
          <p:cNvSpPr/>
          <p:nvPr/>
        </p:nvSpPr>
        <p:spPr>
          <a:xfrm>
            <a:off x="5852160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4" name="Text 292"/>
          <p:cNvSpPr/>
          <p:nvPr/>
        </p:nvSpPr>
        <p:spPr>
          <a:xfrm>
            <a:off x="5888736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5" name="Shape 293"/>
          <p:cNvSpPr/>
          <p:nvPr/>
        </p:nvSpPr>
        <p:spPr>
          <a:xfrm>
            <a:off x="6885432" y="4681728"/>
            <a:ext cx="10058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6" name="Text 294"/>
          <p:cNvSpPr/>
          <p:nvPr/>
        </p:nvSpPr>
        <p:spPr>
          <a:xfrm>
            <a:off x="6922008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7918704" y="4681728"/>
            <a:ext cx="1005840" cy="283464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298" name="Text 296"/>
          <p:cNvSpPr/>
          <p:nvPr/>
        </p:nvSpPr>
        <p:spPr>
          <a:xfrm>
            <a:off x="7955280" y="4700016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9" name="Text 297"/>
          <p:cNvSpPr/>
          <p:nvPr/>
        </p:nvSpPr>
        <p:spPr>
          <a:xfrm>
            <a:off x="8156448" y="47000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650" dirty="0"/>
          </a:p>
        </p:txBody>
      </p:sp>
      <p:sp>
        <p:nvSpPr>
          <p:cNvPr id="300" name="Text 298"/>
          <p:cNvSpPr/>
          <p:nvPr/>
        </p:nvSpPr>
        <p:spPr>
          <a:xfrm>
            <a:off x="365760" y="4892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1" name="Text 299"/>
          <p:cNvSpPr/>
          <p:nvPr/>
        </p:nvSpPr>
        <p:spPr>
          <a:xfrm>
            <a:off x="54864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/ required</a:t>
            </a:r>
            <a:endParaRPr lang="en-US" sz="750" dirty="0"/>
          </a:p>
        </p:txBody>
      </p:sp>
      <p:sp>
        <p:nvSpPr>
          <p:cNvPr id="302" name="Text 300"/>
          <p:cNvSpPr/>
          <p:nvPr/>
        </p:nvSpPr>
        <p:spPr>
          <a:xfrm>
            <a:off x="2468880" y="4892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000" dirty="0"/>
          </a:p>
        </p:txBody>
      </p:sp>
      <p:sp>
        <p:nvSpPr>
          <p:cNvPr id="303" name="Text 301"/>
          <p:cNvSpPr/>
          <p:nvPr/>
        </p:nvSpPr>
        <p:spPr>
          <a:xfrm>
            <a:off x="265176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/ subset</a:t>
            </a:r>
            <a:endParaRPr lang="en-US" sz="750" dirty="0"/>
          </a:p>
        </p:txBody>
      </p:sp>
      <p:sp>
        <p:nvSpPr>
          <p:cNvPr id="304" name="Text 302"/>
          <p:cNvSpPr/>
          <p:nvPr/>
        </p:nvSpPr>
        <p:spPr>
          <a:xfrm>
            <a:off x="4572000" y="4892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00" dirty="0"/>
          </a:p>
        </p:txBody>
      </p:sp>
      <p:sp>
        <p:nvSpPr>
          <p:cNvPr id="305" name="Text 303"/>
          <p:cNvSpPr/>
          <p:nvPr/>
        </p:nvSpPr>
        <p:spPr>
          <a:xfrm>
            <a:off x="475488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(safety guard)</a:t>
            </a:r>
            <a:endParaRPr lang="en-US" sz="750" dirty="0"/>
          </a:p>
        </p:txBody>
      </p:sp>
      <p:sp>
        <p:nvSpPr>
          <p:cNvPr id="306" name="Text 304"/>
          <p:cNvSpPr/>
          <p:nvPr/>
        </p:nvSpPr>
        <p:spPr>
          <a:xfrm>
            <a:off x="6675120" y="4892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07" name="Text 305"/>
          <p:cNvSpPr/>
          <p:nvPr/>
        </p:nvSpPr>
        <p:spPr>
          <a:xfrm>
            <a:off x="685800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applicable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Environment — Ideal Usage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shared, deployed environment — the integration point where mocks become real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949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C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plays three roles: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 First deployed runtime    ②  Multi-team integration point    ③  Engineering playground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743200" cy="2743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IN DEV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517904"/>
            <a:ext cx="365760" cy="14630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5179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59536" y="149961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Tier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9536" y="160934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read-only (post-deploy)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8912" y="1810512"/>
            <a:ext cx="365760" cy="14630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81051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9536" y="179222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Tier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9536" y="190195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verify → cleanup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38912" y="2103120"/>
            <a:ext cx="365760" cy="14630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1031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9536" y="208483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Tier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9536" y="219456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→ Mongo → notify → BFF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38912" y="2395728"/>
            <a:ext cx="365760" cy="14630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3957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59536" y="237744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" y="248716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Write-path + Read-path tests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38912" y="2688336"/>
            <a:ext cx="365760" cy="14630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2688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59536" y="267004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9536" y="277977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 journeys (manual/sched)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38912" y="2980944"/>
            <a:ext cx="365760" cy="14630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29809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9536" y="296265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9536" y="307238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load before TEST schedule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38912" y="3273552"/>
            <a:ext cx="365760" cy="146304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2735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9536" y="325526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Exploratory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9536" y="33649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Developer-driven validation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200400" y="1170432"/>
            <a:ext cx="2743200" cy="2743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1444752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73552" y="1536192"/>
            <a:ext cx="8686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3273552" y="153619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273552" y="1700784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Programmatically generated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73552" y="18288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version-controlled. Seeded at provisioning. Covers happy paths + known edge cases.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273552" y="2066544"/>
            <a:ext cx="868680" cy="12801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46" name="Text 44"/>
          <p:cNvSpPr/>
          <p:nvPr/>
        </p:nvSpPr>
        <p:spPr>
          <a:xfrm>
            <a:off x="3273552" y="206654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PROD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273552" y="2231136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PII-anonymised subset of PROD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73552" y="235915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Refreshed regularly. Realistic shapes, volumes, edge cases that synthetic won't catch.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273552" y="2596896"/>
            <a:ext cx="868680" cy="12801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259689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273552" y="2761488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factories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73552" y="288950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test creates what it needs with _test_ prefix. Easy to identify + clean up.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273552" y="3127248"/>
            <a:ext cx="868680" cy="128016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3273552" y="312724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NOT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273552" y="3291840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DEV must never contain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73552" y="34198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PROD data (PII, payment, real users). PROD credentials, real third-party tokens.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035040" y="1170432"/>
            <a:ext cx="2743200" cy="2743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58" name="Text 56"/>
          <p:cNvSpPr/>
          <p:nvPr/>
        </p:nvSpPr>
        <p:spPr>
          <a:xfrm>
            <a:off x="603504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35040" y="1444752"/>
            <a:ext cx="274320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126480" y="1536192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integrations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26480" y="1655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test endpoints (Stripe test, mocked email/SMS). No real third-party calls.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126480" y="1847088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0" y="1965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place flags become real. Default OFF; toggle per service for testing.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126480" y="2157984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level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26480" y="22768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(verbose) — engineers need full visibility for debugging.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126480" y="246888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26480" y="2587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Relaxed vs PROD. Don't fight resource constraints while debugging.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126480" y="277977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policies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26480" y="2898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as PROD. Egress permissive for engineer tooling.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126480" y="3090672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126480" y="3209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Vault-managed, DEV-scoped only. Never share creds with TEST/UAT/PROD.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65760" y="3703320"/>
            <a:ext cx="4160520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7033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MAKES DEV WORK WELL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3931920"/>
            <a:ext cx="4160520" cy="4572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39776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 feedback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(deploy + smoke &lt; 2 min)   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Resettable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(one-command wipe &amp; re-seed)
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Observable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stack as PROD)   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Cheap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(right-sized, not over-provisioned)
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Honest about scale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 TEST for realistic scale, DEV for correctness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17720" y="3703320"/>
            <a:ext cx="4160520" cy="228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7" name="Text 75"/>
          <p:cNvSpPr/>
          <p:nvPr/>
        </p:nvSpPr>
        <p:spPr>
          <a:xfrm>
            <a:off x="4617720" y="37033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ANTI-PATTERNS TO AVOID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17720" y="3931920"/>
            <a:ext cx="4160520" cy="45720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79" name="Text 77"/>
          <p:cNvSpPr/>
          <p:nvPr/>
        </p:nvSpPr>
        <p:spPr>
          <a:xfrm>
            <a:off x="4709160" y="39776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DEV as a parking lot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auto-expire stale services
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Engineers testing against TEST/UAT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fix DEV, don't tolerate workaround
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 data leaking in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tooling for masked refreshes + clear policy
</a:t>
            </a:r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Brittle test data assumptions </a:t>
            </a:r>
            <a:pPr indent="0" marL="0">
              <a:buNone/>
            </a:pPr>
            <a:r>
              <a:rPr lang="en-US" sz="750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each test creates its own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Strategy by Environment</dc:title>
  <dc:subject>PptxGenJS Presentation</dc:subject>
  <dc:creator>Quality Engineering</dc:creator>
  <cp:lastModifiedBy>Quality Engineering</cp:lastModifiedBy>
  <cp:revision>1</cp:revision>
  <dcterms:created xsi:type="dcterms:W3CDTF">2026-06-05T08:37:54Z</dcterms:created>
  <dcterms:modified xsi:type="dcterms:W3CDTF">2026-06-05T08:37:54Z</dcterms:modified>
</cp:coreProperties>
</file>