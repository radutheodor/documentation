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Dashboard Tools — Comparison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commercial test/DevOps/observability tools compare with a custom-built consolidated QA dashboard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60020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85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↓ / Tool →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97380" y="685800"/>
            <a:ext cx="1115568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7" name="Text 5"/>
          <p:cNvSpPr/>
          <p:nvPr/>
        </p:nvSpPr>
        <p:spPr>
          <a:xfrm>
            <a:off x="1897380" y="7223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DCV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97380" y="9052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/ ITSM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035808" y="685800"/>
            <a:ext cx="1115568" cy="38404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0" name="Text 8"/>
          <p:cNvSpPr/>
          <p:nvPr/>
        </p:nvSpPr>
        <p:spPr>
          <a:xfrm>
            <a:off x="3035808" y="7223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35808" y="9052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Plans + Analytics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74236" y="685800"/>
            <a:ext cx="1115568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174236" y="7223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Tricentis qTest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74236" y="9052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12664" y="685800"/>
            <a:ext cx="1115568" cy="3840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5312664" y="7223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XRay for Jira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12664" y="9052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Jira-embedded TM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51092" y="685800"/>
            <a:ext cx="1115568" cy="384048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9" name="Text 17"/>
          <p:cNvSpPr/>
          <p:nvPr/>
        </p:nvSpPr>
        <p:spPr>
          <a:xfrm>
            <a:off x="6451092" y="7223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(+ LGTM)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51092" y="9052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viz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589520" y="685800"/>
            <a:ext cx="1115568" cy="38404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7223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Dashboard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9052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built-in (★)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1097280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1097280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1247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Management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129844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Cases, plans, traceability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897380" y="1097280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29" name="Text 27"/>
          <p:cNvSpPr/>
          <p:nvPr/>
        </p:nvSpPr>
        <p:spPr>
          <a:xfrm>
            <a:off x="1933956" y="11155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89988" y="11155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integration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035808" y="1097280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32" name="Text 30"/>
          <p:cNvSpPr/>
          <p:nvPr/>
        </p:nvSpPr>
        <p:spPr>
          <a:xfrm>
            <a:off x="3072384" y="11155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28416" y="11155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174236" y="1097280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35" name="Text 33"/>
          <p:cNvSpPr/>
          <p:nvPr/>
        </p:nvSpPr>
        <p:spPr>
          <a:xfrm>
            <a:off x="4210812" y="11155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66844" y="11155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312664" y="1097280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38" name="Text 36"/>
          <p:cNvSpPr/>
          <p:nvPr/>
        </p:nvSpPr>
        <p:spPr>
          <a:xfrm>
            <a:off x="5349240" y="11155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05272" y="11155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451092" y="1097280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41" name="Text 39"/>
          <p:cNvSpPr/>
          <p:nvPr/>
        </p:nvSpPr>
        <p:spPr>
          <a:xfrm>
            <a:off x="6487668" y="11155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89520" y="1097280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43" name="Text 41"/>
          <p:cNvSpPr/>
          <p:nvPr/>
        </p:nvSpPr>
        <p:spPr>
          <a:xfrm>
            <a:off x="7626096" y="11155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82128" y="111556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qTest API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74320" y="1481328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1481328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150876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168249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+ collect results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897380" y="1481328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50" name="Text 48"/>
          <p:cNvSpPr/>
          <p:nvPr/>
        </p:nvSpPr>
        <p:spPr>
          <a:xfrm>
            <a:off x="1933956" y="1499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189988" y="1499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results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035808" y="1481328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53" name="Text 51"/>
          <p:cNvSpPr/>
          <p:nvPr/>
        </p:nvSpPr>
        <p:spPr>
          <a:xfrm>
            <a:off x="3072384" y="1499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328416" y="1499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174236" y="1481328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56" name="Text 54"/>
          <p:cNvSpPr/>
          <p:nvPr/>
        </p:nvSpPr>
        <p:spPr>
          <a:xfrm>
            <a:off x="4210812" y="1499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466844" y="1499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+ orchestration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312664" y="1481328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59" name="Text 57"/>
          <p:cNvSpPr/>
          <p:nvPr/>
        </p:nvSpPr>
        <p:spPr>
          <a:xfrm>
            <a:off x="5349240" y="1499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05272" y="1499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CI plugins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451092" y="1481328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62" name="Text 60"/>
          <p:cNvSpPr/>
          <p:nvPr/>
        </p:nvSpPr>
        <p:spPr>
          <a:xfrm>
            <a:off x="6487668" y="1499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743700" y="1499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plugins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7589520" y="1481328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65" name="Text 63"/>
          <p:cNvSpPr/>
          <p:nvPr/>
        </p:nvSpPr>
        <p:spPr>
          <a:xfrm>
            <a:off x="7626096" y="1499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882128" y="1499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qTest API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74320" y="1865376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274320" y="1865376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189280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5760" y="206654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hooks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897380" y="186537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72" name="Text 70"/>
          <p:cNvSpPr/>
          <p:nvPr/>
        </p:nvSpPr>
        <p:spPr>
          <a:xfrm>
            <a:off x="1933956" y="18836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2189988" y="18836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ADO, Jenkins, GitHub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035808" y="186537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75" name="Text 73"/>
          <p:cNvSpPr/>
          <p:nvPr/>
        </p:nvSpPr>
        <p:spPr>
          <a:xfrm>
            <a:off x="3072384" y="18836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328416" y="18836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4174236" y="186537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78" name="Text 76"/>
          <p:cNvSpPr/>
          <p:nvPr/>
        </p:nvSpPr>
        <p:spPr>
          <a:xfrm>
            <a:off x="4210812" y="18836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466844" y="18836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ADO, Jenkins, GitLab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5312664" y="186537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81" name="Text 79"/>
          <p:cNvSpPr/>
          <p:nvPr/>
        </p:nvSpPr>
        <p:spPr>
          <a:xfrm>
            <a:off x="5349240" y="18836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5605272" y="18836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Jenkins, ADO, Bamboo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6451092" y="186537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84" name="Text 82"/>
          <p:cNvSpPr/>
          <p:nvPr/>
        </p:nvSpPr>
        <p:spPr>
          <a:xfrm>
            <a:off x="6487668" y="18836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743700" y="18836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plugins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589520" y="186537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87" name="Text 85"/>
          <p:cNvSpPr/>
          <p:nvPr/>
        </p:nvSpPr>
        <p:spPr>
          <a:xfrm>
            <a:off x="7626096" y="18836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882128" y="188366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ADO API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274320" y="2249424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274320" y="2249424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1" name="Text 89"/>
          <p:cNvSpPr/>
          <p:nvPr/>
        </p:nvSpPr>
        <p:spPr>
          <a:xfrm>
            <a:off x="365760" y="22768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/ Change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65760" y="245059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requests, releases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897380" y="2249424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94" name="Text 92"/>
          <p:cNvSpPr/>
          <p:nvPr/>
        </p:nvSpPr>
        <p:spPr>
          <a:xfrm>
            <a:off x="1933956" y="226771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2189988" y="226771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3035808" y="2249424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97" name="Text 95"/>
          <p:cNvSpPr/>
          <p:nvPr/>
        </p:nvSpPr>
        <p:spPr>
          <a:xfrm>
            <a:off x="3072384" y="226771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3328416" y="226771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pipelines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4174236" y="2249424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00" name="Text 98"/>
          <p:cNvSpPr/>
          <p:nvPr/>
        </p:nvSpPr>
        <p:spPr>
          <a:xfrm>
            <a:off x="4210812" y="226771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312664" y="2249424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02" name="Text 100"/>
          <p:cNvSpPr/>
          <p:nvPr/>
        </p:nvSpPr>
        <p:spPr>
          <a:xfrm>
            <a:off x="5349240" y="226771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6451092" y="2249424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04" name="Text 102"/>
          <p:cNvSpPr/>
          <p:nvPr/>
        </p:nvSpPr>
        <p:spPr>
          <a:xfrm>
            <a:off x="6487668" y="226771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743700" y="226771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plugins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7589520" y="2249424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07" name="Text 105"/>
          <p:cNvSpPr/>
          <p:nvPr/>
        </p:nvSpPr>
        <p:spPr>
          <a:xfrm>
            <a:off x="7626096" y="226771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7882128" y="226771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ServiceNow API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274320" y="2633472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74320" y="2633472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1" name="Text 109"/>
          <p:cNvSpPr/>
          <p:nvPr/>
        </p:nvSpPr>
        <p:spPr>
          <a:xfrm>
            <a:off x="365760" y="266090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Telemetry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365760" y="283464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logs, incidents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1897380" y="2633472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14" name="Text 112"/>
          <p:cNvSpPr/>
          <p:nvPr/>
        </p:nvSpPr>
        <p:spPr>
          <a:xfrm>
            <a:off x="1933956" y="26517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3035808" y="2633472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16" name="Text 114"/>
          <p:cNvSpPr/>
          <p:nvPr/>
        </p:nvSpPr>
        <p:spPr>
          <a:xfrm>
            <a:off x="3072384" y="26517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174236" y="2633472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18" name="Text 116"/>
          <p:cNvSpPr/>
          <p:nvPr/>
        </p:nvSpPr>
        <p:spPr>
          <a:xfrm>
            <a:off x="4210812" y="26517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5312664" y="2633472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20" name="Text 118"/>
          <p:cNvSpPr/>
          <p:nvPr/>
        </p:nvSpPr>
        <p:spPr>
          <a:xfrm>
            <a:off x="5349240" y="26517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6451092" y="2633472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22" name="Text 120"/>
          <p:cNvSpPr/>
          <p:nvPr/>
        </p:nvSpPr>
        <p:spPr>
          <a:xfrm>
            <a:off x="6487668" y="26517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6743700" y="26517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Loki/Mimir/Tempo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589520" y="2633472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25" name="Text 123"/>
          <p:cNvSpPr/>
          <p:nvPr/>
        </p:nvSpPr>
        <p:spPr>
          <a:xfrm>
            <a:off x="7626096" y="265176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7882128" y="26517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Prom/Datadog API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274320" y="3017520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74320" y="3017520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9" name="Text 127"/>
          <p:cNvSpPr/>
          <p:nvPr/>
        </p:nvSpPr>
        <p:spPr>
          <a:xfrm>
            <a:off x="365760" y="30449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Cross-Tool Dashboards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365760" y="321868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multi-source view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1897380" y="3017520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32" name="Text 130"/>
          <p:cNvSpPr/>
          <p:nvPr/>
        </p:nvSpPr>
        <p:spPr>
          <a:xfrm>
            <a:off x="1933956" y="30358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2189988" y="30358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Insights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3035808" y="3017520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35" name="Text 133"/>
          <p:cNvSpPr/>
          <p:nvPr/>
        </p:nvSpPr>
        <p:spPr>
          <a:xfrm>
            <a:off x="3072384" y="30358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3328416" y="30358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ADO-only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4174236" y="3017520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38" name="Text 136"/>
          <p:cNvSpPr/>
          <p:nvPr/>
        </p:nvSpPr>
        <p:spPr>
          <a:xfrm>
            <a:off x="4210812" y="30358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4466844" y="30358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test-focused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5312664" y="3017520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41" name="Text 139"/>
          <p:cNvSpPr/>
          <p:nvPr/>
        </p:nvSpPr>
        <p:spPr>
          <a:xfrm>
            <a:off x="5349240" y="30358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42" name="Text 140"/>
          <p:cNvSpPr/>
          <p:nvPr/>
        </p:nvSpPr>
        <p:spPr>
          <a:xfrm>
            <a:off x="5605272" y="30358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Jira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6451092" y="3017520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87668" y="30358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5" name="Text 143"/>
          <p:cNvSpPr/>
          <p:nvPr/>
        </p:nvSpPr>
        <p:spPr>
          <a:xfrm>
            <a:off x="6743700" y="30358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dashboards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7589520" y="3017520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47" name="Text 145"/>
          <p:cNvSpPr/>
          <p:nvPr/>
        </p:nvSpPr>
        <p:spPr>
          <a:xfrm>
            <a:off x="7626096" y="303580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8" name="Text 146"/>
          <p:cNvSpPr/>
          <p:nvPr/>
        </p:nvSpPr>
        <p:spPr>
          <a:xfrm>
            <a:off x="7882128" y="303580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274320" y="3401568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0" name="Shape 148"/>
          <p:cNvSpPr/>
          <p:nvPr/>
        </p:nvSpPr>
        <p:spPr>
          <a:xfrm>
            <a:off x="274320" y="3401568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1" name="Text 149"/>
          <p:cNvSpPr/>
          <p:nvPr/>
        </p:nvSpPr>
        <p:spPr>
          <a:xfrm>
            <a:off x="365760" y="342900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365760" y="360273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Org-specific scoring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1897380" y="3401568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54" name="Text 152"/>
          <p:cNvSpPr/>
          <p:nvPr/>
        </p:nvSpPr>
        <p:spPr>
          <a:xfrm>
            <a:off x="1933956" y="34198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55" name="Shape 153"/>
          <p:cNvSpPr/>
          <p:nvPr/>
        </p:nvSpPr>
        <p:spPr>
          <a:xfrm>
            <a:off x="3035808" y="3401568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56" name="Text 154"/>
          <p:cNvSpPr/>
          <p:nvPr/>
        </p:nvSpPr>
        <p:spPr>
          <a:xfrm>
            <a:off x="3072384" y="34198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4174236" y="3401568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58" name="Text 156"/>
          <p:cNvSpPr/>
          <p:nvPr/>
        </p:nvSpPr>
        <p:spPr>
          <a:xfrm>
            <a:off x="4210812" y="34198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5312664" y="3401568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60" name="Text 158"/>
          <p:cNvSpPr/>
          <p:nvPr/>
        </p:nvSpPr>
        <p:spPr>
          <a:xfrm>
            <a:off x="5349240" y="34198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61" name="Shape 159"/>
          <p:cNvSpPr/>
          <p:nvPr/>
        </p:nvSpPr>
        <p:spPr>
          <a:xfrm>
            <a:off x="6451092" y="3401568"/>
            <a:ext cx="1115568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87668" y="34198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7589520" y="3401568"/>
            <a:ext cx="1115568" cy="365760"/>
          </a:xfrm>
          <a:prstGeom prst="rect">
            <a:avLst/>
          </a:prstGeom>
          <a:solidFill>
            <a:srgbClr val="FFF5DC"/>
          </a:solidFill>
          <a:ln/>
        </p:spPr>
      </p:sp>
      <p:sp>
        <p:nvSpPr>
          <p:cNvPr id="164" name="Text 162"/>
          <p:cNvSpPr/>
          <p:nvPr/>
        </p:nvSpPr>
        <p:spPr>
          <a:xfrm>
            <a:off x="7626096" y="34198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165" name="Text 163"/>
          <p:cNvSpPr/>
          <p:nvPr/>
        </p:nvSpPr>
        <p:spPr>
          <a:xfrm>
            <a:off x="7882128" y="341985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native, configurable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274320" y="3785616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7" name="Shape 165"/>
          <p:cNvSpPr/>
          <p:nvPr/>
        </p:nvSpPr>
        <p:spPr>
          <a:xfrm>
            <a:off x="274320" y="3785616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8" name="Text 166"/>
          <p:cNvSpPr/>
          <p:nvPr/>
        </p:nvSpPr>
        <p:spPr>
          <a:xfrm>
            <a:off x="365760" y="38130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Customisation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365760" y="398678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Widgets, layout, logic</a:t>
            </a:r>
            <a:endParaRPr lang="en-US" sz="650" dirty="0"/>
          </a:p>
        </p:txBody>
      </p:sp>
      <p:sp>
        <p:nvSpPr>
          <p:cNvPr id="170" name="Shape 168"/>
          <p:cNvSpPr/>
          <p:nvPr/>
        </p:nvSpPr>
        <p:spPr>
          <a:xfrm>
            <a:off x="1897380" y="3785616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71" name="Text 169"/>
          <p:cNvSpPr/>
          <p:nvPr/>
        </p:nvSpPr>
        <p:spPr>
          <a:xfrm>
            <a:off x="1933956" y="38039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72" name="Text 170"/>
          <p:cNvSpPr/>
          <p:nvPr/>
        </p:nvSpPr>
        <p:spPr>
          <a:xfrm>
            <a:off x="2189988" y="38039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apps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3035808" y="378561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74" name="Text 172"/>
          <p:cNvSpPr/>
          <p:nvPr/>
        </p:nvSpPr>
        <p:spPr>
          <a:xfrm>
            <a:off x="3072384" y="38039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3328416" y="38039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4174236" y="3785616"/>
            <a:ext cx="1115568" cy="365760"/>
          </a:xfrm>
          <a:prstGeom prst="rect">
            <a:avLst/>
          </a:prstGeom>
          <a:solidFill>
            <a:srgbClr val="F4EFE5"/>
          </a:solidFill>
          <a:ln/>
        </p:spPr>
      </p:sp>
      <p:sp>
        <p:nvSpPr>
          <p:cNvPr id="177" name="Text 175"/>
          <p:cNvSpPr/>
          <p:nvPr/>
        </p:nvSpPr>
        <p:spPr>
          <a:xfrm>
            <a:off x="4210812" y="38039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200" dirty="0"/>
          </a:p>
        </p:txBody>
      </p:sp>
      <p:sp>
        <p:nvSpPr>
          <p:cNvPr id="178" name="Text 176"/>
          <p:cNvSpPr/>
          <p:nvPr/>
        </p:nvSpPr>
        <p:spPr>
          <a:xfrm>
            <a:off x="4466844" y="38039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5312664" y="378561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80" name="Text 178"/>
          <p:cNvSpPr/>
          <p:nvPr/>
        </p:nvSpPr>
        <p:spPr>
          <a:xfrm>
            <a:off x="5349240" y="38039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1" name="Text 179"/>
          <p:cNvSpPr/>
          <p:nvPr/>
        </p:nvSpPr>
        <p:spPr>
          <a:xfrm>
            <a:off x="5605272" y="38039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gadgets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6451092" y="378561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83" name="Text 181"/>
          <p:cNvSpPr/>
          <p:nvPr/>
        </p:nvSpPr>
        <p:spPr>
          <a:xfrm>
            <a:off x="6487668" y="38039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4" name="Text 182"/>
          <p:cNvSpPr/>
          <p:nvPr/>
        </p:nvSpPr>
        <p:spPr>
          <a:xfrm>
            <a:off x="6743700" y="38039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7589520" y="3785616"/>
            <a:ext cx="1115568" cy="365760"/>
          </a:xfrm>
          <a:prstGeom prst="rect">
            <a:avLst/>
          </a:prstGeom>
          <a:solidFill>
            <a:srgbClr val="EFF7F0"/>
          </a:solidFill>
          <a:ln/>
        </p:spPr>
      </p:sp>
      <p:sp>
        <p:nvSpPr>
          <p:cNvPr id="186" name="Text 184"/>
          <p:cNvSpPr/>
          <p:nvPr/>
        </p:nvSpPr>
        <p:spPr>
          <a:xfrm>
            <a:off x="7626096" y="380390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7" name="Text 185"/>
          <p:cNvSpPr/>
          <p:nvPr/>
        </p:nvSpPr>
        <p:spPr>
          <a:xfrm>
            <a:off x="7882128" y="38039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274320" y="4169664"/>
            <a:ext cx="1600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9" name="Shape 187"/>
          <p:cNvSpPr/>
          <p:nvPr/>
        </p:nvSpPr>
        <p:spPr>
          <a:xfrm>
            <a:off x="274320" y="4169664"/>
            <a:ext cx="4572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0" name="Text 188"/>
          <p:cNvSpPr/>
          <p:nvPr/>
        </p:nvSpPr>
        <p:spPr>
          <a:xfrm>
            <a:off x="365760" y="419709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</a:t>
            </a:r>
            <a:endParaRPr lang="en-US" sz="850" dirty="0"/>
          </a:p>
        </p:txBody>
      </p:sp>
      <p:sp>
        <p:nvSpPr>
          <p:cNvPr id="191" name="Text 189"/>
          <p:cNvSpPr/>
          <p:nvPr/>
        </p:nvSpPr>
        <p:spPr>
          <a:xfrm>
            <a:off x="365760" y="437083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structure</a:t>
            </a:r>
            <a:endParaRPr lang="en-US" sz="650" dirty="0"/>
          </a:p>
        </p:txBody>
      </p:sp>
      <p:sp>
        <p:nvSpPr>
          <p:cNvPr id="192" name="Shape 190"/>
          <p:cNvSpPr/>
          <p:nvPr/>
        </p:nvSpPr>
        <p:spPr>
          <a:xfrm>
            <a:off x="1897380" y="4169664"/>
            <a:ext cx="1115568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91"/>
          <p:cNvSpPr/>
          <p:nvPr/>
        </p:nvSpPr>
        <p:spPr>
          <a:xfrm>
            <a:off x="1933956" y="41879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1200" dirty="0"/>
          </a:p>
        </p:txBody>
      </p:sp>
      <p:sp>
        <p:nvSpPr>
          <p:cNvPr id="194" name="Text 192"/>
          <p:cNvSpPr/>
          <p:nvPr/>
        </p:nvSpPr>
        <p:spPr>
          <a:xfrm>
            <a:off x="2189988" y="41879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 Pro + per-user</a:t>
            </a:r>
            <a:endParaRPr lang="en-US" sz="650" dirty="0"/>
          </a:p>
        </p:txBody>
      </p:sp>
      <p:sp>
        <p:nvSpPr>
          <p:cNvPr id="195" name="Shape 193"/>
          <p:cNvSpPr/>
          <p:nvPr/>
        </p:nvSpPr>
        <p:spPr>
          <a:xfrm>
            <a:off x="3035808" y="4169664"/>
            <a:ext cx="1115568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6" name="Text 194"/>
          <p:cNvSpPr/>
          <p:nvPr/>
        </p:nvSpPr>
        <p:spPr>
          <a:xfrm>
            <a:off x="3072384" y="41879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200" dirty="0"/>
          </a:p>
        </p:txBody>
      </p:sp>
      <p:sp>
        <p:nvSpPr>
          <p:cNvPr id="197" name="Text 195"/>
          <p:cNvSpPr/>
          <p:nvPr/>
        </p:nvSpPr>
        <p:spPr>
          <a:xfrm>
            <a:off x="3328416" y="41879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</a:t>
            </a:r>
            <a:endParaRPr lang="en-US" sz="650" dirty="0"/>
          </a:p>
        </p:txBody>
      </p:sp>
      <p:sp>
        <p:nvSpPr>
          <p:cNvPr id="198" name="Shape 196"/>
          <p:cNvSpPr/>
          <p:nvPr/>
        </p:nvSpPr>
        <p:spPr>
          <a:xfrm>
            <a:off x="4174236" y="4169664"/>
            <a:ext cx="1115568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7"/>
          <p:cNvSpPr/>
          <p:nvPr/>
        </p:nvSpPr>
        <p:spPr>
          <a:xfrm>
            <a:off x="4210812" y="41879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200" dirty="0"/>
          </a:p>
        </p:txBody>
      </p:sp>
      <p:sp>
        <p:nvSpPr>
          <p:cNvPr id="200" name="Text 198"/>
          <p:cNvSpPr/>
          <p:nvPr/>
        </p:nvSpPr>
        <p:spPr>
          <a:xfrm>
            <a:off x="4466844" y="41879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/ project</a:t>
            </a:r>
            <a:endParaRPr lang="en-US" sz="650" dirty="0"/>
          </a:p>
        </p:txBody>
      </p:sp>
      <p:sp>
        <p:nvSpPr>
          <p:cNvPr id="201" name="Shape 199"/>
          <p:cNvSpPr/>
          <p:nvPr/>
        </p:nvSpPr>
        <p:spPr>
          <a:xfrm>
            <a:off x="5312664" y="4169664"/>
            <a:ext cx="1115568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2" name="Text 200"/>
          <p:cNvSpPr/>
          <p:nvPr/>
        </p:nvSpPr>
        <p:spPr>
          <a:xfrm>
            <a:off x="5349240" y="41879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5605272" y="41879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(Jira)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6451092" y="4169664"/>
            <a:ext cx="1115568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5" name="Text 203"/>
          <p:cNvSpPr/>
          <p:nvPr/>
        </p:nvSpPr>
        <p:spPr>
          <a:xfrm>
            <a:off x="6487668" y="41879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200" dirty="0"/>
          </a:p>
        </p:txBody>
      </p:sp>
      <p:sp>
        <p:nvSpPr>
          <p:cNvPr id="206" name="Text 204"/>
          <p:cNvSpPr/>
          <p:nvPr/>
        </p:nvSpPr>
        <p:spPr>
          <a:xfrm>
            <a:off x="6743700" y="41879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/ Cloud tier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7589520" y="4169664"/>
            <a:ext cx="1115568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8" name="Text 206"/>
          <p:cNvSpPr/>
          <p:nvPr/>
        </p:nvSpPr>
        <p:spPr>
          <a:xfrm>
            <a:off x="7626096" y="41879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200" dirty="0"/>
          </a:p>
        </p:txBody>
      </p:sp>
      <p:sp>
        <p:nvSpPr>
          <p:cNvPr id="209" name="Text 207"/>
          <p:cNvSpPr/>
          <p:nvPr/>
        </p:nvSpPr>
        <p:spPr>
          <a:xfrm>
            <a:off x="7882128" y="418795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time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365760" y="46085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1" name="Text 209"/>
          <p:cNvSpPr/>
          <p:nvPr/>
        </p:nvSpPr>
        <p:spPr>
          <a:xfrm>
            <a:off x="566928" y="4608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/ native</a:t>
            </a:r>
            <a:endParaRPr lang="en-US" sz="800" dirty="0"/>
          </a:p>
        </p:txBody>
      </p:sp>
      <p:sp>
        <p:nvSpPr>
          <p:cNvPr id="212" name="Text 210"/>
          <p:cNvSpPr/>
          <p:nvPr/>
        </p:nvSpPr>
        <p:spPr>
          <a:xfrm>
            <a:off x="2514600" y="46085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13" name="Text 211"/>
          <p:cNvSpPr/>
          <p:nvPr/>
        </p:nvSpPr>
        <p:spPr>
          <a:xfrm>
            <a:off x="2715768" y="4608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/ via integration</a:t>
            </a:r>
            <a:endParaRPr lang="en-US" sz="800" dirty="0"/>
          </a:p>
        </p:txBody>
      </p:sp>
      <p:sp>
        <p:nvSpPr>
          <p:cNvPr id="214" name="Text 212"/>
          <p:cNvSpPr/>
          <p:nvPr/>
        </p:nvSpPr>
        <p:spPr>
          <a:xfrm>
            <a:off x="4663440" y="46085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15" name="Text 213"/>
          <p:cNvSpPr/>
          <p:nvPr/>
        </p:nvSpPr>
        <p:spPr>
          <a:xfrm>
            <a:off x="4864608" y="4608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supported</a:t>
            </a:r>
            <a:endParaRPr lang="en-US" sz="800" dirty="0"/>
          </a:p>
        </p:txBody>
      </p:sp>
      <p:sp>
        <p:nvSpPr>
          <p:cNvPr id="216" name="Text 214"/>
          <p:cNvSpPr/>
          <p:nvPr/>
        </p:nvSpPr>
        <p:spPr>
          <a:xfrm>
            <a:off x="6812280" y="46085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17" name="Text 215"/>
          <p:cNvSpPr/>
          <p:nvPr/>
        </p:nvSpPr>
        <p:spPr>
          <a:xfrm>
            <a:off x="7013448" y="46085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capability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Maturity — Four Axes × Five Levels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× Performance × Observability × Production Behaviour — what's established at each level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1371600" cy="43891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00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↓ / Level →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640080"/>
            <a:ext cx="1371600" cy="43891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established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640080"/>
            <a:ext cx="13716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&amp; repeatable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640080"/>
            <a:ext cx="1371600" cy="43891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&amp; governed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89320" y="640080"/>
            <a:ext cx="1371600" cy="43891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406640" y="640080"/>
            <a:ext cx="1371600" cy="43891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6675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822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9509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&amp; self-healing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1115568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1115568"/>
            <a:ext cx="73152" cy="85953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" y="1225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" y="14996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types, automation, management, pipelines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737360" y="1115568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7360" y="1115568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32" name="Text 30"/>
          <p:cNvSpPr/>
          <p:nvPr/>
        </p:nvSpPr>
        <p:spPr>
          <a:xfrm>
            <a:off x="181051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exist for core logic. CI runs them on every PR. Static analysis on commit. Test cases tracked (even informally).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54680" y="1115568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34" name="Shape 32"/>
          <p:cNvSpPr/>
          <p:nvPr/>
        </p:nvSpPr>
        <p:spPr>
          <a:xfrm>
            <a:off x="3154680" y="1115568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5" name="Text 33"/>
          <p:cNvSpPr/>
          <p:nvPr/>
        </p:nvSpPr>
        <p:spPr>
          <a:xfrm>
            <a:off x="322783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+ component tests in CI; coverage measured. Static analysis blocks merge. Test cases catalogued in qTest.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0" y="1115568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1115568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 (Pact + Schema). Integration &amp; system tests in CT. Req → Test → Defect traceability in qTest.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989320" y="1115568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1115568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41" name="Text 39"/>
          <p:cNvSpPr/>
          <p:nvPr/>
        </p:nvSpPr>
        <p:spPr>
          <a:xfrm>
            <a:off x="606247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CI/CD/CT discipline. Test results auto-sync to qTest. Release readiness scored from coverage + pass rate.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406640" y="1115568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43" name="Shape 41"/>
          <p:cNvSpPr/>
          <p:nvPr/>
        </p:nvSpPr>
        <p:spPr>
          <a:xfrm>
            <a:off x="7406640" y="1115568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44" name="Text 42"/>
          <p:cNvSpPr/>
          <p:nvPr/>
        </p:nvSpPr>
        <p:spPr>
          <a:xfrm>
            <a:off x="7479792" y="1207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test selection. Risk-based test prioritisation driven by code change + production signals.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20040" y="2020824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2020824"/>
            <a:ext cx="73152" cy="85953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8056" y="24048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Load, stress, resilience, security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37360" y="2020824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50" name="Shape 48"/>
          <p:cNvSpPr/>
          <p:nvPr/>
        </p:nvSpPr>
        <p:spPr>
          <a:xfrm>
            <a:off x="1737360" y="2020824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51" name="Text 49"/>
          <p:cNvSpPr/>
          <p:nvPr/>
        </p:nvSpPr>
        <p:spPr>
          <a:xfrm>
            <a:off x="181051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scan on every PR. Dependency vulnerability scan runs weekly. Known critical CVEs tracked in a backlog.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154680" y="2020824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53" name="Shape 51"/>
          <p:cNvSpPr/>
          <p:nvPr/>
        </p:nvSpPr>
        <p:spPr>
          <a:xfrm>
            <a:off x="3154680" y="2020824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4" name="Text 52"/>
          <p:cNvSpPr/>
          <p:nvPr/>
        </p:nvSpPr>
        <p:spPr>
          <a:xfrm>
            <a:off x="322783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smoke on key endpoints. Dependency vuln scan blocks critical CVEs in CI. DAST scheduled in TEST.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72000" y="2020824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56" name="Shape 54"/>
          <p:cNvSpPr/>
          <p:nvPr/>
        </p:nvSpPr>
        <p:spPr>
          <a:xfrm>
            <a:off x="4572000" y="2020824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7" name="Text 55"/>
          <p:cNvSpPr/>
          <p:nvPr/>
        </p:nvSpPr>
        <p:spPr>
          <a:xfrm>
            <a:off x="464515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load tests in TEST. Performance baselines documented. Pen test before major releases.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89320" y="2020824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59" name="Shape 57"/>
          <p:cNvSpPr/>
          <p:nvPr/>
        </p:nvSpPr>
        <p:spPr>
          <a:xfrm>
            <a:off x="5989320" y="2020824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60" name="Text 58"/>
          <p:cNvSpPr/>
          <p:nvPr/>
        </p:nvSpPr>
        <p:spPr>
          <a:xfrm>
            <a:off x="606247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regression gates in CT. Continuous DAST + secret scanning. Threat modelling per feature.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406640" y="2020824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62" name="Shape 60"/>
          <p:cNvSpPr/>
          <p:nvPr/>
        </p:nvSpPr>
        <p:spPr>
          <a:xfrm>
            <a:off x="7406640" y="2020824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63" name="Text 61"/>
          <p:cNvSpPr/>
          <p:nvPr/>
        </p:nvSpPr>
        <p:spPr>
          <a:xfrm>
            <a:off x="7479792" y="211226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+ fault injection in TEST. Resilience scoring. Runtime self-protection (RASP).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0040" y="2926080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320040" y="2926080"/>
            <a:ext cx="73152" cy="85953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66" name="Text 64"/>
          <p:cNvSpPr/>
          <p:nvPr/>
        </p:nvSpPr>
        <p:spPr>
          <a:xfrm>
            <a:off x="448056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48056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traces, alerts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737360" y="2926080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69" name="Shape 67"/>
          <p:cNvSpPr/>
          <p:nvPr/>
        </p:nvSpPr>
        <p:spPr>
          <a:xfrm>
            <a:off x="1737360" y="2926080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70" name="Text 68"/>
          <p:cNvSpPr/>
          <p:nvPr/>
        </p:nvSpPr>
        <p:spPr>
          <a:xfrm>
            <a:off x="181051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emit structured logs (JSON). Health check endpoint per service. Logs accessible (even via kubectl).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154680" y="2926080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72" name="Shape 70"/>
          <p:cNvSpPr/>
          <p:nvPr/>
        </p:nvSpPr>
        <p:spPr>
          <a:xfrm>
            <a:off x="3154680" y="2926080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3" name="Text 71"/>
          <p:cNvSpPr/>
          <p:nvPr/>
        </p:nvSpPr>
        <p:spPr>
          <a:xfrm>
            <a:off x="322783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log aggregation. Per-service metric dashboards. Error rate alerts.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572000" y="2926080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0" y="2926080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76" name="Text 74"/>
          <p:cNvSpPr/>
          <p:nvPr/>
        </p:nvSpPr>
        <p:spPr>
          <a:xfrm>
            <a:off x="464515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across services. SLO dashboards with error budgets. Synthetic monitoring of critical journeys.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989320" y="2926080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78" name="Shape 76"/>
          <p:cNvSpPr/>
          <p:nvPr/>
        </p:nvSpPr>
        <p:spPr>
          <a:xfrm>
            <a:off x="5989320" y="2926080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79" name="Text 77"/>
          <p:cNvSpPr/>
          <p:nvPr/>
        </p:nvSpPr>
        <p:spPr>
          <a:xfrm>
            <a:off x="606247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on key metrics. Alerts tied to user-facing SLOs. Production telemetry informs test gaps.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406640" y="2926080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81" name="Shape 79"/>
          <p:cNvSpPr/>
          <p:nvPr/>
        </p:nvSpPr>
        <p:spPr>
          <a:xfrm>
            <a:off x="7406640" y="2926080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82" name="Text 80"/>
          <p:cNvSpPr/>
          <p:nvPr/>
        </p:nvSpPr>
        <p:spPr>
          <a:xfrm>
            <a:off x="7479792" y="301752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 debug telemetry (eBPF). Canary analysis with auto-rollback. Self-healing on detected anomalies.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20040" y="3831336"/>
            <a:ext cx="137160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320040" y="3831336"/>
            <a:ext cx="73152" cy="85953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5" name="Text 83"/>
          <p:cNvSpPr/>
          <p:nvPr/>
        </p:nvSpPr>
        <p:spPr>
          <a:xfrm>
            <a:off x="448056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1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Behaviour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448056" y="42153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outcomes — incidents, recovery, user impact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737360" y="3831336"/>
            <a:ext cx="1371600" cy="859536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88" name="Shape 86"/>
          <p:cNvSpPr/>
          <p:nvPr/>
        </p:nvSpPr>
        <p:spPr>
          <a:xfrm>
            <a:off x="1737360" y="3831336"/>
            <a:ext cx="1371600" cy="4572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89" name="Text 87"/>
          <p:cNvSpPr/>
          <p:nvPr/>
        </p:nvSpPr>
        <p:spPr>
          <a:xfrm>
            <a:off x="181051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logged consistently (ticket per incident). Severity classified (P1/P2/P3). Post-incident review for P1s.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154680" y="3831336"/>
            <a:ext cx="1371600" cy="859536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91" name="Shape 89"/>
          <p:cNvSpPr/>
          <p:nvPr/>
        </p:nvSpPr>
        <p:spPr>
          <a:xfrm>
            <a:off x="3154680" y="3831336"/>
            <a:ext cx="13716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2" name="Text 90"/>
          <p:cNvSpPr/>
          <p:nvPr/>
        </p:nvSpPr>
        <p:spPr>
          <a:xfrm>
            <a:off x="322783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tracked in ServiceNow. Manual MTTR &amp; change failure rate per quarter. Hotfixes logged.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572000" y="3831336"/>
            <a:ext cx="1371600" cy="859536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94" name="Shape 92"/>
          <p:cNvSpPr/>
          <p:nvPr/>
        </p:nvSpPr>
        <p:spPr>
          <a:xfrm>
            <a:off x="4572000" y="3831336"/>
            <a:ext cx="1371600" cy="457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5" name="Text 93"/>
          <p:cNvSpPr/>
          <p:nvPr/>
        </p:nvSpPr>
        <p:spPr>
          <a:xfrm>
            <a:off x="464515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 measured monthly. Defect escape rate &lt; 25%. MTTR &lt; 4h. Change failure rate &lt; 30%.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989320" y="3831336"/>
            <a:ext cx="1371600" cy="859536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97" name="Shape 95"/>
          <p:cNvSpPr/>
          <p:nvPr/>
        </p:nvSpPr>
        <p:spPr>
          <a:xfrm>
            <a:off x="5989320" y="3831336"/>
            <a:ext cx="1371600" cy="4572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98" name="Text 96"/>
          <p:cNvSpPr/>
          <p:nvPr/>
        </p:nvSpPr>
        <p:spPr>
          <a:xfrm>
            <a:off x="606247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 live in dashboard. DER &lt; 10%. MTTR &lt; 1h. CFR &lt; 15%. SLO error budget tracked weekly.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406640" y="3831336"/>
            <a:ext cx="1371600" cy="859536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00" name="Shape 98"/>
          <p:cNvSpPr/>
          <p:nvPr/>
        </p:nvSpPr>
        <p:spPr>
          <a:xfrm>
            <a:off x="7406640" y="3831336"/>
            <a:ext cx="1371600" cy="4572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1" name="Text 99"/>
          <p:cNvSpPr/>
          <p:nvPr/>
        </p:nvSpPr>
        <p:spPr>
          <a:xfrm>
            <a:off x="7479792" y="3922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&lt; 5%. MTTR &lt; 15min. CFR &lt; 5%. Predictive incident detection. Auto-rollback on SLO breach.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0040" y="4773168"/>
            <a:ext cx="54864" cy="29260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457200" y="47914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5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— </a:t>
            </a:r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= minimum viable baseline (what's established, not what's missing). Teams with nothing in place are Level 0 (below the floor). Production Behaviour thresholds align with DORA benchmarks (Medium / High / Elite performers).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Quality Engineering</dc:creator>
  <cp:lastModifiedBy>Quality Engineering</cp:lastModifiedBy>
  <cp:revision>1</cp:revision>
  <dcterms:created xsi:type="dcterms:W3CDTF">2026-06-28T19:19:52Z</dcterms:created>
  <dcterms:modified xsi:type="dcterms:W3CDTF">2026-06-28T19:19:52Z</dcterms:modified>
</cp:coreProperties>
</file>