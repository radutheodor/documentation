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Test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tests = CI only. Smoke tests (CD) and App/System tests (CT) run post-deployment. BFF reads Mongo, notified via Change Stream / Kafka.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5120640" cy="3840480"/>
          </a:xfrm>
          <a:prstGeom prst="rect">
            <a:avLst/>
          </a:prstGeom>
          <a:solidFill>
            <a:srgbClr val="FFFFFF">
              <a:alpha val="50000"/>
            </a:srgbClr>
          </a:solidFill>
          <a:ln w="19050">
            <a:solidFill>
              <a:srgbClr val="96002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47472" y="67665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BOUNDARY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84048" y="841248"/>
            <a:ext cx="2331720" cy="349300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002C4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38912" y="859536"/>
            <a:ext cx="2221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 — Write Side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852928" y="841248"/>
            <a:ext cx="2331720" cy="349300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33566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907792" y="859536"/>
            <a:ext cx="2221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 — Read Side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21208" y="1060704"/>
            <a:ext cx="2057400" cy="384048"/>
          </a:xfrm>
          <a:prstGeom prst="rect">
            <a:avLst/>
          </a:prstGeom>
          <a:solidFill>
            <a:srgbClr val="002C4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24712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13816" y="10972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76072" y="1298448"/>
            <a:ext cx="1947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+ Kafka producer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521208" y="1572768"/>
            <a:ext cx="2057400" cy="384048"/>
          </a:xfrm>
          <a:prstGeom prst="rect">
            <a:avLst/>
          </a:prstGeom>
          <a:solidFill>
            <a:srgbClr val="33566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36776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13816" y="160934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API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76072" y="1810512"/>
            <a:ext cx="1947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consumer → processor</a:t>
            </a:r>
            <a:endParaRPr lang="en-US" sz="600" dirty="0"/>
          </a:p>
        </p:txBody>
      </p:sp>
      <p:sp>
        <p:nvSpPr>
          <p:cNvPr id="19" name="Shape 15"/>
          <p:cNvSpPr/>
          <p:nvPr/>
        </p:nvSpPr>
        <p:spPr>
          <a:xfrm>
            <a:off x="521208" y="2084832"/>
            <a:ext cx="640080" cy="274320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20" name="Text 16"/>
          <p:cNvSpPr/>
          <p:nvPr/>
        </p:nvSpPr>
        <p:spPr>
          <a:xfrm>
            <a:off x="521208" y="2084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1</a:t>
            </a:r>
            <a:endParaRPr lang="en-US" sz="650" dirty="0"/>
          </a:p>
        </p:txBody>
      </p:sp>
      <p:sp>
        <p:nvSpPr>
          <p:cNvPr id="21" name="Shape 17"/>
          <p:cNvSpPr/>
          <p:nvPr/>
        </p:nvSpPr>
        <p:spPr>
          <a:xfrm>
            <a:off x="1234440" y="2084832"/>
            <a:ext cx="640080" cy="274320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22" name="Text 18"/>
          <p:cNvSpPr/>
          <p:nvPr/>
        </p:nvSpPr>
        <p:spPr>
          <a:xfrm>
            <a:off x="1234440" y="2084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2</a:t>
            </a:r>
            <a:endParaRPr lang="en-US" sz="650" dirty="0"/>
          </a:p>
        </p:txBody>
      </p:sp>
      <p:sp>
        <p:nvSpPr>
          <p:cNvPr id="23" name="Shape 19"/>
          <p:cNvSpPr/>
          <p:nvPr/>
        </p:nvSpPr>
        <p:spPr>
          <a:xfrm>
            <a:off x="1947672" y="2084832"/>
            <a:ext cx="640080" cy="274320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24" name="Text 20"/>
          <p:cNvSpPr/>
          <p:nvPr/>
        </p:nvSpPr>
        <p:spPr>
          <a:xfrm>
            <a:off x="1947672" y="2084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3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521208" y="2066544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▲</a:t>
            </a:r>
            <a:endParaRPr lang="en-US" sz="500" dirty="0"/>
          </a:p>
        </p:txBody>
      </p:sp>
      <p:sp>
        <p:nvSpPr>
          <p:cNvPr id="26" name="Shape 22"/>
          <p:cNvSpPr/>
          <p:nvPr/>
        </p:nvSpPr>
        <p:spPr>
          <a:xfrm>
            <a:off x="2606040" y="1938528"/>
            <a:ext cx="347472" cy="594360"/>
          </a:xfrm>
          <a:prstGeom prst="rect">
            <a:avLst/>
          </a:prstGeom>
          <a:solidFill>
            <a:srgbClr val="8E654C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1993392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606040" y="21945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700" dirty="0"/>
          </a:p>
        </p:txBody>
      </p:sp>
      <p:sp>
        <p:nvSpPr>
          <p:cNvPr id="29" name="Shape 24"/>
          <p:cNvSpPr/>
          <p:nvPr/>
        </p:nvSpPr>
        <p:spPr>
          <a:xfrm>
            <a:off x="2313432" y="2569464"/>
            <a:ext cx="960120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5"/>
          <p:cNvSpPr/>
          <p:nvPr/>
        </p:nvSpPr>
        <p:spPr>
          <a:xfrm>
            <a:off x="2313432" y="256946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CONTRACT</a:t>
            </a:r>
            <a:endParaRPr lang="en-US" sz="500" dirty="0"/>
          </a:p>
        </p:txBody>
      </p:sp>
      <p:sp>
        <p:nvSpPr>
          <p:cNvPr id="31" name="Shape 26"/>
          <p:cNvSpPr/>
          <p:nvPr/>
        </p:nvSpPr>
        <p:spPr>
          <a:xfrm>
            <a:off x="2953512" y="2139696"/>
            <a:ext cx="4572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</a:ln>
        </p:spPr>
      </p:sp>
      <p:sp>
        <p:nvSpPr>
          <p:cNvPr id="32" name="Text 27"/>
          <p:cNvSpPr/>
          <p:nvPr/>
        </p:nvSpPr>
        <p:spPr>
          <a:xfrm>
            <a:off x="3026664" y="1993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500" dirty="0"/>
          </a:p>
        </p:txBody>
      </p:sp>
      <p:sp>
        <p:nvSpPr>
          <p:cNvPr id="33" name="Shape 28"/>
          <p:cNvSpPr/>
          <p:nvPr/>
        </p:nvSpPr>
        <p:spPr>
          <a:xfrm>
            <a:off x="2578608" y="1252728"/>
            <a:ext cx="27432" cy="822960"/>
          </a:xfrm>
          <a:prstGeom prst="line">
            <a:avLst/>
          </a:prstGeom>
          <a:noFill/>
          <a:ln w="12700">
            <a:solidFill>
              <a:srgbClr val="002C4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2578608" y="1764792"/>
            <a:ext cx="27432" cy="493776"/>
          </a:xfrm>
          <a:prstGeom prst="line">
            <a:avLst/>
          </a:prstGeom>
          <a:noFill/>
          <a:ln w="12700">
            <a:solidFill>
              <a:srgbClr val="33566F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2990088" y="1161288"/>
            <a:ext cx="2057400" cy="384048"/>
          </a:xfrm>
          <a:prstGeom prst="rect">
            <a:avLst/>
          </a:prstGeom>
          <a:solidFill>
            <a:srgbClr val="33566F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1225296"/>
            <a:ext cx="182880" cy="1828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282696" y="119786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API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3044952" y="1399032"/>
            <a:ext cx="1947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Mongo, notified on changes</a:t>
            </a:r>
            <a:endParaRPr lang="en-US" sz="600" dirty="0"/>
          </a:p>
        </p:txBody>
      </p:sp>
      <p:sp>
        <p:nvSpPr>
          <p:cNvPr id="39" name="Shape 33"/>
          <p:cNvSpPr/>
          <p:nvPr/>
        </p:nvSpPr>
        <p:spPr>
          <a:xfrm>
            <a:off x="4315968" y="1636776"/>
            <a:ext cx="73152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4"/>
          <p:cNvSpPr/>
          <p:nvPr/>
        </p:nvSpPr>
        <p:spPr>
          <a:xfrm>
            <a:off x="4315968" y="163677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 HTTP</a:t>
            </a:r>
            <a:endParaRPr lang="en-US" sz="500" dirty="0"/>
          </a:p>
        </p:txBody>
      </p:sp>
      <p:sp>
        <p:nvSpPr>
          <p:cNvPr id="41" name="Shape 35"/>
          <p:cNvSpPr/>
          <p:nvPr/>
        </p:nvSpPr>
        <p:spPr>
          <a:xfrm>
            <a:off x="2990088" y="1764792"/>
            <a:ext cx="2057400" cy="384048"/>
          </a:xfrm>
          <a:prstGeom prst="rect">
            <a:avLst/>
          </a:prstGeom>
          <a:solidFill>
            <a:srgbClr val="5A8BA5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1828800"/>
            <a:ext cx="182880" cy="18288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282696" y="18013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Frontend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3044952" y="2002536"/>
            <a:ext cx="1947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Assessment</a:t>
            </a:r>
            <a:endParaRPr lang="en-US" sz="600" dirty="0"/>
          </a:p>
        </p:txBody>
      </p:sp>
      <p:sp>
        <p:nvSpPr>
          <p:cNvPr id="45" name="Shape 38"/>
          <p:cNvSpPr/>
          <p:nvPr/>
        </p:nvSpPr>
        <p:spPr>
          <a:xfrm>
            <a:off x="4018788" y="1545336"/>
            <a:ext cx="0" cy="219456"/>
          </a:xfrm>
          <a:prstGeom prst="line">
            <a:avLst/>
          </a:prstGeom>
          <a:noFill/>
          <a:ln w="12700">
            <a:solidFill>
              <a:srgbClr val="33566F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347472" y="1517904"/>
            <a:ext cx="594360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0"/>
          <p:cNvSpPr/>
          <p:nvPr/>
        </p:nvSpPr>
        <p:spPr>
          <a:xfrm>
            <a:off x="347472" y="151790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 HTTP</a:t>
            </a:r>
            <a:endParaRPr lang="en-US" sz="500" dirty="0"/>
          </a:p>
        </p:txBody>
      </p:sp>
      <p:sp>
        <p:nvSpPr>
          <p:cNvPr id="48" name="Shape 41"/>
          <p:cNvSpPr/>
          <p:nvPr/>
        </p:nvSpPr>
        <p:spPr>
          <a:xfrm>
            <a:off x="237744" y="1078992"/>
            <a:ext cx="73152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2"/>
          <p:cNvSpPr/>
          <p:nvPr/>
        </p:nvSpPr>
        <p:spPr>
          <a:xfrm>
            <a:off x="-274320" y="10607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600" dirty="0"/>
          </a:p>
          <a:p>
            <a:pPr algn="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600" dirty="0"/>
          </a:p>
        </p:txBody>
      </p:sp>
      <p:sp>
        <p:nvSpPr>
          <p:cNvPr id="50" name="Shape 43"/>
          <p:cNvSpPr/>
          <p:nvPr/>
        </p:nvSpPr>
        <p:spPr>
          <a:xfrm>
            <a:off x="438912" y="3127248"/>
            <a:ext cx="2221992" cy="201168"/>
          </a:xfrm>
          <a:prstGeom prst="rect">
            <a:avLst/>
          </a:prstGeom>
          <a:solidFill>
            <a:srgbClr val="002C4B">
              <a:alpha val="85000"/>
            </a:srgbClr>
          </a:solidFill>
          <a:ln/>
        </p:spPr>
      </p:sp>
      <p:sp>
        <p:nvSpPr>
          <p:cNvPr id="51" name="Text 44"/>
          <p:cNvSpPr/>
          <p:nvPr/>
        </p:nvSpPr>
        <p:spPr>
          <a:xfrm>
            <a:off x="438912" y="312724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TESTS — CI ONLY (never in deployed envs)</a:t>
            </a:r>
            <a:endParaRPr lang="en-US" sz="600" dirty="0"/>
          </a:p>
        </p:txBody>
      </p:sp>
      <p:sp>
        <p:nvSpPr>
          <p:cNvPr id="52" name="Shape 45"/>
          <p:cNvSpPr/>
          <p:nvPr/>
        </p:nvSpPr>
        <p:spPr>
          <a:xfrm>
            <a:off x="2907792" y="3127248"/>
            <a:ext cx="2221992" cy="201168"/>
          </a:xfrm>
          <a:prstGeom prst="rect">
            <a:avLst/>
          </a:prstGeom>
          <a:solidFill>
            <a:srgbClr val="33566F">
              <a:alpha val="85000"/>
            </a:srgbClr>
          </a:solidFill>
          <a:ln/>
        </p:spPr>
      </p:sp>
      <p:sp>
        <p:nvSpPr>
          <p:cNvPr id="53" name="Text 46"/>
          <p:cNvSpPr/>
          <p:nvPr/>
        </p:nvSpPr>
        <p:spPr>
          <a:xfrm>
            <a:off x="2907792" y="312724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TESTS — CI ONLY (never in deployed envs)</a:t>
            </a:r>
            <a:endParaRPr lang="en-US" sz="600" dirty="0"/>
          </a:p>
        </p:txBody>
      </p:sp>
      <p:sp>
        <p:nvSpPr>
          <p:cNvPr id="54" name="Shape 47"/>
          <p:cNvSpPr/>
          <p:nvPr/>
        </p:nvSpPr>
        <p:spPr>
          <a:xfrm>
            <a:off x="438912" y="4078224"/>
            <a:ext cx="2221992" cy="18288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55" name="Text 48"/>
          <p:cNvSpPr/>
          <p:nvPr/>
        </p:nvSpPr>
        <p:spPr>
          <a:xfrm>
            <a:off x="438912" y="40782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INTEGRATION — CT — TEST + UAT</a:t>
            </a:r>
            <a:endParaRPr lang="en-US" sz="600" dirty="0"/>
          </a:p>
        </p:txBody>
      </p:sp>
      <p:sp>
        <p:nvSpPr>
          <p:cNvPr id="56" name="Shape 49"/>
          <p:cNvSpPr/>
          <p:nvPr/>
        </p:nvSpPr>
        <p:spPr>
          <a:xfrm>
            <a:off x="2907792" y="4078224"/>
            <a:ext cx="2221992" cy="18288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57" name="Text 50"/>
          <p:cNvSpPr/>
          <p:nvPr/>
        </p:nvSpPr>
        <p:spPr>
          <a:xfrm>
            <a:off x="2907792" y="40782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INTEGRATION — CT — TEST + UAT</a:t>
            </a:r>
            <a:endParaRPr lang="en-US" sz="600" dirty="0"/>
          </a:p>
        </p:txBody>
      </p:sp>
      <p:sp>
        <p:nvSpPr>
          <p:cNvPr id="58" name="Shape 51"/>
          <p:cNvSpPr/>
          <p:nvPr/>
        </p:nvSpPr>
        <p:spPr>
          <a:xfrm>
            <a:off x="329184" y="4279392"/>
            <a:ext cx="5010912" cy="182880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59" name="Text 52"/>
          <p:cNvSpPr/>
          <p:nvPr/>
        </p:nvSpPr>
        <p:spPr>
          <a:xfrm>
            <a:off x="329184" y="4279392"/>
            <a:ext cx="5010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 — CT — TEST + UAT only</a:t>
            </a:r>
            <a:endParaRPr lang="en-US" sz="650" dirty="0"/>
          </a:p>
        </p:txBody>
      </p:sp>
      <p:sp>
        <p:nvSpPr>
          <p:cNvPr id="60" name="Shape 53"/>
          <p:cNvSpPr/>
          <p:nvPr/>
        </p:nvSpPr>
        <p:spPr>
          <a:xfrm>
            <a:off x="5623560" y="640080"/>
            <a:ext cx="3337560" cy="164592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61" name="Text 54"/>
          <p:cNvSpPr/>
          <p:nvPr/>
        </p:nvSpPr>
        <p:spPr>
          <a:xfrm>
            <a:off x="5696712" y="640080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Tests (CI only — mocked deps)</a:t>
            </a:r>
            <a:endParaRPr lang="en-US" sz="800" dirty="0"/>
          </a:p>
        </p:txBody>
      </p:sp>
      <p:sp>
        <p:nvSpPr>
          <p:cNvPr id="62" name="Shape 55"/>
          <p:cNvSpPr/>
          <p:nvPr/>
        </p:nvSpPr>
        <p:spPr>
          <a:xfrm>
            <a:off x="5623560" y="813816"/>
            <a:ext cx="333756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56"/>
          <p:cNvSpPr/>
          <p:nvPr/>
        </p:nvSpPr>
        <p:spPr>
          <a:xfrm>
            <a:off x="5678424" y="82296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700" dirty="0"/>
          </a:p>
        </p:txBody>
      </p:sp>
      <p:sp>
        <p:nvSpPr>
          <p:cNvPr id="64" name="Text 57"/>
          <p:cNvSpPr/>
          <p:nvPr/>
        </p:nvSpPr>
        <p:spPr>
          <a:xfrm>
            <a:off x="5678424" y="923544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→ mocked Mongo</a:t>
            </a:r>
            <a:endParaRPr lang="en-US" sz="550" dirty="0"/>
          </a:p>
        </p:txBody>
      </p:sp>
      <p:sp>
        <p:nvSpPr>
          <p:cNvPr id="65" name="Shape 58"/>
          <p:cNvSpPr/>
          <p:nvPr/>
        </p:nvSpPr>
        <p:spPr>
          <a:xfrm>
            <a:off x="7772400" y="841248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66" name="Text 59"/>
          <p:cNvSpPr/>
          <p:nvPr/>
        </p:nvSpPr>
        <p:spPr>
          <a:xfrm>
            <a:off x="7772400" y="84124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67" name="Text 60"/>
          <p:cNvSpPr/>
          <p:nvPr/>
        </p:nvSpPr>
        <p:spPr>
          <a:xfrm>
            <a:off x="8028432" y="832104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68" name="Text 61"/>
          <p:cNvSpPr/>
          <p:nvPr/>
        </p:nvSpPr>
        <p:spPr>
          <a:xfrm>
            <a:off x="8028432" y="92354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450" dirty="0"/>
          </a:p>
        </p:txBody>
      </p:sp>
      <p:sp>
        <p:nvSpPr>
          <p:cNvPr id="69" name="Shape 62"/>
          <p:cNvSpPr/>
          <p:nvPr/>
        </p:nvSpPr>
        <p:spPr>
          <a:xfrm>
            <a:off x="5623560" y="1042416"/>
            <a:ext cx="3337560" cy="219456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70" name="Text 63"/>
          <p:cNvSpPr/>
          <p:nvPr/>
        </p:nvSpPr>
        <p:spPr>
          <a:xfrm>
            <a:off x="5678424" y="105156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API</a:t>
            </a:r>
            <a:endParaRPr lang="en-US" sz="700" dirty="0"/>
          </a:p>
        </p:txBody>
      </p:sp>
      <p:sp>
        <p:nvSpPr>
          <p:cNvPr id="71" name="Text 64"/>
          <p:cNvSpPr/>
          <p:nvPr/>
        </p:nvSpPr>
        <p:spPr>
          <a:xfrm>
            <a:off x="5678424" y="1152144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Kafka → mocked Mongo</a:t>
            </a:r>
            <a:endParaRPr lang="en-US" sz="550" dirty="0"/>
          </a:p>
        </p:txBody>
      </p:sp>
      <p:sp>
        <p:nvSpPr>
          <p:cNvPr id="72" name="Shape 65"/>
          <p:cNvSpPr/>
          <p:nvPr/>
        </p:nvSpPr>
        <p:spPr>
          <a:xfrm>
            <a:off x="7772400" y="1069848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73" name="Text 66"/>
          <p:cNvSpPr/>
          <p:nvPr/>
        </p:nvSpPr>
        <p:spPr>
          <a:xfrm>
            <a:off x="7772400" y="106984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74" name="Text 67"/>
          <p:cNvSpPr/>
          <p:nvPr/>
        </p:nvSpPr>
        <p:spPr>
          <a:xfrm>
            <a:off x="8028432" y="1060704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75" name="Text 68"/>
          <p:cNvSpPr/>
          <p:nvPr/>
        </p:nvSpPr>
        <p:spPr>
          <a:xfrm>
            <a:off x="8028432" y="115214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450" dirty="0"/>
          </a:p>
        </p:txBody>
      </p:sp>
      <p:sp>
        <p:nvSpPr>
          <p:cNvPr id="76" name="Shape 69"/>
          <p:cNvSpPr/>
          <p:nvPr/>
        </p:nvSpPr>
        <p:spPr>
          <a:xfrm>
            <a:off x="5623560" y="1271016"/>
            <a:ext cx="333756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0"/>
          <p:cNvSpPr/>
          <p:nvPr/>
        </p:nvSpPr>
        <p:spPr>
          <a:xfrm>
            <a:off x="5678424" y="128016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API</a:t>
            </a:r>
            <a:endParaRPr lang="en-US" sz="700" dirty="0"/>
          </a:p>
        </p:txBody>
      </p:sp>
      <p:sp>
        <p:nvSpPr>
          <p:cNvPr id="78" name="Text 71"/>
          <p:cNvSpPr/>
          <p:nvPr/>
        </p:nvSpPr>
        <p:spPr>
          <a:xfrm>
            <a:off x="5678424" y="1380744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Mongo → verify REST</a:t>
            </a:r>
            <a:endParaRPr lang="en-US" sz="550" dirty="0"/>
          </a:p>
        </p:txBody>
      </p:sp>
      <p:sp>
        <p:nvSpPr>
          <p:cNvPr id="79" name="Shape 72"/>
          <p:cNvSpPr/>
          <p:nvPr/>
        </p:nvSpPr>
        <p:spPr>
          <a:xfrm>
            <a:off x="7772400" y="1298448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80" name="Text 73"/>
          <p:cNvSpPr/>
          <p:nvPr/>
        </p:nvSpPr>
        <p:spPr>
          <a:xfrm>
            <a:off x="7772400" y="129844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81" name="Text 74"/>
          <p:cNvSpPr/>
          <p:nvPr/>
        </p:nvSpPr>
        <p:spPr>
          <a:xfrm>
            <a:off x="8028432" y="1289304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82" name="Text 75"/>
          <p:cNvSpPr/>
          <p:nvPr/>
        </p:nvSpPr>
        <p:spPr>
          <a:xfrm>
            <a:off x="8028432" y="138074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450" dirty="0"/>
          </a:p>
        </p:txBody>
      </p:sp>
      <p:sp>
        <p:nvSpPr>
          <p:cNvPr id="83" name="Shape 76"/>
          <p:cNvSpPr/>
          <p:nvPr/>
        </p:nvSpPr>
        <p:spPr>
          <a:xfrm>
            <a:off x="5623560" y="1499616"/>
            <a:ext cx="3337560" cy="219456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84" name="Text 77"/>
          <p:cNvSpPr/>
          <p:nvPr/>
        </p:nvSpPr>
        <p:spPr>
          <a:xfrm>
            <a:off x="5678424" y="150876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FE</a:t>
            </a:r>
            <a:endParaRPr lang="en-US" sz="700" dirty="0"/>
          </a:p>
        </p:txBody>
      </p:sp>
      <p:sp>
        <p:nvSpPr>
          <p:cNvPr id="85" name="Text 78"/>
          <p:cNvSpPr/>
          <p:nvPr/>
        </p:nvSpPr>
        <p:spPr>
          <a:xfrm>
            <a:off x="5678424" y="1609344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Mocked BFF (MSW) → UI</a:t>
            </a:r>
            <a:endParaRPr lang="en-US" sz="550" dirty="0"/>
          </a:p>
        </p:txBody>
      </p:sp>
      <p:sp>
        <p:nvSpPr>
          <p:cNvPr id="86" name="Shape 79"/>
          <p:cNvSpPr/>
          <p:nvPr/>
        </p:nvSpPr>
        <p:spPr>
          <a:xfrm>
            <a:off x="7772400" y="1527048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87" name="Text 80"/>
          <p:cNvSpPr/>
          <p:nvPr/>
        </p:nvSpPr>
        <p:spPr>
          <a:xfrm>
            <a:off x="7772400" y="152704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88" name="Text 81"/>
          <p:cNvSpPr/>
          <p:nvPr/>
        </p:nvSpPr>
        <p:spPr>
          <a:xfrm>
            <a:off x="8028432" y="1517904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89" name="Text 82"/>
          <p:cNvSpPr/>
          <p:nvPr/>
        </p:nvSpPr>
        <p:spPr>
          <a:xfrm>
            <a:off x="8028432" y="160934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450" dirty="0"/>
          </a:p>
        </p:txBody>
      </p:sp>
      <p:sp>
        <p:nvSpPr>
          <p:cNvPr id="90" name="Shape 83"/>
          <p:cNvSpPr/>
          <p:nvPr/>
        </p:nvSpPr>
        <p:spPr>
          <a:xfrm>
            <a:off x="5623560" y="1746504"/>
            <a:ext cx="3337560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1" name="Text 84"/>
          <p:cNvSpPr/>
          <p:nvPr/>
        </p:nvSpPr>
        <p:spPr>
          <a:xfrm>
            <a:off x="5696712" y="1746504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Tests (CI — Pact + Schema + Msg)</a:t>
            </a:r>
            <a:endParaRPr lang="en-US" sz="800" dirty="0"/>
          </a:p>
        </p:txBody>
      </p:sp>
      <p:sp>
        <p:nvSpPr>
          <p:cNvPr id="92" name="Shape 85"/>
          <p:cNvSpPr/>
          <p:nvPr/>
        </p:nvSpPr>
        <p:spPr>
          <a:xfrm>
            <a:off x="5623560" y="1920240"/>
            <a:ext cx="333756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86"/>
          <p:cNvSpPr/>
          <p:nvPr/>
        </p:nvSpPr>
        <p:spPr>
          <a:xfrm>
            <a:off x="5678424" y="1929384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 Angular ↔ BFF</a:t>
            </a:r>
            <a:endParaRPr lang="en-US" sz="700" dirty="0"/>
          </a:p>
        </p:txBody>
      </p:sp>
      <p:sp>
        <p:nvSpPr>
          <p:cNvPr id="94" name="Text 87"/>
          <p:cNvSpPr/>
          <p:nvPr/>
        </p:nvSpPr>
        <p:spPr>
          <a:xfrm>
            <a:off x="5678424" y="2029968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 consumer/provider</a:t>
            </a:r>
            <a:endParaRPr lang="en-US" sz="550" dirty="0"/>
          </a:p>
        </p:txBody>
      </p:sp>
      <p:sp>
        <p:nvSpPr>
          <p:cNvPr id="95" name="Shape 88"/>
          <p:cNvSpPr/>
          <p:nvPr/>
        </p:nvSpPr>
        <p:spPr>
          <a:xfrm>
            <a:off x="7772400" y="1947672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96" name="Text 89"/>
          <p:cNvSpPr/>
          <p:nvPr/>
        </p:nvSpPr>
        <p:spPr>
          <a:xfrm>
            <a:off x="7772400" y="1947672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97" name="Text 90"/>
          <p:cNvSpPr/>
          <p:nvPr/>
        </p:nvSpPr>
        <p:spPr>
          <a:xfrm>
            <a:off x="8028432" y="1938528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98" name="Text 91"/>
          <p:cNvSpPr/>
          <p:nvPr/>
        </p:nvSpPr>
        <p:spPr>
          <a:xfrm>
            <a:off x="8028432" y="2029968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450" dirty="0"/>
          </a:p>
        </p:txBody>
      </p:sp>
      <p:sp>
        <p:nvSpPr>
          <p:cNvPr id="99" name="Shape 92"/>
          <p:cNvSpPr/>
          <p:nvPr/>
        </p:nvSpPr>
        <p:spPr>
          <a:xfrm>
            <a:off x="5623560" y="2148840"/>
            <a:ext cx="3337560" cy="219456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100" name="Text 93"/>
          <p:cNvSpPr/>
          <p:nvPr/>
        </p:nvSpPr>
        <p:spPr>
          <a:xfrm>
            <a:off x="5678424" y="2157984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 Clients ↔ Pub API</a:t>
            </a:r>
            <a:endParaRPr lang="en-US" sz="700" dirty="0"/>
          </a:p>
        </p:txBody>
      </p:sp>
      <p:sp>
        <p:nvSpPr>
          <p:cNvPr id="101" name="Text 94"/>
          <p:cNvSpPr/>
          <p:nvPr/>
        </p:nvSpPr>
        <p:spPr>
          <a:xfrm>
            <a:off x="5678424" y="2258568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 (external consumers)</a:t>
            </a:r>
            <a:endParaRPr lang="en-US" sz="550" dirty="0"/>
          </a:p>
        </p:txBody>
      </p:sp>
      <p:sp>
        <p:nvSpPr>
          <p:cNvPr id="102" name="Shape 95"/>
          <p:cNvSpPr/>
          <p:nvPr/>
        </p:nvSpPr>
        <p:spPr>
          <a:xfrm>
            <a:off x="7772400" y="2176272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03" name="Text 96"/>
          <p:cNvSpPr/>
          <p:nvPr/>
        </p:nvSpPr>
        <p:spPr>
          <a:xfrm>
            <a:off x="7772400" y="2176272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104" name="Text 97"/>
          <p:cNvSpPr/>
          <p:nvPr/>
        </p:nvSpPr>
        <p:spPr>
          <a:xfrm>
            <a:off x="8028432" y="2167128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105" name="Text 98"/>
          <p:cNvSpPr/>
          <p:nvPr/>
        </p:nvSpPr>
        <p:spPr>
          <a:xfrm>
            <a:off x="8028432" y="2258568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450" dirty="0"/>
          </a:p>
        </p:txBody>
      </p:sp>
      <p:sp>
        <p:nvSpPr>
          <p:cNvPr id="106" name="Shape 99"/>
          <p:cNvSpPr/>
          <p:nvPr/>
        </p:nvSpPr>
        <p:spPr>
          <a:xfrm>
            <a:off x="5623560" y="2377440"/>
            <a:ext cx="333756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Text 100"/>
          <p:cNvSpPr/>
          <p:nvPr/>
        </p:nvSpPr>
        <p:spPr>
          <a:xfrm>
            <a:off x="5678424" y="2386584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Schema: Write ↔ Read</a:t>
            </a:r>
            <a:endParaRPr lang="en-US" sz="700" dirty="0"/>
          </a:p>
        </p:txBody>
      </p:sp>
      <p:sp>
        <p:nvSpPr>
          <p:cNvPr id="108" name="Text 101"/>
          <p:cNvSpPr/>
          <p:nvPr/>
        </p:nvSpPr>
        <p:spPr>
          <a:xfrm>
            <a:off x="5678424" y="2487168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 doc schema compat.</a:t>
            </a:r>
            <a:endParaRPr lang="en-US" sz="550" dirty="0"/>
          </a:p>
        </p:txBody>
      </p:sp>
      <p:sp>
        <p:nvSpPr>
          <p:cNvPr id="109" name="Shape 102"/>
          <p:cNvSpPr/>
          <p:nvPr/>
        </p:nvSpPr>
        <p:spPr>
          <a:xfrm>
            <a:off x="7772400" y="2404872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10" name="Text 103"/>
          <p:cNvSpPr/>
          <p:nvPr/>
        </p:nvSpPr>
        <p:spPr>
          <a:xfrm>
            <a:off x="7772400" y="2404872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111" name="Text 104"/>
          <p:cNvSpPr/>
          <p:nvPr/>
        </p:nvSpPr>
        <p:spPr>
          <a:xfrm>
            <a:off x="8028432" y="2395728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112" name="Text 105"/>
          <p:cNvSpPr/>
          <p:nvPr/>
        </p:nvSpPr>
        <p:spPr>
          <a:xfrm>
            <a:off x="8028432" y="2487168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validation</a:t>
            </a:r>
            <a:endParaRPr lang="en-US" sz="450" dirty="0"/>
          </a:p>
        </p:txBody>
      </p:sp>
      <p:sp>
        <p:nvSpPr>
          <p:cNvPr id="113" name="Shape 106"/>
          <p:cNvSpPr/>
          <p:nvPr/>
        </p:nvSpPr>
        <p:spPr>
          <a:xfrm>
            <a:off x="5623560" y="2606040"/>
            <a:ext cx="3337560" cy="219456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114" name="Text 107"/>
          <p:cNvSpPr/>
          <p:nvPr/>
        </p:nvSpPr>
        <p:spPr>
          <a:xfrm>
            <a:off x="5678424" y="2615184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Message: Notify</a:t>
            </a:r>
            <a:endParaRPr lang="en-US" sz="700" dirty="0"/>
          </a:p>
        </p:txBody>
      </p:sp>
      <p:sp>
        <p:nvSpPr>
          <p:cNvPr id="115" name="Text 108"/>
          <p:cNvSpPr/>
          <p:nvPr/>
        </p:nvSpPr>
        <p:spPr>
          <a:xfrm>
            <a:off x="5678424" y="2715768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Stream / Kafka schema</a:t>
            </a:r>
            <a:endParaRPr lang="en-US" sz="550" dirty="0"/>
          </a:p>
        </p:txBody>
      </p:sp>
      <p:sp>
        <p:nvSpPr>
          <p:cNvPr id="116" name="Shape 109"/>
          <p:cNvSpPr/>
          <p:nvPr/>
        </p:nvSpPr>
        <p:spPr>
          <a:xfrm>
            <a:off x="7772400" y="2633472"/>
            <a:ext cx="219456" cy="9144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17" name="Text 110"/>
          <p:cNvSpPr/>
          <p:nvPr/>
        </p:nvSpPr>
        <p:spPr>
          <a:xfrm>
            <a:off x="7772400" y="2633472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500" dirty="0"/>
          </a:p>
        </p:txBody>
      </p:sp>
      <p:sp>
        <p:nvSpPr>
          <p:cNvPr id="118" name="Text 111"/>
          <p:cNvSpPr/>
          <p:nvPr/>
        </p:nvSpPr>
        <p:spPr>
          <a:xfrm>
            <a:off x="8028432" y="2624328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Commit</a:t>
            </a:r>
            <a:endParaRPr lang="en-US" sz="550" dirty="0"/>
          </a:p>
        </p:txBody>
      </p:sp>
      <p:sp>
        <p:nvSpPr>
          <p:cNvPr id="119" name="Text 112"/>
          <p:cNvSpPr/>
          <p:nvPr/>
        </p:nvSpPr>
        <p:spPr>
          <a:xfrm>
            <a:off x="8028432" y="2715768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validation</a:t>
            </a:r>
            <a:endParaRPr lang="en-US" sz="450" dirty="0"/>
          </a:p>
        </p:txBody>
      </p:sp>
      <p:sp>
        <p:nvSpPr>
          <p:cNvPr id="120" name="Shape 113"/>
          <p:cNvSpPr/>
          <p:nvPr/>
        </p:nvSpPr>
        <p:spPr>
          <a:xfrm>
            <a:off x="5623560" y="2852928"/>
            <a:ext cx="3337560" cy="164592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21" name="Text 114"/>
          <p:cNvSpPr/>
          <p:nvPr/>
        </p:nvSpPr>
        <p:spPr>
          <a:xfrm>
            <a:off x="5696712" y="2852928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 Smoke Tests (App + System level)</a:t>
            </a:r>
            <a:endParaRPr lang="en-US" sz="800" dirty="0"/>
          </a:p>
        </p:txBody>
      </p:sp>
      <p:sp>
        <p:nvSpPr>
          <p:cNvPr id="122" name="Shape 115"/>
          <p:cNvSpPr/>
          <p:nvPr/>
        </p:nvSpPr>
        <p:spPr>
          <a:xfrm>
            <a:off x="5623560" y="3026664"/>
            <a:ext cx="333756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Text 116"/>
          <p:cNvSpPr/>
          <p:nvPr/>
        </p:nvSpPr>
        <p:spPr>
          <a:xfrm>
            <a:off x="5678424" y="3035808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Health + Read</a:t>
            </a:r>
            <a:endParaRPr lang="en-US" sz="700" dirty="0"/>
          </a:p>
        </p:txBody>
      </p:sp>
      <p:sp>
        <p:nvSpPr>
          <p:cNvPr id="124" name="Text 117"/>
          <p:cNvSpPr/>
          <p:nvPr/>
        </p:nvSpPr>
        <p:spPr>
          <a:xfrm>
            <a:off x="5678424" y="3136392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Health, version, read-only system</a:t>
            </a:r>
            <a:endParaRPr lang="en-US" sz="550" dirty="0"/>
          </a:p>
        </p:txBody>
      </p:sp>
      <p:sp>
        <p:nvSpPr>
          <p:cNvPr id="125" name="Shape 118"/>
          <p:cNvSpPr/>
          <p:nvPr/>
        </p:nvSpPr>
        <p:spPr>
          <a:xfrm>
            <a:off x="7772400" y="3054096"/>
            <a:ext cx="219456" cy="9144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26" name="Text 119"/>
          <p:cNvSpPr/>
          <p:nvPr/>
        </p:nvSpPr>
        <p:spPr>
          <a:xfrm>
            <a:off x="7772400" y="305409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500" dirty="0"/>
          </a:p>
        </p:txBody>
      </p:sp>
      <p:sp>
        <p:nvSpPr>
          <p:cNvPr id="127" name="Text 120"/>
          <p:cNvSpPr/>
          <p:nvPr/>
        </p:nvSpPr>
        <p:spPr>
          <a:xfrm>
            <a:off x="8028432" y="3044952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(incl. PROD)</a:t>
            </a:r>
            <a:endParaRPr lang="en-US" sz="550" dirty="0"/>
          </a:p>
        </p:txBody>
      </p:sp>
      <p:sp>
        <p:nvSpPr>
          <p:cNvPr id="128" name="Text 121"/>
          <p:cNvSpPr/>
          <p:nvPr/>
        </p:nvSpPr>
        <p:spPr>
          <a:xfrm>
            <a:off x="8028432" y="3136392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Tekton (SNOW)</a:t>
            </a:r>
            <a:endParaRPr lang="en-US" sz="450" dirty="0"/>
          </a:p>
        </p:txBody>
      </p:sp>
      <p:sp>
        <p:nvSpPr>
          <p:cNvPr id="129" name="Shape 122"/>
          <p:cNvSpPr/>
          <p:nvPr/>
        </p:nvSpPr>
        <p:spPr>
          <a:xfrm>
            <a:off x="5623560" y="3255264"/>
            <a:ext cx="3337560" cy="219456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130" name="Text 123"/>
          <p:cNvSpPr/>
          <p:nvPr/>
        </p:nvSpPr>
        <p:spPr>
          <a:xfrm>
            <a:off x="5678424" y="3264408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Write verify</a:t>
            </a:r>
            <a:endParaRPr lang="en-US" sz="700" dirty="0"/>
          </a:p>
        </p:txBody>
      </p:sp>
      <p:sp>
        <p:nvSpPr>
          <p:cNvPr id="131" name="Text 124"/>
          <p:cNvSpPr/>
          <p:nvPr/>
        </p:nvSpPr>
        <p:spPr>
          <a:xfrm>
            <a:off x="5678424" y="3364992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→ verify → cleanup</a:t>
            </a:r>
            <a:endParaRPr lang="en-US" sz="550" dirty="0"/>
          </a:p>
        </p:txBody>
      </p:sp>
      <p:sp>
        <p:nvSpPr>
          <p:cNvPr id="132" name="Shape 125"/>
          <p:cNvSpPr/>
          <p:nvPr/>
        </p:nvSpPr>
        <p:spPr>
          <a:xfrm>
            <a:off x="7772400" y="3282696"/>
            <a:ext cx="219456" cy="9144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33" name="Text 126"/>
          <p:cNvSpPr/>
          <p:nvPr/>
        </p:nvSpPr>
        <p:spPr>
          <a:xfrm>
            <a:off x="7772400" y="328269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500" dirty="0"/>
          </a:p>
        </p:txBody>
      </p:sp>
      <p:sp>
        <p:nvSpPr>
          <p:cNvPr id="134" name="Text 127"/>
          <p:cNvSpPr/>
          <p:nvPr/>
        </p:nvSpPr>
        <p:spPr>
          <a:xfrm>
            <a:off x="8028432" y="3273552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TEST, UAT only</a:t>
            </a:r>
            <a:endParaRPr lang="en-US" sz="550" dirty="0"/>
          </a:p>
        </p:txBody>
      </p:sp>
      <p:sp>
        <p:nvSpPr>
          <p:cNvPr id="135" name="Text 128"/>
          <p:cNvSpPr/>
          <p:nvPr/>
        </p:nvSpPr>
        <p:spPr>
          <a:xfrm>
            <a:off x="8028432" y="3364992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Tekton (SNOW)</a:t>
            </a:r>
            <a:endParaRPr lang="en-US" sz="450" dirty="0"/>
          </a:p>
        </p:txBody>
      </p:sp>
      <p:sp>
        <p:nvSpPr>
          <p:cNvPr id="136" name="Shape 129"/>
          <p:cNvSpPr/>
          <p:nvPr/>
        </p:nvSpPr>
        <p:spPr>
          <a:xfrm>
            <a:off x="5623560" y="3483864"/>
            <a:ext cx="333756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0"/>
          <p:cNvSpPr/>
          <p:nvPr/>
        </p:nvSpPr>
        <p:spPr>
          <a:xfrm>
            <a:off x="5678424" y="3493008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Infra chain</a:t>
            </a:r>
            <a:endParaRPr lang="en-US" sz="700" dirty="0"/>
          </a:p>
        </p:txBody>
      </p:sp>
      <p:sp>
        <p:nvSpPr>
          <p:cNvPr id="138" name="Text 131"/>
          <p:cNvSpPr/>
          <p:nvPr/>
        </p:nvSpPr>
        <p:spPr>
          <a:xfrm>
            <a:off x="5678424" y="3593592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→ Mongo → notify → BFF</a:t>
            </a:r>
            <a:endParaRPr lang="en-US" sz="550" dirty="0"/>
          </a:p>
        </p:txBody>
      </p:sp>
      <p:sp>
        <p:nvSpPr>
          <p:cNvPr id="139" name="Shape 132"/>
          <p:cNvSpPr/>
          <p:nvPr/>
        </p:nvSpPr>
        <p:spPr>
          <a:xfrm>
            <a:off x="7772400" y="3511296"/>
            <a:ext cx="219456" cy="9144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40" name="Text 133"/>
          <p:cNvSpPr/>
          <p:nvPr/>
        </p:nvSpPr>
        <p:spPr>
          <a:xfrm>
            <a:off x="7772400" y="351129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500" dirty="0"/>
          </a:p>
        </p:txBody>
      </p:sp>
      <p:sp>
        <p:nvSpPr>
          <p:cNvPr id="141" name="Text 134"/>
          <p:cNvSpPr/>
          <p:nvPr/>
        </p:nvSpPr>
        <p:spPr>
          <a:xfrm>
            <a:off x="8028432" y="3502152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only</a:t>
            </a:r>
            <a:endParaRPr lang="en-US" sz="550" dirty="0"/>
          </a:p>
        </p:txBody>
      </p:sp>
      <p:sp>
        <p:nvSpPr>
          <p:cNvPr id="142" name="Text 135"/>
          <p:cNvSpPr/>
          <p:nvPr/>
        </p:nvSpPr>
        <p:spPr>
          <a:xfrm>
            <a:off x="8028432" y="3593592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Tekton (SNOW)</a:t>
            </a:r>
            <a:endParaRPr lang="en-US" sz="450" dirty="0"/>
          </a:p>
        </p:txBody>
      </p:sp>
      <p:sp>
        <p:nvSpPr>
          <p:cNvPr id="143" name="Shape 136"/>
          <p:cNvSpPr/>
          <p:nvPr/>
        </p:nvSpPr>
        <p:spPr>
          <a:xfrm>
            <a:off x="5623560" y="3730752"/>
            <a:ext cx="3337560" cy="164592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44" name="Text 137"/>
          <p:cNvSpPr/>
          <p:nvPr/>
        </p:nvSpPr>
        <p:spPr>
          <a:xfrm>
            <a:off x="5696712" y="373075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Integration Tests (CT)</a:t>
            </a:r>
            <a:endParaRPr lang="en-US" sz="800" dirty="0"/>
          </a:p>
        </p:txBody>
      </p:sp>
      <p:sp>
        <p:nvSpPr>
          <p:cNvPr id="145" name="Shape 138"/>
          <p:cNvSpPr/>
          <p:nvPr/>
        </p:nvSpPr>
        <p:spPr>
          <a:xfrm>
            <a:off x="5623560" y="3904488"/>
            <a:ext cx="333756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6" name="Text 139"/>
          <p:cNvSpPr/>
          <p:nvPr/>
        </p:nvSpPr>
        <p:spPr>
          <a:xfrm>
            <a:off x="5678424" y="391363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Path (A)</a:t>
            </a:r>
            <a:endParaRPr lang="en-US" sz="700" dirty="0"/>
          </a:p>
        </p:txBody>
      </p:sp>
      <p:sp>
        <p:nvSpPr>
          <p:cNvPr id="147" name="Text 140"/>
          <p:cNvSpPr/>
          <p:nvPr/>
        </p:nvSpPr>
        <p:spPr>
          <a:xfrm>
            <a:off x="5678424" y="4014216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REST/Kafka → real Mongo</a:t>
            </a:r>
            <a:endParaRPr lang="en-US" sz="550" dirty="0"/>
          </a:p>
        </p:txBody>
      </p:sp>
      <p:sp>
        <p:nvSpPr>
          <p:cNvPr id="148" name="Shape 141"/>
          <p:cNvSpPr/>
          <p:nvPr/>
        </p:nvSpPr>
        <p:spPr>
          <a:xfrm>
            <a:off x="7772400" y="3931920"/>
            <a:ext cx="219456" cy="9144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49" name="Text 142"/>
          <p:cNvSpPr/>
          <p:nvPr/>
        </p:nvSpPr>
        <p:spPr>
          <a:xfrm>
            <a:off x="7772400" y="393192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500" dirty="0"/>
          </a:p>
        </p:txBody>
      </p:sp>
      <p:sp>
        <p:nvSpPr>
          <p:cNvPr id="150" name="Text 143"/>
          <p:cNvSpPr/>
          <p:nvPr/>
        </p:nvSpPr>
        <p:spPr>
          <a:xfrm>
            <a:off x="8028432" y="3922776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Post-CD · TEST, UAT</a:t>
            </a:r>
            <a:endParaRPr lang="en-US" sz="550" dirty="0"/>
          </a:p>
        </p:txBody>
      </p:sp>
      <p:sp>
        <p:nvSpPr>
          <p:cNvPr id="151" name="Text 144"/>
          <p:cNvSpPr/>
          <p:nvPr/>
        </p:nvSpPr>
        <p:spPr>
          <a:xfrm>
            <a:off x="8028432" y="4014216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 + Tekton</a:t>
            </a:r>
            <a:endParaRPr lang="en-US" sz="450" dirty="0"/>
          </a:p>
        </p:txBody>
      </p:sp>
      <p:sp>
        <p:nvSpPr>
          <p:cNvPr id="152" name="Shape 145"/>
          <p:cNvSpPr/>
          <p:nvPr/>
        </p:nvSpPr>
        <p:spPr>
          <a:xfrm>
            <a:off x="5623560" y="4133088"/>
            <a:ext cx="3337560" cy="219456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153" name="Text 146"/>
          <p:cNvSpPr/>
          <p:nvPr/>
        </p:nvSpPr>
        <p:spPr>
          <a:xfrm>
            <a:off x="5678424" y="414223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+ Notify (B)</a:t>
            </a:r>
            <a:endParaRPr lang="en-US" sz="700" dirty="0"/>
          </a:p>
        </p:txBody>
      </p:sp>
      <p:sp>
        <p:nvSpPr>
          <p:cNvPr id="154" name="Text 147"/>
          <p:cNvSpPr/>
          <p:nvPr/>
        </p:nvSpPr>
        <p:spPr>
          <a:xfrm>
            <a:off x="5678424" y="4242816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 → notify → BFF → Angular</a:t>
            </a:r>
            <a:endParaRPr lang="en-US" sz="550" dirty="0"/>
          </a:p>
        </p:txBody>
      </p:sp>
      <p:sp>
        <p:nvSpPr>
          <p:cNvPr id="155" name="Shape 148"/>
          <p:cNvSpPr/>
          <p:nvPr/>
        </p:nvSpPr>
        <p:spPr>
          <a:xfrm>
            <a:off x="7772400" y="4160520"/>
            <a:ext cx="219456" cy="9144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56" name="Text 149"/>
          <p:cNvSpPr/>
          <p:nvPr/>
        </p:nvSpPr>
        <p:spPr>
          <a:xfrm>
            <a:off x="7772400" y="416052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500" dirty="0"/>
          </a:p>
        </p:txBody>
      </p:sp>
      <p:sp>
        <p:nvSpPr>
          <p:cNvPr id="157" name="Text 150"/>
          <p:cNvSpPr/>
          <p:nvPr/>
        </p:nvSpPr>
        <p:spPr>
          <a:xfrm>
            <a:off x="8028432" y="4151376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Post-CD · TEST, UAT</a:t>
            </a:r>
            <a:endParaRPr lang="en-US" sz="550" dirty="0"/>
          </a:p>
        </p:txBody>
      </p:sp>
      <p:sp>
        <p:nvSpPr>
          <p:cNvPr id="158" name="Text 151"/>
          <p:cNvSpPr/>
          <p:nvPr/>
        </p:nvSpPr>
        <p:spPr>
          <a:xfrm>
            <a:off x="8028432" y="4242816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 + Tekton</a:t>
            </a:r>
            <a:endParaRPr lang="en-US" sz="450" dirty="0"/>
          </a:p>
        </p:txBody>
      </p:sp>
      <p:sp>
        <p:nvSpPr>
          <p:cNvPr id="159" name="Shape 152"/>
          <p:cNvSpPr/>
          <p:nvPr/>
        </p:nvSpPr>
        <p:spPr>
          <a:xfrm>
            <a:off x="5623560" y="4379976"/>
            <a:ext cx="3337560" cy="164592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160" name="Text 153"/>
          <p:cNvSpPr/>
          <p:nvPr/>
        </p:nvSpPr>
        <p:spPr>
          <a:xfrm>
            <a:off x="5696712" y="4379976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Tests E2E (CT)</a:t>
            </a:r>
            <a:endParaRPr lang="en-US" sz="800" dirty="0"/>
          </a:p>
        </p:txBody>
      </p:sp>
      <p:sp>
        <p:nvSpPr>
          <p:cNvPr id="161" name="Shape 154"/>
          <p:cNvSpPr/>
          <p:nvPr/>
        </p:nvSpPr>
        <p:spPr>
          <a:xfrm>
            <a:off x="5623560" y="4553712"/>
            <a:ext cx="333756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2" name="Text 155"/>
          <p:cNvSpPr/>
          <p:nvPr/>
        </p:nvSpPr>
        <p:spPr>
          <a:xfrm>
            <a:off x="5678424" y="4562856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Chain</a:t>
            </a:r>
            <a:endParaRPr lang="en-US" sz="700" dirty="0"/>
          </a:p>
        </p:txBody>
      </p:sp>
      <p:sp>
        <p:nvSpPr>
          <p:cNvPr id="163" name="Text 156"/>
          <p:cNvSpPr/>
          <p:nvPr/>
        </p:nvSpPr>
        <p:spPr>
          <a:xfrm>
            <a:off x="5678424" y="4663440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→ Mongo → notify → BFF → Angular</a:t>
            </a:r>
            <a:endParaRPr lang="en-US" sz="550" dirty="0"/>
          </a:p>
        </p:txBody>
      </p:sp>
      <p:sp>
        <p:nvSpPr>
          <p:cNvPr id="164" name="Shape 157"/>
          <p:cNvSpPr/>
          <p:nvPr/>
        </p:nvSpPr>
        <p:spPr>
          <a:xfrm>
            <a:off x="7772400" y="4581144"/>
            <a:ext cx="219456" cy="9144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65" name="Text 158"/>
          <p:cNvSpPr/>
          <p:nvPr/>
        </p:nvSpPr>
        <p:spPr>
          <a:xfrm>
            <a:off x="7772400" y="4581144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500" dirty="0"/>
          </a:p>
        </p:txBody>
      </p:sp>
      <p:sp>
        <p:nvSpPr>
          <p:cNvPr id="166" name="Text 159"/>
          <p:cNvSpPr/>
          <p:nvPr/>
        </p:nvSpPr>
        <p:spPr>
          <a:xfrm>
            <a:off x="8028432" y="4572000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Post-CD · TEST, UAT</a:t>
            </a:r>
            <a:endParaRPr lang="en-US" sz="550" dirty="0"/>
          </a:p>
        </p:txBody>
      </p:sp>
      <p:sp>
        <p:nvSpPr>
          <p:cNvPr id="167" name="Text 160"/>
          <p:cNvSpPr/>
          <p:nvPr/>
        </p:nvSpPr>
        <p:spPr>
          <a:xfrm>
            <a:off x="8028432" y="4663440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 + Tekton</a:t>
            </a:r>
            <a:endParaRPr lang="en-US" sz="450" dirty="0"/>
          </a:p>
        </p:txBody>
      </p:sp>
      <p:sp>
        <p:nvSpPr>
          <p:cNvPr id="168" name="Shape 161"/>
          <p:cNvSpPr/>
          <p:nvPr/>
        </p:nvSpPr>
        <p:spPr>
          <a:xfrm>
            <a:off x="365760" y="4956048"/>
            <a:ext cx="109728" cy="10972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69" name="Text 162"/>
          <p:cNvSpPr/>
          <p:nvPr/>
        </p:nvSpPr>
        <p:spPr>
          <a:xfrm>
            <a:off x="530352" y="494690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= Azure DevOps (PR only)</a:t>
            </a:r>
            <a:endParaRPr lang="en-US" sz="650" dirty="0"/>
          </a:p>
        </p:txBody>
      </p:sp>
      <p:sp>
        <p:nvSpPr>
          <p:cNvPr id="170" name="Shape 163"/>
          <p:cNvSpPr/>
          <p:nvPr/>
        </p:nvSpPr>
        <p:spPr>
          <a:xfrm>
            <a:off x="2606040" y="4956048"/>
            <a:ext cx="109728" cy="109728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71" name="Text 164"/>
          <p:cNvSpPr/>
          <p:nvPr/>
        </p:nvSpPr>
        <p:spPr>
          <a:xfrm>
            <a:off x="2770632" y="494690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= Tekton (ServiceNow)</a:t>
            </a:r>
            <a:endParaRPr lang="en-US" sz="650" dirty="0"/>
          </a:p>
        </p:txBody>
      </p:sp>
      <p:sp>
        <p:nvSpPr>
          <p:cNvPr id="172" name="Shape 165"/>
          <p:cNvSpPr/>
          <p:nvPr/>
        </p:nvSpPr>
        <p:spPr>
          <a:xfrm>
            <a:off x="4846320" y="4956048"/>
            <a:ext cx="109728" cy="10972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73" name="Text 166"/>
          <p:cNvSpPr/>
          <p:nvPr/>
        </p:nvSpPr>
        <p:spPr>
          <a:xfrm>
            <a:off x="5010912" y="494690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= ADO + Tekton</a:t>
            </a:r>
            <a:endParaRPr lang="en-US" sz="650" dirty="0"/>
          </a:p>
        </p:txBody>
      </p:sp>
      <p:sp>
        <p:nvSpPr>
          <p:cNvPr id="174" name="Shape 167"/>
          <p:cNvSpPr/>
          <p:nvPr/>
        </p:nvSpPr>
        <p:spPr>
          <a:xfrm>
            <a:off x="7086600" y="4956048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5" name="Text 168"/>
          <p:cNvSpPr/>
          <p:nvPr/>
        </p:nvSpPr>
        <p:spPr>
          <a:xfrm>
            <a:off x="7251192" y="494690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 / Schema / Msg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These Tests Actually Look Like?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(CI only), Contract, App Integration (TEST + UAT), System (TEST + UAT), Smoke (CD, all envs)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585216"/>
            <a:ext cx="8503920" cy="18288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58521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Tests — CI only, mocked deps, never in deployed envs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0" y="5852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 |  PR / Commit  |  Azure DevOps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320040" y="795528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795528"/>
            <a:ext cx="36576" cy="621792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822960"/>
            <a:ext cx="3995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 / Integration API</a:t>
            </a:r>
            <a:endParaRPr lang="en-US" sz="8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78408"/>
            <a:ext cx="91440" cy="914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9496" y="960120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starts locally, processes REST/Kafka, writes to in-memory Mongo (Testcontainers). All deps mocked.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39496" y="1161288"/>
            <a:ext cx="3849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logic, validation, error handling, DB write shape.</a:t>
            </a:r>
            <a:endParaRPr lang="en-US" sz="6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07592"/>
            <a:ext cx="91440" cy="914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" y="1289304"/>
            <a:ext cx="3849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needed: </a:t>
            </a:r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Kafka, real Mongo, real consumers.</a:t>
            </a:r>
            <a:endParaRPr lang="en-US" sz="600" dirty="0"/>
          </a:p>
        </p:txBody>
      </p:sp>
      <p:sp>
        <p:nvSpPr>
          <p:cNvPr id="16" name="Shape 12"/>
          <p:cNvSpPr/>
          <p:nvPr/>
        </p:nvSpPr>
        <p:spPr>
          <a:xfrm>
            <a:off x="4626864" y="795528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795528"/>
            <a:ext cx="36576" cy="621792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8" name="Text 14"/>
          <p:cNvSpPr/>
          <p:nvPr/>
        </p:nvSpPr>
        <p:spPr>
          <a:xfrm>
            <a:off x="4718304" y="822960"/>
            <a:ext cx="3995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API / Angular Frontend</a:t>
            </a:r>
            <a:endParaRPr lang="en-US" sz="8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978408"/>
            <a:ext cx="91440" cy="914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960120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reads pre-seeded Mongo. Angular against mocked BFF (MSW). No real upstream.</a:t>
            </a:r>
            <a:endParaRPr lang="en-US" sz="650" dirty="0"/>
          </a:p>
        </p:txBody>
      </p:sp>
      <p:sp>
        <p:nvSpPr>
          <p:cNvPr id="21" name="Text 16"/>
          <p:cNvSpPr/>
          <p:nvPr/>
        </p:nvSpPr>
        <p:spPr>
          <a:xfrm>
            <a:off x="4846320" y="1161288"/>
            <a:ext cx="3849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responses, pagination, UI rendering, routing.</a:t>
            </a:r>
            <a:endParaRPr lang="en-US" sz="6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1307592"/>
            <a:ext cx="91440" cy="914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46320" y="1289304"/>
            <a:ext cx="3849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needed: </a:t>
            </a:r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write-side APIs, real database.</a:t>
            </a:r>
            <a:endParaRPr lang="en-US" sz="600" dirty="0"/>
          </a:p>
        </p:txBody>
      </p:sp>
      <p:sp>
        <p:nvSpPr>
          <p:cNvPr id="24" name="Shape 18"/>
          <p:cNvSpPr/>
          <p:nvPr/>
        </p:nvSpPr>
        <p:spPr>
          <a:xfrm>
            <a:off x="320040" y="1472184"/>
            <a:ext cx="850392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19"/>
          <p:cNvSpPr/>
          <p:nvPr/>
        </p:nvSpPr>
        <p:spPr>
          <a:xfrm>
            <a:off x="411480" y="14721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Tests — HTTP (Pact) + Schema (Mongo) + Message (Notify)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5029200" y="1472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 |  PR / Commit  |  ADO</a:t>
            </a:r>
            <a:endParaRPr lang="en-US" sz="650" dirty="0"/>
          </a:p>
        </p:txBody>
      </p:sp>
      <p:sp>
        <p:nvSpPr>
          <p:cNvPr id="27" name="Shape 21"/>
          <p:cNvSpPr/>
          <p:nvPr/>
        </p:nvSpPr>
        <p:spPr>
          <a:xfrm>
            <a:off x="320040" y="1682496"/>
            <a:ext cx="2697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0040" y="1682496"/>
            <a:ext cx="36576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3"/>
          <p:cNvSpPr/>
          <p:nvPr/>
        </p:nvSpPr>
        <p:spPr>
          <a:xfrm>
            <a:off x="411480" y="1709928"/>
            <a:ext cx="2532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Contracts (Pact)</a:t>
            </a:r>
            <a:endParaRPr lang="en-US" sz="8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865376"/>
            <a:ext cx="91440" cy="914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9496" y="1847088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defines expected BFF REST shape. BFF runs provider verification. Also external REST clients ↔ Public API. Mock-based, no real backend.</a:t>
            </a:r>
            <a:endParaRPr lang="en-US" sz="650" dirty="0"/>
          </a:p>
        </p:txBody>
      </p:sp>
      <p:sp>
        <p:nvSpPr>
          <p:cNvPr id="32" name="Text 25"/>
          <p:cNvSpPr/>
          <p:nvPr/>
        </p:nvSpPr>
        <p:spPr>
          <a:xfrm>
            <a:off x="539496" y="2103120"/>
            <a:ext cx="2386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shape, status codes, response types match.</a:t>
            </a:r>
            <a:endParaRPr lang="en-US" sz="650" dirty="0"/>
          </a:p>
        </p:txBody>
      </p:sp>
      <p:sp>
        <p:nvSpPr>
          <p:cNvPr id="33" name="Shape 26"/>
          <p:cNvSpPr/>
          <p:nvPr/>
        </p:nvSpPr>
        <p:spPr>
          <a:xfrm>
            <a:off x="3108960" y="1682496"/>
            <a:ext cx="2880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3108960" y="1682496"/>
            <a:ext cx="36576" cy="77724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5" name="Text 28"/>
          <p:cNvSpPr/>
          <p:nvPr/>
        </p:nvSpPr>
        <p:spPr>
          <a:xfrm>
            <a:off x="3200400" y="1709928"/>
            <a:ext cx="2715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6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Contracts (Mongo)</a:t>
            </a:r>
            <a:endParaRPr lang="en-US" sz="85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1865376"/>
            <a:ext cx="91440" cy="914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328416" y="1847088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schema definitions for Mongo docs. CI validates write-side and read-side compatibility. Like Schema Registry for Mongo.</a:t>
            </a:r>
            <a:endParaRPr lang="en-US" sz="650" dirty="0"/>
          </a:p>
        </p:txBody>
      </p:sp>
      <p:sp>
        <p:nvSpPr>
          <p:cNvPr id="38" name="Text 30"/>
          <p:cNvSpPr/>
          <p:nvPr/>
        </p:nvSpPr>
        <p:spPr>
          <a:xfrm>
            <a:off x="3328416" y="2103120"/>
            <a:ext cx="2569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compat. Write shape = Read expectation.</a:t>
            </a:r>
            <a:endParaRPr lang="en-US" sz="650" dirty="0"/>
          </a:p>
        </p:txBody>
      </p:sp>
      <p:sp>
        <p:nvSpPr>
          <p:cNvPr id="39" name="Shape 31"/>
          <p:cNvSpPr/>
          <p:nvPr/>
        </p:nvSpPr>
        <p:spPr>
          <a:xfrm>
            <a:off x="6080760" y="1682496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080760" y="1682496"/>
            <a:ext cx="36576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3"/>
          <p:cNvSpPr/>
          <p:nvPr/>
        </p:nvSpPr>
        <p:spPr>
          <a:xfrm>
            <a:off x="6172200" y="1709928"/>
            <a:ext cx="2441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Contracts</a:t>
            </a:r>
            <a:endParaRPr lang="en-US" sz="85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865376"/>
            <a:ext cx="91440" cy="9144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300216" y="1847088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payload schema validated in CI. Pact message contracts or JSON Schema for Change Stream / Kafka events.</a:t>
            </a:r>
            <a:endParaRPr lang="en-US" sz="650" dirty="0"/>
          </a:p>
        </p:txBody>
      </p:sp>
      <p:sp>
        <p:nvSpPr>
          <p:cNvPr id="44" name="Text 35"/>
          <p:cNvSpPr/>
          <p:nvPr/>
        </p:nvSpPr>
        <p:spPr>
          <a:xfrm>
            <a:off x="6300216" y="2103120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shape matches what BFF expects.</a:t>
            </a:r>
            <a:endParaRPr lang="en-US" sz="650" dirty="0"/>
          </a:p>
        </p:txBody>
      </p:sp>
      <p:sp>
        <p:nvSpPr>
          <p:cNvPr id="45" name="Shape 36"/>
          <p:cNvSpPr/>
          <p:nvPr/>
        </p:nvSpPr>
        <p:spPr>
          <a:xfrm>
            <a:off x="320040" y="2523744"/>
            <a:ext cx="8503920" cy="18288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46" name="Text 37"/>
          <p:cNvSpPr/>
          <p:nvPr/>
        </p:nvSpPr>
        <p:spPr>
          <a:xfrm>
            <a:off x="411480" y="252374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Integration — Real infra, incl. notification. TEST: full suite. UAT: safe subset.</a:t>
            </a:r>
            <a:endParaRPr lang="en-US" sz="850" dirty="0"/>
          </a:p>
        </p:txBody>
      </p:sp>
      <p:sp>
        <p:nvSpPr>
          <p:cNvPr id="47" name="Text 38"/>
          <p:cNvSpPr/>
          <p:nvPr/>
        </p:nvSpPr>
        <p:spPr>
          <a:xfrm>
            <a:off x="5029200" y="25237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 |  Post-CD  |  ADO + Tekton  |  TEST + UAT</a:t>
            </a:r>
            <a:endParaRPr lang="en-US" sz="650" dirty="0"/>
          </a:p>
        </p:txBody>
      </p:sp>
      <p:sp>
        <p:nvSpPr>
          <p:cNvPr id="48" name="Shape 39"/>
          <p:cNvSpPr/>
          <p:nvPr/>
        </p:nvSpPr>
        <p:spPr>
          <a:xfrm>
            <a:off x="320040" y="2734056"/>
            <a:ext cx="41605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320040" y="2734056"/>
            <a:ext cx="36576" cy="530352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50" name="Text 41"/>
          <p:cNvSpPr/>
          <p:nvPr/>
        </p:nvSpPr>
        <p:spPr>
          <a:xfrm>
            <a:off x="411480" y="2761488"/>
            <a:ext cx="3995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 — Write Path (TEST + UAT)</a:t>
            </a:r>
            <a:endParaRPr lang="en-US" sz="85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2916936"/>
            <a:ext cx="91440" cy="9144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539496" y="2898648"/>
            <a:ext cx="3849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REST → Public API → real MongoDB. Real Kafka → Integration API → same Mongo. Full write with real shared DB.</a:t>
            </a:r>
            <a:endParaRPr lang="en-US" sz="650" dirty="0"/>
          </a:p>
        </p:txBody>
      </p:sp>
      <p:sp>
        <p:nvSpPr>
          <p:cNvPr id="53" name="Text 43"/>
          <p:cNvSpPr/>
          <p:nvPr/>
        </p:nvSpPr>
        <p:spPr>
          <a:xfrm>
            <a:off x="539496" y="3154680"/>
            <a:ext cx="3849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Schema, transformations, concurrent writes, errors.</a:t>
            </a:r>
            <a:endParaRPr lang="en-US" sz="650" dirty="0"/>
          </a:p>
        </p:txBody>
      </p:sp>
      <p:sp>
        <p:nvSpPr>
          <p:cNvPr id="54" name="Shape 44"/>
          <p:cNvSpPr/>
          <p:nvPr/>
        </p:nvSpPr>
        <p:spPr>
          <a:xfrm>
            <a:off x="4626864" y="2734056"/>
            <a:ext cx="41605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4626864" y="2734056"/>
            <a:ext cx="36576" cy="530352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56" name="Text 46"/>
          <p:cNvSpPr/>
          <p:nvPr/>
        </p:nvSpPr>
        <p:spPr>
          <a:xfrm>
            <a:off x="4718304" y="2761488"/>
            <a:ext cx="3995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 — Read + Notify (TEST + UAT)</a:t>
            </a:r>
            <a:endParaRPr lang="en-US" sz="850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8304" y="2916936"/>
            <a:ext cx="91440" cy="91440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4846320" y="2898648"/>
            <a:ext cx="3849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triggers notification → BFF reads real Mongo → Angular renders. Full: write → notify → read → display.</a:t>
            </a:r>
            <a:endParaRPr lang="en-US" sz="650" dirty="0"/>
          </a:p>
        </p:txBody>
      </p:sp>
      <p:sp>
        <p:nvSpPr>
          <p:cNvPr id="59" name="Text 48"/>
          <p:cNvSpPr/>
          <p:nvPr/>
        </p:nvSpPr>
        <p:spPr>
          <a:xfrm>
            <a:off x="4846320" y="3154680"/>
            <a:ext cx="3849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</a:t>
            </a:r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receives notification, reads correct data, renders.</a:t>
            </a:r>
            <a:endParaRPr lang="en-US" sz="650" dirty="0"/>
          </a:p>
        </p:txBody>
      </p:sp>
      <p:sp>
        <p:nvSpPr>
          <p:cNvPr id="60" name="Shape 49"/>
          <p:cNvSpPr/>
          <p:nvPr/>
        </p:nvSpPr>
        <p:spPr>
          <a:xfrm>
            <a:off x="320040" y="3319272"/>
            <a:ext cx="8503920" cy="182880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61" name="Text 50"/>
          <p:cNvSpPr/>
          <p:nvPr/>
        </p:nvSpPr>
        <p:spPr>
          <a:xfrm>
            <a:off x="411480" y="33192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E2E + CD Smoke (app/system level, NOT component level)</a:t>
            </a:r>
            <a:endParaRPr lang="en-US" sz="850" dirty="0"/>
          </a:p>
        </p:txBody>
      </p:sp>
      <p:sp>
        <p:nvSpPr>
          <p:cNvPr id="62" name="Text 51"/>
          <p:cNvSpPr/>
          <p:nvPr/>
        </p:nvSpPr>
        <p:spPr>
          <a:xfrm>
            <a:off x="5029200" y="33192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CD: all envs  |  CT: TEST + UAT</a:t>
            </a:r>
            <a:endParaRPr lang="en-US" sz="650" dirty="0"/>
          </a:p>
        </p:txBody>
      </p:sp>
      <p:sp>
        <p:nvSpPr>
          <p:cNvPr id="63" name="Shape 52"/>
          <p:cNvSpPr/>
          <p:nvPr/>
        </p:nvSpPr>
        <p:spPr>
          <a:xfrm>
            <a:off x="320040" y="3529584"/>
            <a:ext cx="50292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4" name="Shape 53"/>
          <p:cNvSpPr/>
          <p:nvPr/>
        </p:nvSpPr>
        <p:spPr>
          <a:xfrm>
            <a:off x="320040" y="3529584"/>
            <a:ext cx="36576" cy="475488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65" name="Text 54"/>
          <p:cNvSpPr/>
          <p:nvPr/>
        </p:nvSpPr>
        <p:spPr>
          <a:xfrm>
            <a:off x="438912" y="354787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Tests E2E (CT — TEST + UAT)</a:t>
            </a:r>
            <a:endParaRPr lang="en-US" sz="800" dirty="0"/>
          </a:p>
        </p:txBody>
      </p:sp>
      <p:sp>
        <p:nvSpPr>
          <p:cNvPr id="66" name="Text 55"/>
          <p:cNvSpPr/>
          <p:nvPr/>
        </p:nvSpPr>
        <p:spPr>
          <a:xfrm>
            <a:off x="438912" y="36941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chain: REST/Kafka → Mongo → notification → BFF → Angular. Everything real. Verifies cross-app consistency and full user journeys.</a:t>
            </a:r>
            <a:endParaRPr lang="en-US" sz="650" dirty="0"/>
          </a:p>
        </p:txBody>
      </p:sp>
      <p:sp>
        <p:nvSpPr>
          <p:cNvPr id="67" name="Shape 56"/>
          <p:cNvSpPr/>
          <p:nvPr/>
        </p:nvSpPr>
        <p:spPr>
          <a:xfrm>
            <a:off x="5440680" y="3529584"/>
            <a:ext cx="33832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8" name="Shape 57"/>
          <p:cNvSpPr/>
          <p:nvPr/>
        </p:nvSpPr>
        <p:spPr>
          <a:xfrm>
            <a:off x="5440680" y="3529584"/>
            <a:ext cx="36576" cy="475488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69" name="Text 58"/>
          <p:cNvSpPr/>
          <p:nvPr/>
        </p:nvSpPr>
        <p:spPr>
          <a:xfrm>
            <a:off x="5559552" y="354787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6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Smoke Tests (app/system level)</a:t>
            </a:r>
            <a:endParaRPr lang="en-US" sz="800" dirty="0"/>
          </a:p>
        </p:txBody>
      </p:sp>
      <p:sp>
        <p:nvSpPr>
          <p:cNvPr id="70" name="Text 59"/>
          <p:cNvSpPr/>
          <p:nvPr/>
        </p:nvSpPr>
        <p:spPr>
          <a:xfrm>
            <a:off x="5559552" y="36941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 smoke tests are NOT component tests. They’re app-level health checks + system-level read-only tests (BFF → Mongo → Angular). Tier 2/3 add write/infra verification in lower envs.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Smoke Tests?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Application-level and system-level tests (not component tests) that run post-deployment as a go / no-go gate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8503920" cy="640080"/>
          </a:xfrm>
          <a:prstGeom prst="rect">
            <a:avLst/>
          </a:prstGeom>
          <a:solidFill>
            <a:srgbClr val="002C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595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822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tests answer one question: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1005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this deployment healthy and can it serve traffic?"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15361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Principles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792224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792224"/>
            <a:ext cx="36576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1865376"/>
            <a:ext cx="256032" cy="25603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88366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18288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in PROD (app + system level)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914400" y="20116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endpoints (app-level) + read-only data verification (system-level: BFF → Mongo). NOT component tests.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4800600" y="1792224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00600" y="1792224"/>
            <a:ext cx="36576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4"/>
          <p:cNvSpPr/>
          <p:nvPr/>
        </p:nvSpPr>
        <p:spPr>
          <a:xfrm>
            <a:off x="4910328" y="1865376"/>
            <a:ext cx="256032" cy="25603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188366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7800" y="18288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— under 2 minutes total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257800" y="20116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checks, version match, critical API shape. Not a full regression or integration suite.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457200" y="2359152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2359152"/>
            <a:ext cx="36576" cy="475488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24" name="Shape 19"/>
          <p:cNvSpPr/>
          <p:nvPr/>
        </p:nvSpPr>
        <p:spPr>
          <a:xfrm>
            <a:off x="566928" y="2432304"/>
            <a:ext cx="256032" cy="256032"/>
          </a:xfrm>
          <a:prstGeom prst="rect">
            <a:avLst/>
          </a:prstGeom>
          <a:solidFill>
            <a:srgbClr val="8E654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45059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4400" y="23957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&amp; blocking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14400" y="25786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→ Tekton post-deploy. Failure = automatic rollback. No human in the loop.</a:t>
            </a:r>
            <a:endParaRPr lang="en-US" sz="750" dirty="0"/>
          </a:p>
        </p:txBody>
      </p:sp>
      <p:sp>
        <p:nvSpPr>
          <p:cNvPr id="28" name="Shape 22"/>
          <p:cNvSpPr/>
          <p:nvPr/>
        </p:nvSpPr>
        <p:spPr>
          <a:xfrm>
            <a:off x="4800600" y="2359152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800600" y="2359152"/>
            <a:ext cx="36576" cy="47548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30" name="Shape 24"/>
          <p:cNvSpPr/>
          <p:nvPr/>
        </p:nvSpPr>
        <p:spPr>
          <a:xfrm>
            <a:off x="4910328" y="2432304"/>
            <a:ext cx="256032" cy="256032"/>
          </a:xfrm>
          <a:prstGeom prst="rect">
            <a:avLst/>
          </a:prstGeom>
          <a:solidFill>
            <a:srgbClr val="33566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2450592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57800" y="23957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by environment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257800" y="25786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(read-only) runs everywhere. Tier 2 (write) in TEST+UAT. Tier 3 (infra chain) TEST only.</a:t>
            </a:r>
            <a:endParaRPr lang="en-US" sz="750" dirty="0"/>
          </a:p>
        </p:txBody>
      </p:sp>
      <p:sp>
        <p:nvSpPr>
          <p:cNvPr id="34" name="Text 27"/>
          <p:cNvSpPr/>
          <p:nvPr/>
        </p:nvSpPr>
        <p:spPr>
          <a:xfrm>
            <a:off x="457200" y="29992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 — Differentiated by Environment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320040" y="3273552"/>
            <a:ext cx="2706624" cy="17007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20040" y="3273552"/>
            <a:ext cx="2706624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0"/>
          <p:cNvSpPr/>
          <p:nvPr/>
        </p:nvSpPr>
        <p:spPr>
          <a:xfrm>
            <a:off x="429768" y="3364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850392" y="33649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29768" y="3566160"/>
            <a:ext cx="2487168" cy="164592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40" name="Text 33"/>
          <p:cNvSpPr/>
          <p:nvPr/>
        </p:nvSpPr>
        <p:spPr>
          <a:xfrm>
            <a:off x="429768" y="356616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environments (incl. PROD)</a:t>
            </a:r>
            <a:endParaRPr lang="en-US" sz="700" dirty="0"/>
          </a:p>
        </p:txBody>
      </p:sp>
      <p:sp>
        <p:nvSpPr>
          <p:cNvPr id="41" name="Text 34"/>
          <p:cNvSpPr/>
          <p:nvPr/>
        </p:nvSpPr>
        <p:spPr>
          <a:xfrm>
            <a:off x="429768" y="3785616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App-level: GET /health → 200, GET /version → Helm match.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System-level: GET /api/teams → real data from Mongo via BFF.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consumer group connected.</a:t>
            </a:r>
            <a:endParaRPr lang="en-US" sz="700" dirty="0"/>
          </a:p>
        </p:txBody>
      </p:sp>
      <p:sp>
        <p:nvSpPr>
          <p:cNvPr id="42" name="Shape 35"/>
          <p:cNvSpPr/>
          <p:nvPr/>
        </p:nvSpPr>
        <p:spPr>
          <a:xfrm>
            <a:off x="429768" y="4736592"/>
            <a:ext cx="2487168" cy="18288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43" name="Text 36"/>
          <p:cNvSpPr/>
          <p:nvPr/>
        </p:nvSpPr>
        <p:spPr>
          <a:xfrm>
            <a:off x="429768" y="4736592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tests  |  &lt; 30 seconds</a:t>
            </a:r>
            <a:endParaRPr lang="en-US" sz="700" dirty="0"/>
          </a:p>
        </p:txBody>
      </p:sp>
      <p:sp>
        <p:nvSpPr>
          <p:cNvPr id="44" name="Shape 37"/>
          <p:cNvSpPr/>
          <p:nvPr/>
        </p:nvSpPr>
        <p:spPr>
          <a:xfrm>
            <a:off x="3172968" y="3273552"/>
            <a:ext cx="2706624" cy="17007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3172968" y="3273552"/>
            <a:ext cx="2706624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39"/>
          <p:cNvSpPr/>
          <p:nvPr/>
        </p:nvSpPr>
        <p:spPr>
          <a:xfrm>
            <a:off x="3282696" y="3364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3703320" y="33649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Verify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3282696" y="3566160"/>
            <a:ext cx="2487168" cy="164592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49" name="Text 42"/>
          <p:cNvSpPr/>
          <p:nvPr/>
        </p:nvSpPr>
        <p:spPr>
          <a:xfrm>
            <a:off x="3282696" y="356616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+ UAT only</a:t>
            </a:r>
            <a:endParaRPr lang="en-US" sz="700" dirty="0"/>
          </a:p>
        </p:txBody>
      </p:sp>
      <p:sp>
        <p:nvSpPr>
          <p:cNvPr id="50" name="Text 43"/>
          <p:cNvSpPr/>
          <p:nvPr/>
        </p:nvSpPr>
        <p:spPr>
          <a:xfrm>
            <a:off x="3282696" y="3785616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App-level: POST test entity → verify in Mongo via GET → cleanup. One write-read-cleanup per major write endpoint. Must be idempotent.</a:t>
            </a:r>
            <a:endParaRPr lang="en-US" sz="700" dirty="0"/>
          </a:p>
        </p:txBody>
      </p:sp>
      <p:sp>
        <p:nvSpPr>
          <p:cNvPr id="51" name="Shape 44"/>
          <p:cNvSpPr/>
          <p:nvPr/>
        </p:nvSpPr>
        <p:spPr>
          <a:xfrm>
            <a:off x="3282696" y="4736592"/>
            <a:ext cx="2487168" cy="18288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52" name="Text 45"/>
          <p:cNvSpPr/>
          <p:nvPr/>
        </p:nvSpPr>
        <p:spPr>
          <a:xfrm>
            <a:off x="3282696" y="4736592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tests  |  &lt; 90 seconds</a:t>
            </a:r>
            <a:endParaRPr lang="en-US" sz="700" dirty="0"/>
          </a:p>
        </p:txBody>
      </p:sp>
      <p:sp>
        <p:nvSpPr>
          <p:cNvPr id="53" name="Shape 46"/>
          <p:cNvSpPr/>
          <p:nvPr/>
        </p:nvSpPr>
        <p:spPr>
          <a:xfrm>
            <a:off x="6025896" y="3273552"/>
            <a:ext cx="2706624" cy="17007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6025896" y="3273552"/>
            <a:ext cx="2706624" cy="36576"/>
          </a:xfrm>
          <a:prstGeom prst="rect">
            <a:avLst/>
          </a:prstGeom>
          <a:solidFill>
            <a:srgbClr val="5A8BA5"/>
          </a:solidFill>
          <a:ln/>
        </p:spPr>
      </p:sp>
      <p:sp>
        <p:nvSpPr>
          <p:cNvPr id="55" name="Text 48"/>
          <p:cNvSpPr/>
          <p:nvPr/>
        </p:nvSpPr>
        <p:spPr>
          <a:xfrm>
            <a:off x="6135624" y="3364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900" dirty="0"/>
          </a:p>
        </p:txBody>
      </p:sp>
      <p:sp>
        <p:nvSpPr>
          <p:cNvPr id="56" name="Text 49"/>
          <p:cNvSpPr/>
          <p:nvPr/>
        </p:nvSpPr>
        <p:spPr>
          <a:xfrm>
            <a:off x="6556248" y="33649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 Chain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6135624" y="3566160"/>
            <a:ext cx="2487168" cy="164592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58" name="Text 51"/>
          <p:cNvSpPr/>
          <p:nvPr/>
        </p:nvSpPr>
        <p:spPr>
          <a:xfrm>
            <a:off x="6135624" y="356616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only</a:t>
            </a:r>
            <a:endParaRPr lang="en-US" sz="700" dirty="0"/>
          </a:p>
        </p:txBody>
      </p:sp>
      <p:sp>
        <p:nvSpPr>
          <p:cNvPr id="59" name="Text 52"/>
          <p:cNvSpPr/>
          <p:nvPr/>
        </p:nvSpPr>
        <p:spPr>
          <a:xfrm>
            <a:off x="6135624" y="3785616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System-level: Produce Kafka event → Integration API consumes → writes Mongo → BFF notified → verify via BFF GET. Full notification chain.</a:t>
            </a:r>
            <a:endParaRPr lang="en-US" sz="700" dirty="0"/>
          </a:p>
        </p:txBody>
      </p:sp>
      <p:sp>
        <p:nvSpPr>
          <p:cNvPr id="60" name="Shape 53"/>
          <p:cNvSpPr/>
          <p:nvPr/>
        </p:nvSpPr>
        <p:spPr>
          <a:xfrm>
            <a:off x="6135624" y="4736592"/>
            <a:ext cx="2487168" cy="18288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61" name="Text 54"/>
          <p:cNvSpPr/>
          <p:nvPr/>
        </p:nvSpPr>
        <p:spPr>
          <a:xfrm>
            <a:off x="6135624" y="4736592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tests  |  &lt; 2 minutes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&amp; Test Strategy</dc:title>
  <dc:subject>PptxGenJS Presentation</dc:subject>
  <dc:creator>Quality Engineering</dc:creator>
  <cp:lastModifiedBy>Quality Engineering</cp:lastModifiedBy>
  <cp:revision>1</cp:revision>
  <dcterms:created xsi:type="dcterms:W3CDTF">2026-03-17T16:02:22Z</dcterms:created>
  <dcterms:modified xsi:type="dcterms:W3CDTF">2026-03-17T16:02:22Z</dcterms:modified>
</cp:coreProperties>
</file>